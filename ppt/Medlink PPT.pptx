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29" r:id="rId1"/>
  </p:sldMasterIdLst>
  <p:notesMasterIdLst>
    <p:notesMasterId r:id="rId16"/>
  </p:notesMasterIdLst>
  <p:sldIdLst>
    <p:sldId id="256" r:id="rId2"/>
    <p:sldId id="257" r:id="rId3"/>
    <p:sldId id="258" r:id="rId4"/>
    <p:sldId id="277" r:id="rId5"/>
    <p:sldId id="279" r:id="rId6"/>
    <p:sldId id="280" r:id="rId7"/>
    <p:sldId id="261" r:id="rId8"/>
    <p:sldId id="262" r:id="rId9"/>
    <p:sldId id="264" r:id="rId10"/>
    <p:sldId id="263" r:id="rId11"/>
    <p:sldId id="278" r:id="rId12"/>
    <p:sldId id="268" r:id="rId13"/>
    <p:sldId id="269" r:id="rId14"/>
    <p:sldId id="270" r:id="rId15"/>
  </p:sldIdLst>
  <p:sldSz cx="14630400" cy="8229600"/>
  <p:notesSz cx="8229600" cy="14630400"/>
  <p:embeddedFontLst>
    <p:embeddedFont>
      <p:font typeface="Libre Baskerville" panose="02000000000000000000" pitchFamily="2" charset="0"/>
      <p:regular r:id="rId17"/>
    </p:embeddedFont>
    <p:embeddedFont>
      <p:font typeface="Open Sans" panose="020B060603050402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78"/>
    <a:srgbClr val="006699"/>
    <a:srgbClr val="194178"/>
    <a:srgbClr val="009999"/>
    <a:srgbClr val="003366"/>
    <a:srgbClr val="00CC66"/>
    <a:srgbClr val="3C3C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044C25-90AB-4E78-921E-F38092BA7598}" v="1" dt="2026-03-26T13:1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81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11151-6A38-64AB-21B6-229B1338632E}"/>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B4871466-4AE9-30BC-C133-1C147F40CB40}"/>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157168-0BEA-C8CB-87EC-BE0C77BE4E86}"/>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a:extLst>
              <a:ext uri="{FF2B5EF4-FFF2-40B4-BE49-F238E27FC236}">
                <a16:creationId xmlns:a16="http://schemas.microsoft.com/office/drawing/2014/main" id="{C67FAF8C-93C1-BF7F-5C07-7E1F299C0D4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611F26-5E88-9030-099E-4E2F8D12C46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98621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F7AFA-9975-DC1D-F0C6-5009F22EC9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0818E-5C0C-8F7C-4187-C931FE210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02CE7E-FEB3-8815-15B3-73EEECC6B2B8}"/>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a:extLst>
              <a:ext uri="{FF2B5EF4-FFF2-40B4-BE49-F238E27FC236}">
                <a16:creationId xmlns:a16="http://schemas.microsoft.com/office/drawing/2014/main" id="{3D845FCB-D935-DDD1-9728-DA0979695F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F59F807-ABAF-9555-75AF-AE7A561FB63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51512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0FF64-A7F3-085E-807D-F8301EAF845E}"/>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F119CE-4A03-BE57-A80A-F8B0589089E2}"/>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F68F-17DE-B516-261C-92FC9D4AD7EC}"/>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a:extLst>
              <a:ext uri="{FF2B5EF4-FFF2-40B4-BE49-F238E27FC236}">
                <a16:creationId xmlns:a16="http://schemas.microsoft.com/office/drawing/2014/main" id="{FB94A660-F26E-F255-C87B-8FE8786777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60E882-80A2-349D-0150-241AF8B03A0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332393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26D7-81C1-2379-C294-0197A60002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C08381-B6A4-94B1-AA82-B350F0D2A46D}"/>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565D1E-D4A5-9BE2-77A2-46B1C3DB9A53}"/>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F6A42E-2522-8D5B-067D-0DAF268BDA0C}"/>
              </a:ext>
            </a:extLst>
          </p:cNvPr>
          <p:cNvSpPr>
            <a:spLocks noGrp="1"/>
          </p:cNvSpPr>
          <p:nvPr>
            <p:ph type="dt" sz="half" idx="10"/>
          </p:nvPr>
        </p:nvSpPr>
        <p:spPr/>
        <p:txBody>
          <a:bodyPr/>
          <a:lstStyle/>
          <a:p>
            <a:fld id="{EB712588-04B1-427B-82EE-E8DB90309F08}" type="datetimeFigureOut">
              <a:rPr lang="en-US" smtClean="0"/>
              <a:t>3/30/2026</a:t>
            </a:fld>
            <a:endParaRPr lang="en-US" dirty="0"/>
          </a:p>
        </p:txBody>
      </p:sp>
      <p:sp>
        <p:nvSpPr>
          <p:cNvPr id="6" name="Footer Placeholder 5">
            <a:extLst>
              <a:ext uri="{FF2B5EF4-FFF2-40B4-BE49-F238E27FC236}">
                <a16:creationId xmlns:a16="http://schemas.microsoft.com/office/drawing/2014/main" id="{36E83D54-0631-3FAB-5445-9FE5A4A0C5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EA0C9D6-7B8D-BAA3-2B99-33F4D279CC42}"/>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1072582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0637-30D0-BAF3-BF39-251470CB9F30}"/>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3F3861-B44D-8A58-B2EC-9C4ED43D014D}"/>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683EA2D5-0509-F683-2DE6-66938925B9F8}"/>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0922CE-F0B4-3F5E-3808-D084235BE512}"/>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7D8BF80F-85DA-AA52-655D-576205A34667}"/>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FA6796-5C0F-B843-E42F-192C25C6DD9B}"/>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8" name="Footer Placeholder 7">
            <a:extLst>
              <a:ext uri="{FF2B5EF4-FFF2-40B4-BE49-F238E27FC236}">
                <a16:creationId xmlns:a16="http://schemas.microsoft.com/office/drawing/2014/main" id="{F2D2D2C5-0167-1AC9-2D8C-E826C66F10B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41FE9DF-C47D-0424-3A3B-0ABDB024893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356458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A351-059F-02C1-EA63-8050E75786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785529-C3E4-588F-9B0D-60F25C258BBB}"/>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4" name="Footer Placeholder 3">
            <a:extLst>
              <a:ext uri="{FF2B5EF4-FFF2-40B4-BE49-F238E27FC236}">
                <a16:creationId xmlns:a16="http://schemas.microsoft.com/office/drawing/2014/main" id="{F45216A5-FD63-FF44-90EC-FFFAB432AFA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985620D-C242-19CE-261D-F29511FB8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72076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EE1D53-0235-67B9-3D46-244965A65B0B}"/>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3" name="Footer Placeholder 2">
            <a:extLst>
              <a:ext uri="{FF2B5EF4-FFF2-40B4-BE49-F238E27FC236}">
                <a16:creationId xmlns:a16="http://schemas.microsoft.com/office/drawing/2014/main" id="{D980859F-9FA4-285D-5373-408B9A23A97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1801DD5-03F7-8809-2911-BC6DD407CA2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93821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0E3A-F2CB-3EE6-4A98-0B42A74AEF41}"/>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B7E9A3-9E14-8D53-DF20-73E23439509C}"/>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E86312-6AE4-26B1-87B4-597BF60B094C}"/>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0E675368-A70D-4328-8184-75345CDC7314}"/>
              </a:ext>
            </a:extLst>
          </p:cNvPr>
          <p:cNvSpPr>
            <a:spLocks noGrp="1"/>
          </p:cNvSpPr>
          <p:nvPr>
            <p:ph type="dt" sz="half" idx="10"/>
          </p:nvPr>
        </p:nvSpPr>
        <p:spPr/>
        <p:txBody>
          <a:bodyPr/>
          <a:lstStyle/>
          <a:p>
            <a:fld id="{42A54C80-263E-416B-A8E0-580EDEADCBDC}" type="datetimeFigureOut">
              <a:rPr lang="en-US" smtClean="0"/>
              <a:t>3/30/2026</a:t>
            </a:fld>
            <a:endParaRPr lang="en-US" dirty="0"/>
          </a:p>
        </p:txBody>
      </p:sp>
      <p:sp>
        <p:nvSpPr>
          <p:cNvPr id="6" name="Footer Placeholder 5">
            <a:extLst>
              <a:ext uri="{FF2B5EF4-FFF2-40B4-BE49-F238E27FC236}">
                <a16:creationId xmlns:a16="http://schemas.microsoft.com/office/drawing/2014/main" id="{9A568CD5-988B-3099-C0F2-C2D613A19F0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011B378-79E9-EC2C-7425-E236A8674CA4}"/>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6983522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F5F8B-517D-DB87-CC94-A6350673F7CE}"/>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32818A-3C1B-94A0-7568-AEBF19C64713}"/>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423FA325-E567-2FD3-6FFC-72E4A2FF1D9F}"/>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69966C4-915C-00DE-D8FA-27B6FB0B05A3}"/>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6" name="Footer Placeholder 5">
            <a:extLst>
              <a:ext uri="{FF2B5EF4-FFF2-40B4-BE49-F238E27FC236}">
                <a16:creationId xmlns:a16="http://schemas.microsoft.com/office/drawing/2014/main" id="{759E8AE7-B851-8E86-5359-ABB8D4CEB90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E5DC272-EB0F-FD9F-C6D4-D3FB2D214EF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323538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AFD29-51BE-1F54-EA51-F9A0E15B34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E6E728-D8A9-28D5-1661-9718F603F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28A42-C94B-64A5-47B1-6453A42AF2A0}"/>
              </a:ext>
            </a:extLst>
          </p:cNvPr>
          <p:cNvSpPr>
            <a:spLocks noGrp="1"/>
          </p:cNvSpPr>
          <p:nvPr>
            <p:ph type="dt" sz="half" idx="10"/>
          </p:nvPr>
        </p:nvSpPr>
        <p:spPr/>
        <p:txBody>
          <a:bodyPr/>
          <a:lstStyle/>
          <a:p>
            <a:fld id="{55C6B4A9-1611-4792-9094-5F34BCA07E0B}" type="datetimeFigureOut">
              <a:rPr lang="en-US" smtClean="0"/>
              <a:t>3/30/2026</a:t>
            </a:fld>
            <a:endParaRPr lang="en-US" dirty="0"/>
          </a:p>
        </p:txBody>
      </p:sp>
      <p:sp>
        <p:nvSpPr>
          <p:cNvPr id="5" name="Footer Placeholder 4">
            <a:extLst>
              <a:ext uri="{FF2B5EF4-FFF2-40B4-BE49-F238E27FC236}">
                <a16:creationId xmlns:a16="http://schemas.microsoft.com/office/drawing/2014/main" id="{7BDEFD21-92D9-871D-E098-673190B613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61F323-AAFF-DF60-F203-43D575D02BC1}"/>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1500765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4484DA-BAC1-053E-D825-C0458A7CE781}"/>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6CF871-33C3-3863-E0D9-192C17120E03}"/>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54E7B9-C5EA-7217-2832-A7B6BC215367}"/>
              </a:ext>
            </a:extLst>
          </p:cNvPr>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a:extLst>
              <a:ext uri="{FF2B5EF4-FFF2-40B4-BE49-F238E27FC236}">
                <a16:creationId xmlns:a16="http://schemas.microsoft.com/office/drawing/2014/main" id="{D058EA85-C394-068D-F68C-EC5EE2D671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10A609-24B1-A693-FB6E-F3AD08CAD3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69385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174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955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6254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34654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049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73805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6083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2719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942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305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2175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4">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0AA677-57FF-7562-E21C-B05D76F68185}"/>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59AAF9-3EDA-086D-11BF-9F7B029DB271}"/>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C2CF47-90FC-44F2-0549-4B23B0FE9D1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61BEF0D-F0BB-DE4B-95CE-6DB70DBA9567}" type="datetimeFigureOut">
              <a:rPr lang="en-US" smtClean="0"/>
              <a:pPr/>
              <a:t>3/30/2026</a:t>
            </a:fld>
            <a:endParaRPr lang="en-US" dirty="0"/>
          </a:p>
        </p:txBody>
      </p:sp>
      <p:sp>
        <p:nvSpPr>
          <p:cNvPr id="5" name="Footer Placeholder 4">
            <a:extLst>
              <a:ext uri="{FF2B5EF4-FFF2-40B4-BE49-F238E27FC236}">
                <a16:creationId xmlns:a16="http://schemas.microsoft.com/office/drawing/2014/main" id="{09690515-F003-70F5-91B4-ABB334C68D33}"/>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1A8D946-B94E-2620-0751-08BF5D1FDA95}"/>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8822934"/>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5" r:id="rId15"/>
    <p:sldLayoutId id="2147483746" r:id="rId16"/>
    <p:sldLayoutId id="2147483747" r:id="rId17"/>
    <p:sldLayoutId id="2147483749" r:id="rId18"/>
    <p:sldLayoutId id="2147483750" r:id="rId19"/>
    <p:sldLayoutId id="2147483753" r:id="rId20"/>
    <p:sldLayoutId id="2147483754" r:id="rId21"/>
    <p:sldLayoutId id="2147483755" r:id="rId22"/>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10.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 Id="rId14" Type="http://schemas.openxmlformats.org/officeDocument/2006/relationships/image" Target="../media/image3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884277"/>
            <a:ext cx="7825502" cy="978218"/>
          </a:xfrm>
          <a:prstGeom prst="rect">
            <a:avLst/>
          </a:prstGeom>
          <a:noFill/>
          <a:ln/>
        </p:spPr>
        <p:txBody>
          <a:bodyPr wrap="none" lIns="0" tIns="0" rIns="0" bIns="0" rtlCol="0" anchor="t"/>
          <a:lstStyle/>
          <a:p>
            <a:pPr marL="0" indent="0" algn="l">
              <a:lnSpc>
                <a:spcPts val="7700"/>
              </a:lnSpc>
              <a:buNone/>
            </a:pPr>
            <a:r>
              <a:rPr lang="en-US" sz="6150" dirty="0">
                <a:solidFill>
                  <a:srgbClr val="003366"/>
                </a:solidFill>
                <a:latin typeface="Libre Baskerville" pitchFamily="34" charset="0"/>
                <a:ea typeface="Libre Baskerville" pitchFamily="34" charset="-122"/>
                <a:cs typeface="Libre Baskerville" pitchFamily="34" charset="-120"/>
              </a:rPr>
              <a:t>MedLink</a:t>
            </a:r>
            <a:endParaRPr lang="en-US" sz="6150" dirty="0">
              <a:solidFill>
                <a:srgbClr val="003366"/>
              </a:solidFill>
            </a:endParaRPr>
          </a:p>
        </p:txBody>
      </p:sp>
      <p:sp>
        <p:nvSpPr>
          <p:cNvPr id="3" name="Text 1"/>
          <p:cNvSpPr/>
          <p:nvPr/>
        </p:nvSpPr>
        <p:spPr>
          <a:xfrm>
            <a:off x="763310" y="2239507"/>
            <a:ext cx="4788294" cy="453509"/>
          </a:xfrm>
          <a:prstGeom prst="rect">
            <a:avLst/>
          </a:prstGeom>
          <a:noFill/>
          <a:ln/>
        </p:spPr>
        <p:txBody>
          <a:bodyPr wrap="none" lIns="0" tIns="0" rIns="0" bIns="0" rtlCol="0" anchor="t"/>
          <a:lstStyle/>
          <a:p>
            <a:pPr marL="0" indent="0">
              <a:lnSpc>
                <a:spcPts val="3550"/>
              </a:lnSpc>
              <a:buNone/>
            </a:pPr>
            <a:r>
              <a:rPr lang="en-US" sz="2400" b="1" dirty="0">
                <a:solidFill>
                  <a:schemeClr val="tx1">
                    <a:lumMod val="95000"/>
                    <a:lumOff val="5000"/>
                  </a:schemeClr>
                </a:solidFill>
                <a:latin typeface="Open Sans" pitchFamily="34" charset="0"/>
                <a:ea typeface="Open Sans" pitchFamily="34" charset="-122"/>
                <a:cs typeface="Open Sans" pitchFamily="34" charset="-120"/>
              </a:rPr>
              <a:t>Project Presentation</a:t>
            </a:r>
            <a:endParaRPr lang="en-US" sz="2400" b="1" dirty="0">
              <a:solidFill>
                <a:schemeClr val="tx1">
                  <a:lumMod val="95000"/>
                  <a:lumOff val="5000"/>
                </a:schemeClr>
              </a:solidFill>
            </a:endParaRPr>
          </a:p>
        </p:txBody>
      </p:sp>
      <p:sp>
        <p:nvSpPr>
          <p:cNvPr id="4" name="Text 2"/>
          <p:cNvSpPr/>
          <p:nvPr/>
        </p:nvSpPr>
        <p:spPr>
          <a:xfrm>
            <a:off x="763310" y="2911316"/>
            <a:ext cx="13042821"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Developed as part of the Infosys Springboard Internship 6.0</a:t>
            </a:r>
            <a:endParaRPr lang="en-US" sz="1750" dirty="0">
              <a:solidFill>
                <a:schemeClr val="tx1">
                  <a:lumMod val="95000"/>
                  <a:lumOff val="5000"/>
                </a:schemeClr>
              </a:solidFill>
            </a:endParaRPr>
          </a:p>
        </p:txBody>
      </p:sp>
      <p:sp>
        <p:nvSpPr>
          <p:cNvPr id="5" name="Text 3"/>
          <p:cNvSpPr/>
          <p:nvPr/>
        </p:nvSpPr>
        <p:spPr>
          <a:xfrm>
            <a:off x="793790" y="3529370"/>
            <a:ext cx="13042821" cy="362903"/>
          </a:xfrm>
          <a:prstGeom prst="rect">
            <a:avLst/>
          </a:prstGeom>
          <a:noFill/>
          <a:ln/>
        </p:spPr>
        <p:txBody>
          <a:bodyPr wrap="none" lIns="0" tIns="0" rIns="0" bIns="0" rtlCol="0" anchor="t"/>
          <a:lstStyle/>
          <a:p>
            <a:pPr marL="0" indent="0" algn="l">
              <a:lnSpc>
                <a:spcPts val="2850"/>
              </a:lnSpc>
              <a:buNone/>
            </a:pPr>
            <a:r>
              <a:rPr lang="en-US" sz="2000" b="1" dirty="0">
                <a:solidFill>
                  <a:schemeClr val="tx1">
                    <a:lumMod val="95000"/>
                    <a:lumOff val="5000"/>
                  </a:schemeClr>
                </a:solidFill>
                <a:latin typeface="Open Sans" pitchFamily="34" charset="0"/>
                <a:ea typeface="Open Sans" pitchFamily="34" charset="-122"/>
                <a:cs typeface="Open Sans" pitchFamily="34" charset="-120"/>
              </a:rPr>
              <a:t>Presented by:</a:t>
            </a:r>
            <a:endParaRPr lang="en-US" sz="2000" b="1" dirty="0">
              <a:solidFill>
                <a:schemeClr val="tx1">
                  <a:lumMod val="95000"/>
                  <a:lumOff val="5000"/>
                </a:schemeClr>
              </a:solidFill>
            </a:endParaRPr>
          </a:p>
        </p:txBody>
      </p:sp>
      <p:pic>
        <p:nvPicPr>
          <p:cNvPr id="6" name="Image 0" descr="preencoded.png"/>
          <p:cNvPicPr>
            <a:picLocks noChangeAspect="1"/>
          </p:cNvPicPr>
          <p:nvPr/>
        </p:nvPicPr>
        <p:blipFill>
          <a:blip r:embed="rId3"/>
          <a:stretch>
            <a:fillRect/>
          </a:stretch>
        </p:blipFill>
        <p:spPr>
          <a:xfrm>
            <a:off x="763310" y="4116943"/>
            <a:ext cx="60960" cy="415290"/>
          </a:xfrm>
          <a:prstGeom prst="rect">
            <a:avLst/>
          </a:prstGeom>
        </p:spPr>
      </p:pic>
      <p:sp>
        <p:nvSpPr>
          <p:cNvPr id="7" name="Text 4"/>
          <p:cNvSpPr/>
          <p:nvPr/>
        </p:nvSpPr>
        <p:spPr>
          <a:xfrm>
            <a:off x="1081564" y="4147423"/>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rPr>
              <a:t>Shalini</a:t>
            </a:r>
            <a:endParaRPr lang="en-US" sz="2200" dirty="0">
              <a:solidFill>
                <a:schemeClr val="tx1">
                  <a:lumMod val="95000"/>
                  <a:lumOff val="5000"/>
                </a:schemeClr>
              </a:solidFill>
            </a:endParaRPr>
          </a:p>
        </p:txBody>
      </p:sp>
      <p:pic>
        <p:nvPicPr>
          <p:cNvPr id="8" name="Image 1" descr="preencoded.png"/>
          <p:cNvPicPr>
            <a:picLocks noChangeAspect="1"/>
          </p:cNvPicPr>
          <p:nvPr/>
        </p:nvPicPr>
        <p:blipFill>
          <a:blip r:embed="rId3"/>
          <a:stretch>
            <a:fillRect/>
          </a:stretch>
        </p:blipFill>
        <p:spPr>
          <a:xfrm>
            <a:off x="7426404" y="4116943"/>
            <a:ext cx="60960" cy="415290"/>
          </a:xfrm>
          <a:prstGeom prst="rect">
            <a:avLst/>
          </a:prstGeom>
        </p:spPr>
      </p:pic>
      <p:sp>
        <p:nvSpPr>
          <p:cNvPr id="9" name="Text 5"/>
          <p:cNvSpPr/>
          <p:nvPr/>
        </p:nvSpPr>
        <p:spPr>
          <a:xfrm>
            <a:off x="7744658" y="4147423"/>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rPr>
              <a:t>Aman Nagar</a:t>
            </a:r>
            <a:endParaRPr lang="en-US" sz="2200" dirty="0">
              <a:solidFill>
                <a:schemeClr val="tx1">
                  <a:lumMod val="95000"/>
                  <a:lumOff val="5000"/>
                </a:schemeClr>
              </a:solidFill>
            </a:endParaRPr>
          </a:p>
        </p:txBody>
      </p:sp>
      <p:pic>
        <p:nvPicPr>
          <p:cNvPr id="10" name="Image 2" descr="preencoded.png"/>
          <p:cNvPicPr>
            <a:picLocks noChangeAspect="1"/>
          </p:cNvPicPr>
          <p:nvPr/>
        </p:nvPicPr>
        <p:blipFill>
          <a:blip r:embed="rId3"/>
          <a:stretch>
            <a:fillRect/>
          </a:stretch>
        </p:blipFill>
        <p:spPr>
          <a:xfrm>
            <a:off x="763310" y="4924901"/>
            <a:ext cx="60960" cy="415290"/>
          </a:xfrm>
          <a:prstGeom prst="rect">
            <a:avLst/>
          </a:prstGeom>
        </p:spPr>
      </p:pic>
      <p:sp>
        <p:nvSpPr>
          <p:cNvPr id="11" name="Text 6"/>
          <p:cNvSpPr/>
          <p:nvPr/>
        </p:nvSpPr>
        <p:spPr>
          <a:xfrm>
            <a:off x="1081564" y="4955381"/>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rPr>
              <a:t>Sanjana</a:t>
            </a:r>
            <a:endParaRPr lang="en-US" sz="2200" dirty="0">
              <a:solidFill>
                <a:schemeClr val="tx1">
                  <a:lumMod val="95000"/>
                  <a:lumOff val="5000"/>
                </a:schemeClr>
              </a:solidFill>
            </a:endParaRPr>
          </a:p>
        </p:txBody>
      </p:sp>
      <p:pic>
        <p:nvPicPr>
          <p:cNvPr id="12" name="Image 3" descr="preencoded.png"/>
          <p:cNvPicPr>
            <a:picLocks noChangeAspect="1"/>
          </p:cNvPicPr>
          <p:nvPr/>
        </p:nvPicPr>
        <p:blipFill>
          <a:blip r:embed="rId3"/>
          <a:stretch>
            <a:fillRect/>
          </a:stretch>
        </p:blipFill>
        <p:spPr>
          <a:xfrm>
            <a:off x="7426404" y="4924901"/>
            <a:ext cx="60960" cy="415290"/>
          </a:xfrm>
          <a:prstGeom prst="rect">
            <a:avLst/>
          </a:prstGeom>
        </p:spPr>
      </p:pic>
      <p:sp>
        <p:nvSpPr>
          <p:cNvPr id="13" name="Text 7"/>
          <p:cNvSpPr/>
          <p:nvPr/>
        </p:nvSpPr>
        <p:spPr>
          <a:xfrm>
            <a:off x="7744658" y="4924901"/>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rPr>
              <a:t>Shaikun Rani</a:t>
            </a:r>
            <a:endParaRPr lang="en-US" sz="2200" dirty="0">
              <a:solidFill>
                <a:schemeClr val="tx1">
                  <a:lumMod val="95000"/>
                  <a:lumOff val="5000"/>
                </a:schemeClr>
              </a:solidFill>
            </a:endParaRPr>
          </a:p>
        </p:txBody>
      </p:sp>
      <p:pic>
        <p:nvPicPr>
          <p:cNvPr id="14" name="Image 4" descr="preencoded.png"/>
          <p:cNvPicPr>
            <a:picLocks noChangeAspect="1"/>
          </p:cNvPicPr>
          <p:nvPr/>
        </p:nvPicPr>
        <p:blipFill>
          <a:blip r:embed="rId3"/>
          <a:stretch>
            <a:fillRect/>
          </a:stretch>
        </p:blipFill>
        <p:spPr>
          <a:xfrm>
            <a:off x="763310" y="5732859"/>
            <a:ext cx="60960" cy="415290"/>
          </a:xfrm>
          <a:prstGeom prst="rect">
            <a:avLst/>
          </a:prstGeom>
        </p:spPr>
      </p:pic>
      <p:sp>
        <p:nvSpPr>
          <p:cNvPr id="15" name="Text 8"/>
          <p:cNvSpPr/>
          <p:nvPr/>
        </p:nvSpPr>
        <p:spPr>
          <a:xfrm>
            <a:off x="1081562" y="5763339"/>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anose="02000000000000000000" pitchFamily="2" charset="0"/>
              </a:rPr>
              <a:t>Sruthi</a:t>
            </a:r>
          </a:p>
        </p:txBody>
      </p:sp>
      <p:pic>
        <p:nvPicPr>
          <p:cNvPr id="16" name="Image 5" descr="preencoded.png"/>
          <p:cNvPicPr>
            <a:picLocks noChangeAspect="1"/>
          </p:cNvPicPr>
          <p:nvPr/>
        </p:nvPicPr>
        <p:blipFill>
          <a:blip r:embed="rId3"/>
          <a:stretch>
            <a:fillRect/>
          </a:stretch>
        </p:blipFill>
        <p:spPr>
          <a:xfrm>
            <a:off x="7426404" y="5732859"/>
            <a:ext cx="60960" cy="415290"/>
          </a:xfrm>
          <a:prstGeom prst="rect">
            <a:avLst/>
          </a:prstGeom>
        </p:spPr>
      </p:pic>
      <p:sp>
        <p:nvSpPr>
          <p:cNvPr id="17" name="Text 9"/>
          <p:cNvSpPr/>
          <p:nvPr/>
        </p:nvSpPr>
        <p:spPr>
          <a:xfrm>
            <a:off x="7744658" y="5770274"/>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rPr>
              <a:t>Nilvana </a:t>
            </a:r>
            <a:endParaRPr lang="en-US" sz="2200" dirty="0">
              <a:solidFill>
                <a:schemeClr val="tx1">
                  <a:lumMod val="95000"/>
                  <a:lumOff val="5000"/>
                </a:schemeClr>
              </a:solidFill>
            </a:endParaRPr>
          </a:p>
        </p:txBody>
      </p:sp>
      <p:sp>
        <p:nvSpPr>
          <p:cNvPr id="18" name="Text 10"/>
          <p:cNvSpPr/>
          <p:nvPr/>
        </p:nvSpPr>
        <p:spPr>
          <a:xfrm>
            <a:off x="793790" y="6372820"/>
            <a:ext cx="13042821" cy="362903"/>
          </a:xfrm>
          <a:prstGeom prst="rect">
            <a:avLst/>
          </a:prstGeom>
          <a:noFill/>
          <a:ln/>
        </p:spPr>
        <p:txBody>
          <a:bodyPr wrap="none" lIns="0" tIns="0" rIns="0" bIns="0" rtlCol="0" anchor="t"/>
          <a:lstStyle/>
          <a:p>
            <a:pPr marL="0" indent="0" algn="l">
              <a:lnSpc>
                <a:spcPts val="2850"/>
              </a:lnSpc>
              <a:buNone/>
            </a:pPr>
            <a:r>
              <a:rPr lang="en-US" sz="2000" b="1" dirty="0">
                <a:solidFill>
                  <a:schemeClr val="tx1">
                    <a:lumMod val="95000"/>
                    <a:lumOff val="5000"/>
                  </a:schemeClr>
                </a:solidFill>
                <a:latin typeface="Open Sans" pitchFamily="34" charset="0"/>
                <a:ea typeface="Open Sans" pitchFamily="34" charset="-122"/>
                <a:cs typeface="Open Sans" pitchFamily="34" charset="-120"/>
              </a:rPr>
              <a:t>Mentor:</a:t>
            </a:r>
            <a:endParaRPr lang="en-US" sz="2000" b="1" dirty="0">
              <a:solidFill>
                <a:schemeClr val="tx1">
                  <a:lumMod val="95000"/>
                  <a:lumOff val="5000"/>
                </a:schemeClr>
              </a:solidFill>
            </a:endParaRPr>
          </a:p>
        </p:txBody>
      </p:sp>
      <p:pic>
        <p:nvPicPr>
          <p:cNvPr id="19" name="Image 6" descr="preencoded.png"/>
          <p:cNvPicPr>
            <a:picLocks noChangeAspect="1"/>
          </p:cNvPicPr>
          <p:nvPr/>
        </p:nvPicPr>
        <p:blipFill>
          <a:blip r:embed="rId3"/>
          <a:stretch>
            <a:fillRect/>
          </a:stretch>
        </p:blipFill>
        <p:spPr>
          <a:xfrm>
            <a:off x="763310" y="6960394"/>
            <a:ext cx="60960" cy="415290"/>
          </a:xfrm>
          <a:prstGeom prst="rect">
            <a:avLst/>
          </a:prstGeom>
        </p:spPr>
      </p:pic>
      <p:sp>
        <p:nvSpPr>
          <p:cNvPr id="20" name="Text 11"/>
          <p:cNvSpPr/>
          <p:nvPr/>
        </p:nvSpPr>
        <p:spPr>
          <a:xfrm>
            <a:off x="1081563" y="7021354"/>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tx1">
                    <a:lumMod val="95000"/>
                    <a:lumOff val="5000"/>
                  </a:schemeClr>
                </a:solidFill>
                <a:latin typeface="Libre Baskerville" pitchFamily="34" charset="0"/>
                <a:ea typeface="Libre Baskerville" pitchFamily="34" charset="-122"/>
                <a:cs typeface="Libre Baskerville" pitchFamily="34" charset="-120"/>
              </a:rPr>
              <a:t>Vinay Prashant sir</a:t>
            </a:r>
            <a:endParaRPr lang="en-US" sz="2200"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4470"/>
            <a:ext cx="5670590" cy="1061538"/>
          </a:xfrm>
          <a:prstGeom prst="rect">
            <a:avLst/>
          </a:prstGeom>
          <a:noFill/>
          <a:ln/>
        </p:spPr>
        <p:txBody>
          <a:bodyPr wrap="none" lIns="0" tIns="0" rIns="0" bIns="0" rtlCol="0" anchor="t"/>
          <a:lstStyle/>
          <a:p>
            <a:pPr marL="0" indent="0" algn="l">
              <a:lnSpc>
                <a:spcPts val="5550"/>
              </a:lnSpc>
              <a:buNone/>
            </a:pPr>
            <a:r>
              <a:rPr lang="en-US" sz="4450" dirty="0">
                <a:solidFill>
                  <a:srgbClr val="194178"/>
                </a:solidFill>
                <a:latin typeface="Libre Baskerville" pitchFamily="34" charset="0"/>
                <a:ea typeface="Libre Baskerville" pitchFamily="34" charset="-122"/>
                <a:cs typeface="Libre Baskerville" pitchFamily="34" charset="-120"/>
              </a:rPr>
              <a:t>MedLink</a:t>
            </a:r>
            <a:endParaRPr lang="en-US" sz="4450" dirty="0">
              <a:solidFill>
                <a:srgbClr val="194178"/>
              </a:solidFill>
            </a:endParaRPr>
          </a:p>
        </p:txBody>
      </p:sp>
      <p:sp>
        <p:nvSpPr>
          <p:cNvPr id="3" name="Text 1"/>
          <p:cNvSpPr/>
          <p:nvPr/>
        </p:nvSpPr>
        <p:spPr>
          <a:xfrm>
            <a:off x="793791" y="1572323"/>
            <a:ext cx="6153420" cy="512956"/>
          </a:xfrm>
          <a:prstGeom prst="rect">
            <a:avLst/>
          </a:prstGeom>
          <a:noFill/>
          <a:ln/>
        </p:spPr>
        <p:txBody>
          <a:bodyPr wrap="none" lIns="0" tIns="0" rIns="0" bIns="0" rtlCol="0" anchor="t"/>
          <a:lstStyle/>
          <a:p>
            <a:pPr marL="0" indent="0" algn="l">
              <a:lnSpc>
                <a:spcPts val="2850"/>
              </a:lnSpc>
              <a:buNone/>
            </a:pPr>
            <a:r>
              <a:rPr lang="en-US" sz="2800" dirty="0">
                <a:solidFill>
                  <a:srgbClr val="006699"/>
                </a:solidFill>
                <a:latin typeface="Open Sans" pitchFamily="34" charset="0"/>
                <a:ea typeface="Open Sans" pitchFamily="34" charset="-122"/>
                <a:cs typeface="Open Sans" pitchFamily="34" charset="-120"/>
              </a:rPr>
              <a:t>Online Prescription and Medication Tracker</a:t>
            </a:r>
            <a:endParaRPr lang="en-US" sz="2800" dirty="0">
              <a:solidFill>
                <a:srgbClr val="006699"/>
              </a:solidFill>
            </a:endParaRPr>
          </a:p>
        </p:txBody>
      </p:sp>
      <p:sp>
        <p:nvSpPr>
          <p:cNvPr id="4" name="Text 2"/>
          <p:cNvSpPr/>
          <p:nvPr/>
        </p:nvSpPr>
        <p:spPr>
          <a:xfrm>
            <a:off x="793790" y="2174488"/>
            <a:ext cx="13042821" cy="1416205"/>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10000"/>
                  </a:schemeClr>
                </a:solidFill>
                <a:latin typeface="Open Sans" pitchFamily="34" charset="0"/>
                <a:ea typeface="Open Sans" pitchFamily="34" charset="-122"/>
                <a:cs typeface="Open Sans" pitchFamily="34" charset="-120"/>
              </a:rPr>
              <a:t>MedLink is a role-based healthcare management application where patients can track medications, reminders, vitals, and profile data, and doctors can manage patients, monitor summaries, and create prescriptions. The system is built with React Native on the frontend, Spring Boot on the backend, and MongoDB as the database.</a:t>
            </a:r>
            <a:endParaRPr lang="en-US" sz="1750" dirty="0">
              <a:solidFill>
                <a:schemeClr val="bg2">
                  <a:lumMod val="10000"/>
                </a:schemeClr>
              </a:solidFill>
            </a:endParaRPr>
          </a:p>
        </p:txBody>
      </p:sp>
      <p:sp>
        <p:nvSpPr>
          <p:cNvPr id="5" name="Text 3"/>
          <p:cNvSpPr/>
          <p:nvPr/>
        </p:nvSpPr>
        <p:spPr>
          <a:xfrm>
            <a:off x="793790" y="3590693"/>
            <a:ext cx="13042821" cy="2267659"/>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TextBox 9">
            <a:extLst>
              <a:ext uri="{FF2B5EF4-FFF2-40B4-BE49-F238E27FC236}">
                <a16:creationId xmlns:a16="http://schemas.microsoft.com/office/drawing/2014/main" id="{4F5DAFC5-4817-2B86-3FB4-B51E7F04B205}"/>
              </a:ext>
            </a:extLst>
          </p:cNvPr>
          <p:cNvSpPr txBox="1"/>
          <p:nvPr/>
        </p:nvSpPr>
        <p:spPr>
          <a:xfrm>
            <a:off x="793789" y="3514636"/>
            <a:ext cx="12888757" cy="2523768"/>
          </a:xfrm>
          <a:prstGeom prst="rect">
            <a:avLst/>
          </a:prstGeom>
          <a:noFill/>
        </p:spPr>
        <p:txBody>
          <a:bodyPr wrap="square">
            <a:spAutoFit/>
          </a:bodyPr>
          <a:lstStyle/>
          <a:p>
            <a:endParaRPr lang="en-US" dirty="0"/>
          </a:p>
          <a:p>
            <a:endParaRPr lang="en-US" dirty="0"/>
          </a:p>
          <a:p>
            <a:r>
              <a:rPr lang="en-US" sz="4400" dirty="0">
                <a:solidFill>
                  <a:srgbClr val="004678"/>
                </a:solidFill>
              </a:rPr>
              <a:t>Problem Statement</a:t>
            </a:r>
          </a:p>
          <a:p>
            <a:endParaRPr lang="en-US" dirty="0"/>
          </a:p>
          <a:p>
            <a:r>
              <a:rPr lang="en-US" sz="2000" dirty="0"/>
              <a:t>Patients struggle with medication management due to lack of reminders, poor tracking, and fragmented medical data. There is also limited doctor-patient coordination and no instant support for drug-related queries, leading to reduced adherence and potential health risks</a:t>
            </a:r>
            <a:r>
              <a:rPr lang="en-US" dirty="0"/>
              <a: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1455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94178"/>
                </a:solidFill>
                <a:latin typeface="Libre Baskerville" pitchFamily="34" charset="0"/>
                <a:ea typeface="Libre Baskerville" pitchFamily="34" charset="-122"/>
                <a:cs typeface="Libre Baskerville" pitchFamily="34" charset="-120"/>
              </a:rPr>
              <a:t>Project Overview</a:t>
            </a:r>
            <a:endParaRPr lang="en-US" sz="4450" dirty="0">
              <a:solidFill>
                <a:srgbClr val="194178"/>
              </a:solidFill>
            </a:endParaRPr>
          </a:p>
        </p:txBody>
      </p:sp>
      <p:sp>
        <p:nvSpPr>
          <p:cNvPr id="3" name="Text 1"/>
          <p:cNvSpPr/>
          <p:nvPr/>
        </p:nvSpPr>
        <p:spPr>
          <a:xfrm>
            <a:off x="793790" y="25356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The Vision</a:t>
            </a:r>
            <a:endParaRPr lang="en-US" sz="2200" dirty="0">
              <a:solidFill>
                <a:srgbClr val="006699"/>
              </a:solidFill>
            </a:endParaRPr>
          </a:p>
        </p:txBody>
      </p:sp>
      <p:sp>
        <p:nvSpPr>
          <p:cNvPr id="4" name="Text 2"/>
          <p:cNvSpPr/>
          <p:nvPr/>
        </p:nvSpPr>
        <p:spPr>
          <a:xfrm>
            <a:off x="793790" y="3071455"/>
            <a:ext cx="6244709" cy="1451610"/>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MedLink is a role-based healthcare management application designed to streamline patient care and medication adherence whilst enabling efficient doctor-patient coordination.</a:t>
            </a:r>
            <a:endParaRPr lang="en-US" sz="1750" dirty="0">
              <a:solidFill>
                <a:schemeClr val="tx1">
                  <a:lumMod val="95000"/>
                  <a:lumOff val="5000"/>
                </a:schemeClr>
              </a:solidFill>
            </a:endParaRPr>
          </a:p>
        </p:txBody>
      </p:sp>
      <p:sp>
        <p:nvSpPr>
          <p:cNvPr id="5" name="Text 3"/>
          <p:cNvSpPr/>
          <p:nvPr/>
        </p:nvSpPr>
        <p:spPr>
          <a:xfrm>
            <a:off x="7599521" y="249031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Core Value</a:t>
            </a:r>
            <a:endParaRPr lang="en-US" sz="2200" dirty="0">
              <a:solidFill>
                <a:srgbClr val="006699"/>
              </a:solidFill>
            </a:endParaRPr>
          </a:p>
        </p:txBody>
      </p:sp>
      <p:sp>
        <p:nvSpPr>
          <p:cNvPr id="6" name="Text 4"/>
          <p:cNvSpPr/>
          <p:nvPr/>
        </p:nvSpPr>
        <p:spPr>
          <a:xfrm>
            <a:off x="7599521" y="3071455"/>
            <a:ext cx="6244709" cy="1451610"/>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Patients manage medications, reminders, vitals, and profiles. Doctors manage patients, monitor summaries, and create prescriptions—all within one secure, integrated system.</a:t>
            </a:r>
            <a:endParaRPr lang="en-US" sz="1750" dirty="0">
              <a:solidFill>
                <a:schemeClr val="tx1">
                  <a:lumMod val="95000"/>
                  <a:lumOff val="5000"/>
                </a:schemeClr>
              </a:solidFill>
            </a:endParaRPr>
          </a:p>
        </p:txBody>
      </p:sp>
      <p:sp>
        <p:nvSpPr>
          <p:cNvPr id="7" name="Shape 5"/>
          <p:cNvSpPr/>
          <p:nvPr/>
        </p:nvSpPr>
        <p:spPr>
          <a:xfrm>
            <a:off x="793790" y="4982289"/>
            <a:ext cx="4196358" cy="2032754"/>
          </a:xfrm>
          <a:prstGeom prst="roundRect">
            <a:avLst>
              <a:gd name="adj" fmla="val 1674"/>
            </a:avLst>
          </a:prstGeom>
          <a:solidFill>
            <a:srgbClr val="EAE8F3"/>
          </a:solidFill>
          <a:ln/>
        </p:spPr>
        <p:txBody>
          <a:bodyPr/>
          <a:lstStyle/>
          <a:p>
            <a:endParaRPr lang="en-IN"/>
          </a:p>
        </p:txBody>
      </p:sp>
      <p:sp>
        <p:nvSpPr>
          <p:cNvPr id="8" name="Text 6"/>
          <p:cNvSpPr/>
          <p:nvPr/>
        </p:nvSpPr>
        <p:spPr>
          <a:xfrm>
            <a:off x="1020604" y="52091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Patient Portal</a:t>
            </a:r>
            <a:endParaRPr lang="en-US" sz="2200" dirty="0">
              <a:solidFill>
                <a:srgbClr val="006699"/>
              </a:solidFill>
            </a:endParaRPr>
          </a:p>
        </p:txBody>
      </p:sp>
      <p:sp>
        <p:nvSpPr>
          <p:cNvPr id="9" name="Text 7"/>
          <p:cNvSpPr/>
          <p:nvPr/>
        </p:nvSpPr>
        <p:spPr>
          <a:xfrm>
            <a:off x="1020604" y="5699522"/>
            <a:ext cx="3742730" cy="1088708"/>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Medication tracking, adherence monitoring, vitals logging, and profile management</a:t>
            </a:r>
            <a:endParaRPr lang="en-US" sz="1750" dirty="0">
              <a:solidFill>
                <a:schemeClr val="tx1">
                  <a:lumMod val="95000"/>
                  <a:lumOff val="5000"/>
                </a:schemeClr>
              </a:solidFill>
            </a:endParaRPr>
          </a:p>
        </p:txBody>
      </p:sp>
      <p:sp>
        <p:nvSpPr>
          <p:cNvPr id="10" name="Shape 8"/>
          <p:cNvSpPr/>
          <p:nvPr/>
        </p:nvSpPr>
        <p:spPr>
          <a:xfrm>
            <a:off x="5216962" y="4982289"/>
            <a:ext cx="4196358" cy="2032754"/>
          </a:xfrm>
          <a:prstGeom prst="roundRect">
            <a:avLst>
              <a:gd name="adj" fmla="val 1674"/>
            </a:avLst>
          </a:prstGeom>
          <a:solidFill>
            <a:srgbClr val="EAE8F3"/>
          </a:solidFill>
          <a:ln/>
        </p:spPr>
        <p:txBody>
          <a:bodyPr/>
          <a:lstStyle/>
          <a:p>
            <a:endParaRPr lang="en-IN"/>
          </a:p>
        </p:txBody>
      </p:sp>
      <p:sp>
        <p:nvSpPr>
          <p:cNvPr id="11" name="Text 9"/>
          <p:cNvSpPr/>
          <p:nvPr/>
        </p:nvSpPr>
        <p:spPr>
          <a:xfrm>
            <a:off x="5443776" y="52091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Doctor Dashboard</a:t>
            </a:r>
            <a:endParaRPr lang="en-US" sz="2200" dirty="0">
              <a:solidFill>
                <a:srgbClr val="006699"/>
              </a:solidFill>
            </a:endParaRPr>
          </a:p>
        </p:txBody>
      </p:sp>
      <p:sp>
        <p:nvSpPr>
          <p:cNvPr id="12" name="Text 10"/>
          <p:cNvSpPr/>
          <p:nvPr/>
        </p:nvSpPr>
        <p:spPr>
          <a:xfrm>
            <a:off x="5443776" y="5699522"/>
            <a:ext cx="3742730" cy="1088708"/>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Patient management, prescription creation, and health summary monitoring</a:t>
            </a:r>
            <a:endParaRPr lang="en-US" sz="1750" dirty="0">
              <a:solidFill>
                <a:schemeClr val="tx1">
                  <a:lumMod val="95000"/>
                  <a:lumOff val="5000"/>
                </a:schemeClr>
              </a:solidFill>
            </a:endParaRPr>
          </a:p>
        </p:txBody>
      </p:sp>
      <p:sp>
        <p:nvSpPr>
          <p:cNvPr id="13" name="Shape 11"/>
          <p:cNvSpPr/>
          <p:nvPr/>
        </p:nvSpPr>
        <p:spPr>
          <a:xfrm>
            <a:off x="9640133" y="4982289"/>
            <a:ext cx="4196358" cy="2032754"/>
          </a:xfrm>
          <a:prstGeom prst="roundRect">
            <a:avLst>
              <a:gd name="adj" fmla="val 1674"/>
            </a:avLst>
          </a:prstGeom>
          <a:solidFill>
            <a:srgbClr val="EAE8F3"/>
          </a:solidFill>
          <a:ln/>
        </p:spPr>
        <p:txBody>
          <a:bodyPr/>
          <a:lstStyle/>
          <a:p>
            <a:endParaRPr lang="en-IN"/>
          </a:p>
        </p:txBody>
      </p:sp>
      <p:sp>
        <p:nvSpPr>
          <p:cNvPr id="14" name="Text 12"/>
          <p:cNvSpPr/>
          <p:nvPr/>
        </p:nvSpPr>
        <p:spPr>
          <a:xfrm>
            <a:off x="9866948" y="52091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Secure Backend</a:t>
            </a:r>
            <a:endParaRPr lang="en-US" sz="2200" dirty="0">
              <a:solidFill>
                <a:srgbClr val="006699"/>
              </a:solidFill>
            </a:endParaRPr>
          </a:p>
        </p:txBody>
      </p:sp>
      <p:sp>
        <p:nvSpPr>
          <p:cNvPr id="15" name="Text 13"/>
          <p:cNvSpPr/>
          <p:nvPr/>
        </p:nvSpPr>
        <p:spPr>
          <a:xfrm>
            <a:off x="9866948" y="5699522"/>
            <a:ext cx="3742730" cy="1088708"/>
          </a:xfrm>
          <a:prstGeom prst="rect">
            <a:avLst/>
          </a:prstGeom>
          <a:noFill/>
          <a:ln/>
        </p:spPr>
        <p:txBody>
          <a:bodyPr wrap="square" lIns="0" tIns="0" rIns="0" bIns="0" rtlCol="0" anchor="t"/>
          <a:lstStyle/>
          <a:p>
            <a:pPr marL="0" indent="0" algn="l">
              <a:lnSpc>
                <a:spcPts val="2850"/>
              </a:lnSpc>
              <a:buNone/>
            </a:pPr>
            <a:r>
              <a:rPr lang="en-US" sz="1750" dirty="0">
                <a:solidFill>
                  <a:schemeClr val="tx1">
                    <a:lumMod val="95000"/>
                    <a:lumOff val="5000"/>
                  </a:schemeClr>
                </a:solidFill>
                <a:latin typeface="Open Sans" pitchFamily="34" charset="0"/>
                <a:ea typeface="Open Sans" pitchFamily="34" charset="-122"/>
                <a:cs typeface="Open Sans" pitchFamily="34" charset="-120"/>
              </a:rPr>
              <a:t>Role-based access control with JWT authentication and MongoDB persistence</a:t>
            </a:r>
            <a:endParaRPr lang="en-US" sz="1750" dirty="0">
              <a:solidFill>
                <a:schemeClr val="tx1">
                  <a:lumMod val="95000"/>
                  <a:lumOff val="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0CEB5C-9D46-3E3E-7454-23E5A2995942}"/>
              </a:ext>
            </a:extLst>
          </p:cNvPr>
          <p:cNvPicPr>
            <a:picLocks noChangeAspect="1"/>
          </p:cNvPicPr>
          <p:nvPr/>
        </p:nvPicPr>
        <p:blipFill>
          <a:blip r:embed="rId2"/>
          <a:stretch>
            <a:fillRect/>
          </a:stretch>
        </p:blipFill>
        <p:spPr>
          <a:xfrm>
            <a:off x="2051825" y="624468"/>
            <a:ext cx="9121698" cy="7081025"/>
          </a:xfrm>
          <a:prstGeom prst="rect">
            <a:avLst/>
          </a:prstGeom>
        </p:spPr>
      </p:pic>
    </p:spTree>
    <p:extLst>
      <p:ext uri="{BB962C8B-B14F-4D97-AF65-F5344CB8AC3E}">
        <p14:creationId xmlns:p14="http://schemas.microsoft.com/office/powerpoint/2010/main" val="207424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F1B800-B3A6-F9A6-0591-DFF3BB0D328F}"/>
              </a:ext>
            </a:extLst>
          </p:cNvPr>
          <p:cNvSpPr txBox="1"/>
          <p:nvPr/>
        </p:nvSpPr>
        <p:spPr>
          <a:xfrm>
            <a:off x="568713" y="144966"/>
            <a:ext cx="10794380" cy="7916013"/>
          </a:xfrm>
          <a:prstGeom prst="rect">
            <a:avLst/>
          </a:prstGeom>
          <a:noFill/>
        </p:spPr>
        <p:txBody>
          <a:bodyPr wrap="square">
            <a:spAutoFit/>
          </a:bodyPr>
          <a:lstStyle/>
          <a:p>
            <a:pPr>
              <a:buNone/>
            </a:pPr>
            <a:r>
              <a:rPr lang="en-US" sz="3900" b="1" dirty="0">
                <a:solidFill>
                  <a:srgbClr val="004678"/>
                </a:solidFill>
              </a:rPr>
              <a:t>Medication Scheduling Flow</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Form Entry</a:t>
            </a:r>
            <a:br>
              <a:rPr lang="en-US" dirty="0"/>
            </a:br>
            <a:r>
              <a:rPr lang="en-US" sz="2000" dirty="0"/>
              <a:t>Patient enters medication details including name, dosage, frequency, and timing.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Frontend Validation</a:t>
            </a:r>
            <a:br>
              <a:rPr lang="en-US" dirty="0"/>
            </a:br>
            <a:r>
              <a:rPr lang="en-US" sz="2000" dirty="0"/>
              <a:t>Input fields are validated to ensure accuracy before submission</a:t>
            </a:r>
            <a:r>
              <a:rPr lang="en-US" dirty="0"/>
              <a:t>.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API Request</a:t>
            </a:r>
            <a:br>
              <a:rPr lang="en-US" dirty="0"/>
            </a:br>
            <a:r>
              <a:rPr lang="en-US" sz="2000" dirty="0"/>
              <a:t>Data is sent to backend via </a:t>
            </a:r>
            <a:r>
              <a:rPr lang="en-US" sz="2000" b="1" dirty="0"/>
              <a:t>POST /api/medications/schedule</a:t>
            </a:r>
            <a:r>
              <a:rPr lang="en-US" dirty="0"/>
              <a:t>.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Data Storage</a:t>
            </a:r>
            <a:br>
              <a:rPr lang="en-US" dirty="0"/>
            </a:br>
            <a:r>
              <a:rPr lang="en-US" sz="2000" dirty="0"/>
              <a:t>Medication schedule is securely stored in </a:t>
            </a:r>
            <a:r>
              <a:rPr lang="en-US" sz="2000" b="1" dirty="0"/>
              <a:t>MongoDB</a:t>
            </a:r>
            <a:r>
              <a:rPr lang="en-US" dirty="0"/>
              <a:t>.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Log Generation</a:t>
            </a:r>
            <a:br>
              <a:rPr lang="en-US" dirty="0"/>
            </a:br>
            <a:r>
              <a:rPr lang="en-US" sz="2000" dirty="0"/>
              <a:t>System automatically generates </a:t>
            </a:r>
            <a:r>
              <a:rPr lang="en-US" sz="2000" b="1" dirty="0"/>
              <a:t>intake logs</a:t>
            </a:r>
            <a:r>
              <a:rPr lang="en-US" sz="2000" dirty="0"/>
              <a:t> based on schedule.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Status Tracking</a:t>
            </a:r>
            <a:br>
              <a:rPr lang="en-US" dirty="0"/>
            </a:br>
            <a:r>
              <a:rPr lang="en-US" sz="2000" dirty="0"/>
              <a:t>Each log is tracked as </a:t>
            </a:r>
            <a:r>
              <a:rPr lang="en-US" sz="2000" b="1" dirty="0"/>
              <a:t>Pending, Taken, Missed, or Skipped</a:t>
            </a:r>
            <a:r>
              <a:rPr lang="en-US" dirty="0"/>
              <a:t>. </a:t>
            </a:r>
          </a:p>
          <a:p>
            <a:pPr>
              <a:lnSpc>
                <a:spcPct val="150000"/>
              </a:lnSpc>
              <a:buFont typeface="Arial" panose="020B0604020202020204" pitchFamily="34" charset="0"/>
              <a:buChar char="•"/>
            </a:pPr>
            <a:r>
              <a:rPr lang="en-IN" sz="2500" dirty="0">
                <a:solidFill>
                  <a:srgbClr val="006699"/>
                </a:solidFill>
              </a:rPr>
              <a:t>🔄</a:t>
            </a:r>
            <a:r>
              <a:rPr lang="en-US" sz="2500" b="1" dirty="0">
                <a:solidFill>
                  <a:srgbClr val="006699"/>
                </a:solidFill>
              </a:rPr>
              <a:t>Data Refresh</a:t>
            </a:r>
            <a:br>
              <a:rPr lang="en-US" dirty="0"/>
            </a:br>
            <a:r>
              <a:rPr lang="en-US" sz="2000" dirty="0"/>
              <a:t>Dashboard updates in real-time to reflect latest medication data</a:t>
            </a:r>
            <a:r>
              <a:rPr lang="en-US" dirty="0"/>
              <a:t>.</a:t>
            </a:r>
          </a:p>
        </p:txBody>
      </p:sp>
    </p:spTree>
    <p:extLst>
      <p:ext uri="{BB962C8B-B14F-4D97-AF65-F5344CB8AC3E}">
        <p14:creationId xmlns:p14="http://schemas.microsoft.com/office/powerpoint/2010/main" val="126093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78C1E9-B018-D59D-9D08-FD0805D9C22A}"/>
              </a:ext>
            </a:extLst>
          </p:cNvPr>
          <p:cNvPicPr>
            <a:picLocks noChangeAspect="1"/>
          </p:cNvPicPr>
          <p:nvPr/>
        </p:nvPicPr>
        <p:blipFill>
          <a:blip r:embed="rId2"/>
          <a:stretch>
            <a:fillRect/>
          </a:stretch>
        </p:blipFill>
        <p:spPr>
          <a:xfrm>
            <a:off x="0" y="0"/>
            <a:ext cx="14831122" cy="8229600"/>
          </a:xfrm>
          <a:prstGeom prst="rect">
            <a:avLst/>
          </a:prstGeom>
        </p:spPr>
      </p:pic>
    </p:spTree>
    <p:extLst>
      <p:ext uri="{BB962C8B-B14F-4D97-AF65-F5344CB8AC3E}">
        <p14:creationId xmlns:p14="http://schemas.microsoft.com/office/powerpoint/2010/main" val="836138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5325" y="937870"/>
            <a:ext cx="5272088" cy="620911"/>
          </a:xfrm>
          <a:prstGeom prst="rect">
            <a:avLst/>
          </a:prstGeom>
          <a:noFill/>
          <a:ln/>
        </p:spPr>
        <p:txBody>
          <a:bodyPr wrap="none" lIns="0" tIns="0" rIns="0" bIns="0" rtlCol="0" anchor="t"/>
          <a:lstStyle/>
          <a:p>
            <a:pPr marL="0" indent="0" algn="l">
              <a:lnSpc>
                <a:spcPts val="4850"/>
              </a:lnSpc>
              <a:buNone/>
            </a:pPr>
            <a:r>
              <a:rPr lang="en-US" sz="3900" dirty="0">
                <a:solidFill>
                  <a:srgbClr val="194178"/>
                </a:solidFill>
                <a:latin typeface="Libre Baskerville" pitchFamily="34" charset="0"/>
                <a:ea typeface="Libre Baskerville" pitchFamily="34" charset="-122"/>
                <a:cs typeface="Libre Baskerville" pitchFamily="34" charset="-120"/>
              </a:rPr>
              <a:t>Database Collections</a:t>
            </a:r>
            <a:endParaRPr lang="en-US" sz="3900" dirty="0">
              <a:solidFill>
                <a:srgbClr val="194178"/>
              </a:solidFill>
            </a:endParaRPr>
          </a:p>
        </p:txBody>
      </p:sp>
      <p:sp>
        <p:nvSpPr>
          <p:cNvPr id="3" name="Text 1"/>
          <p:cNvSpPr/>
          <p:nvPr/>
        </p:nvSpPr>
        <p:spPr>
          <a:xfrm>
            <a:off x="695325" y="1717834"/>
            <a:ext cx="13239750" cy="496611"/>
          </a:xfrm>
          <a:prstGeom prst="rect">
            <a:avLst/>
          </a:prstGeom>
          <a:noFill/>
          <a:ln/>
        </p:spPr>
        <p:txBody>
          <a:bodyPr wrap="none" lIns="0" tIns="0" rIns="0" bIns="0" rtlCol="0" anchor="t"/>
          <a:lstStyle/>
          <a:p>
            <a:pPr marL="0" indent="0" algn="l">
              <a:lnSpc>
                <a:spcPts val="2300"/>
              </a:lnSpc>
              <a:buNone/>
            </a:pPr>
            <a:r>
              <a:rPr lang="en-US" sz="1600" dirty="0">
                <a:solidFill>
                  <a:schemeClr val="tx1">
                    <a:lumMod val="95000"/>
                    <a:lumOff val="5000"/>
                  </a:schemeClr>
                </a:solidFill>
                <a:latin typeface="Open Sans" pitchFamily="34" charset="0"/>
                <a:ea typeface="Open Sans" pitchFamily="34" charset="-122"/>
                <a:cs typeface="Open Sans" pitchFamily="34" charset="-120"/>
              </a:rPr>
              <a:t>MongoDB document-based schema stores all user data, medical profiles, medication schedules, and health metrics.</a:t>
            </a:r>
            <a:endParaRPr lang="en-US" sz="1600" dirty="0">
              <a:solidFill>
                <a:schemeClr val="tx1">
                  <a:lumMod val="95000"/>
                  <a:lumOff val="5000"/>
                </a:schemeClr>
              </a:solidFill>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325" y="2534483"/>
            <a:ext cx="496610" cy="496610"/>
          </a:xfrm>
          <a:prstGeom prst="rect">
            <a:avLst/>
          </a:prstGeom>
        </p:spPr>
      </p:pic>
      <p:sp>
        <p:nvSpPr>
          <p:cNvPr id="5" name="Text 2"/>
          <p:cNvSpPr/>
          <p:nvPr/>
        </p:nvSpPr>
        <p:spPr>
          <a:xfrm>
            <a:off x="1409462" y="2534483"/>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Users</a:t>
            </a:r>
            <a:endParaRPr lang="en-US" sz="1950" dirty="0">
              <a:solidFill>
                <a:srgbClr val="006699"/>
              </a:solidFill>
            </a:endParaRPr>
          </a:p>
        </p:txBody>
      </p:sp>
      <p:sp>
        <p:nvSpPr>
          <p:cNvPr id="6" name="Text 3"/>
          <p:cNvSpPr/>
          <p:nvPr/>
        </p:nvSpPr>
        <p:spPr>
          <a:xfrm>
            <a:off x="1409462" y="2949178"/>
            <a:ext cx="3554016" cy="596265"/>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Authentication identity with role, email, password, and phone number</a:t>
            </a:r>
            <a:endParaRPr lang="en-US" sz="1550" dirty="0">
              <a:solidFill>
                <a:schemeClr val="tx1">
                  <a:lumMod val="95000"/>
                  <a:lumOff val="5000"/>
                </a:schemeClr>
              </a:solidFill>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81005" y="2534483"/>
            <a:ext cx="496610" cy="496610"/>
          </a:xfrm>
          <a:prstGeom prst="rect">
            <a:avLst/>
          </a:prstGeom>
        </p:spPr>
      </p:pic>
      <p:sp>
        <p:nvSpPr>
          <p:cNvPr id="8" name="Text 4"/>
          <p:cNvSpPr/>
          <p:nvPr/>
        </p:nvSpPr>
        <p:spPr>
          <a:xfrm>
            <a:off x="5895142" y="2534483"/>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Patients</a:t>
            </a:r>
            <a:endParaRPr lang="en-US" sz="1950" dirty="0">
              <a:solidFill>
                <a:srgbClr val="006699"/>
              </a:solidFill>
            </a:endParaRPr>
          </a:p>
        </p:txBody>
      </p:sp>
      <p:sp>
        <p:nvSpPr>
          <p:cNvPr id="9" name="Text 5"/>
          <p:cNvSpPr/>
          <p:nvPr/>
        </p:nvSpPr>
        <p:spPr>
          <a:xfrm>
            <a:off x="5895142" y="2949178"/>
            <a:ext cx="3554135" cy="894398"/>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Medical profiles including age, blood group, allergies, emergency contacts, and assigned doctor</a:t>
            </a:r>
            <a:endParaRPr lang="en-US" sz="1550" dirty="0">
              <a:solidFill>
                <a:schemeClr val="tx1">
                  <a:lumMod val="95000"/>
                  <a:lumOff val="5000"/>
                </a:schemeClr>
              </a:solidFill>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66803" y="2534483"/>
            <a:ext cx="496610" cy="496610"/>
          </a:xfrm>
          <a:prstGeom prst="rect">
            <a:avLst/>
          </a:prstGeom>
        </p:spPr>
      </p:pic>
      <p:sp>
        <p:nvSpPr>
          <p:cNvPr id="11" name="Text 6"/>
          <p:cNvSpPr/>
          <p:nvPr/>
        </p:nvSpPr>
        <p:spPr>
          <a:xfrm>
            <a:off x="10380940" y="2534483"/>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Doctors</a:t>
            </a:r>
            <a:endParaRPr lang="en-US" sz="1950" dirty="0">
              <a:solidFill>
                <a:srgbClr val="006699"/>
              </a:solidFill>
            </a:endParaRPr>
          </a:p>
        </p:txBody>
      </p:sp>
      <p:sp>
        <p:nvSpPr>
          <p:cNvPr id="12" name="Text 7"/>
          <p:cNvSpPr/>
          <p:nvPr/>
        </p:nvSpPr>
        <p:spPr>
          <a:xfrm>
            <a:off x="10380940" y="2949178"/>
            <a:ext cx="3554135" cy="894398"/>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Professional details such as specialization, hospital, experience, availability, and patient lists</a:t>
            </a:r>
            <a:endParaRPr lang="en-US" sz="1550" dirty="0">
              <a:solidFill>
                <a:schemeClr val="tx1">
                  <a:lumMod val="95000"/>
                  <a:lumOff val="5000"/>
                </a:schemeClr>
              </a:solidFill>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5325" y="4191595"/>
            <a:ext cx="496610" cy="496610"/>
          </a:xfrm>
          <a:prstGeom prst="rect">
            <a:avLst/>
          </a:prstGeom>
        </p:spPr>
      </p:pic>
      <p:sp>
        <p:nvSpPr>
          <p:cNvPr id="14" name="Text 8"/>
          <p:cNvSpPr/>
          <p:nvPr/>
        </p:nvSpPr>
        <p:spPr>
          <a:xfrm>
            <a:off x="1409462" y="4191595"/>
            <a:ext cx="2788325"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Medication Schedules</a:t>
            </a:r>
            <a:endParaRPr lang="en-US" sz="1950" dirty="0">
              <a:solidFill>
                <a:srgbClr val="006699"/>
              </a:solidFill>
            </a:endParaRPr>
          </a:p>
        </p:txBody>
      </p:sp>
      <p:sp>
        <p:nvSpPr>
          <p:cNvPr id="15" name="Text 9"/>
          <p:cNvSpPr/>
          <p:nvPr/>
        </p:nvSpPr>
        <p:spPr>
          <a:xfrm>
            <a:off x="1409462" y="4606290"/>
            <a:ext cx="3554016" cy="596265"/>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Medication names, dosage, frequency, times, and start/end dates</a:t>
            </a:r>
            <a:endParaRPr lang="en-US" sz="1550" dirty="0">
              <a:solidFill>
                <a:schemeClr val="tx1">
                  <a:lumMod val="95000"/>
                  <a:lumOff val="5000"/>
                </a:schemeClr>
              </a:solidFill>
            </a:endParaRPr>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81005" y="4191595"/>
            <a:ext cx="496610" cy="496610"/>
          </a:xfrm>
          <a:prstGeom prst="rect">
            <a:avLst/>
          </a:prstGeom>
        </p:spPr>
      </p:pic>
      <p:sp>
        <p:nvSpPr>
          <p:cNvPr id="17" name="Text 10"/>
          <p:cNvSpPr/>
          <p:nvPr/>
        </p:nvSpPr>
        <p:spPr>
          <a:xfrm>
            <a:off x="5895142" y="4191595"/>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Intake Logs</a:t>
            </a:r>
            <a:endParaRPr lang="en-US" sz="1950" dirty="0">
              <a:solidFill>
                <a:srgbClr val="006699"/>
              </a:solidFill>
            </a:endParaRPr>
          </a:p>
        </p:txBody>
      </p:sp>
      <p:sp>
        <p:nvSpPr>
          <p:cNvPr id="18" name="Text 11"/>
          <p:cNvSpPr/>
          <p:nvPr/>
        </p:nvSpPr>
        <p:spPr>
          <a:xfrm>
            <a:off x="5895142" y="4606290"/>
            <a:ext cx="3554135" cy="894398"/>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Scheduled date/time with status tracking: taken, missed, skipped, or pending</a:t>
            </a:r>
            <a:endParaRPr lang="en-US" sz="1550" dirty="0">
              <a:solidFill>
                <a:schemeClr val="tx1">
                  <a:lumMod val="95000"/>
                  <a:lumOff val="5000"/>
                </a:schemeClr>
              </a:solidFill>
            </a:endParaRPr>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66803" y="4191595"/>
            <a:ext cx="496610" cy="496610"/>
          </a:xfrm>
          <a:prstGeom prst="rect">
            <a:avLst/>
          </a:prstGeom>
        </p:spPr>
      </p:pic>
      <p:sp>
        <p:nvSpPr>
          <p:cNvPr id="20" name="Text 12"/>
          <p:cNvSpPr/>
          <p:nvPr/>
        </p:nvSpPr>
        <p:spPr>
          <a:xfrm>
            <a:off x="10380940" y="4191595"/>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Prescriptions</a:t>
            </a:r>
            <a:endParaRPr lang="en-US" sz="1950" dirty="0">
              <a:solidFill>
                <a:srgbClr val="006699"/>
              </a:solidFill>
            </a:endParaRPr>
          </a:p>
        </p:txBody>
      </p:sp>
      <p:sp>
        <p:nvSpPr>
          <p:cNvPr id="21" name="Text 13"/>
          <p:cNvSpPr/>
          <p:nvPr/>
        </p:nvSpPr>
        <p:spPr>
          <a:xfrm>
            <a:off x="10380940" y="4606290"/>
            <a:ext cx="3554135" cy="596265"/>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Doctor-patient prescription details with medication lists and instructions</a:t>
            </a:r>
            <a:endParaRPr lang="en-US" sz="1550" dirty="0">
              <a:solidFill>
                <a:schemeClr val="tx1">
                  <a:lumMod val="95000"/>
                  <a:lumOff val="5000"/>
                </a:schemeClr>
              </a:solidFill>
            </a:endParaRPr>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325" y="5848707"/>
            <a:ext cx="496610" cy="496610"/>
          </a:xfrm>
          <a:prstGeom prst="rect">
            <a:avLst/>
          </a:prstGeom>
        </p:spPr>
      </p:pic>
      <p:sp>
        <p:nvSpPr>
          <p:cNvPr id="23" name="Text 14"/>
          <p:cNvSpPr/>
          <p:nvPr/>
        </p:nvSpPr>
        <p:spPr>
          <a:xfrm>
            <a:off x="1409462" y="5848707"/>
            <a:ext cx="2483406" cy="310396"/>
          </a:xfrm>
          <a:prstGeom prst="rect">
            <a:avLst/>
          </a:prstGeom>
          <a:noFill/>
          <a:ln/>
        </p:spPr>
        <p:txBody>
          <a:bodyPr wrap="none" lIns="0" tIns="0" rIns="0" bIns="0" rtlCol="0" anchor="t"/>
          <a:lstStyle/>
          <a:p>
            <a:pPr marL="0" indent="0" algn="l">
              <a:lnSpc>
                <a:spcPts val="2400"/>
              </a:lnSpc>
              <a:buNone/>
            </a:pPr>
            <a:r>
              <a:rPr lang="en-US" sz="1950" dirty="0">
                <a:solidFill>
                  <a:srgbClr val="006699"/>
                </a:solidFill>
                <a:latin typeface="Libre Baskerville" pitchFamily="34" charset="0"/>
                <a:ea typeface="Libre Baskerville" pitchFamily="34" charset="-122"/>
                <a:cs typeface="Libre Baskerville" pitchFamily="34" charset="-120"/>
              </a:rPr>
              <a:t>Vital Signs</a:t>
            </a:r>
            <a:endParaRPr lang="en-US" sz="1950" dirty="0">
              <a:solidFill>
                <a:srgbClr val="006699"/>
              </a:solidFill>
            </a:endParaRPr>
          </a:p>
        </p:txBody>
      </p:sp>
      <p:sp>
        <p:nvSpPr>
          <p:cNvPr id="24" name="Text 15"/>
          <p:cNvSpPr/>
          <p:nvPr/>
        </p:nvSpPr>
        <p:spPr>
          <a:xfrm>
            <a:off x="1409462" y="6263402"/>
            <a:ext cx="3554016" cy="894398"/>
          </a:xfrm>
          <a:prstGeom prst="rect">
            <a:avLst/>
          </a:prstGeom>
          <a:noFill/>
          <a:ln/>
        </p:spPr>
        <p:txBody>
          <a:bodyPr wrap="square" lIns="0" tIns="0" rIns="0" bIns="0" rtlCol="0" anchor="t"/>
          <a:lstStyle/>
          <a:p>
            <a:pPr marL="0" indent="0" algn="l">
              <a:lnSpc>
                <a:spcPts val="230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Blood pressure, heart rate, glucose, temperature, stress, oxygen, and weight measurements</a:t>
            </a:r>
            <a:endParaRPr lang="en-US" sz="1550" dirty="0">
              <a:solidFill>
                <a:schemeClr val="tx1">
                  <a:lumMod val="95000"/>
                  <a:lumOff val="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3898" y="882253"/>
            <a:ext cx="6705362" cy="628412"/>
          </a:xfrm>
          <a:prstGeom prst="rect">
            <a:avLst/>
          </a:prstGeom>
          <a:noFill/>
          <a:ln/>
        </p:spPr>
        <p:txBody>
          <a:bodyPr wrap="none" lIns="0" tIns="0" rIns="0" bIns="0" rtlCol="0" anchor="t"/>
          <a:lstStyle/>
          <a:p>
            <a:pPr marL="0" indent="0" algn="l">
              <a:lnSpc>
                <a:spcPts val="4900"/>
              </a:lnSpc>
              <a:buNone/>
            </a:pPr>
            <a:r>
              <a:rPr lang="en-US" sz="3950" dirty="0">
                <a:solidFill>
                  <a:srgbClr val="004678"/>
                </a:solidFill>
                <a:latin typeface="Libre Baskerville" pitchFamily="34" charset="0"/>
                <a:ea typeface="Libre Baskerville" pitchFamily="34" charset="-122"/>
                <a:cs typeface="Libre Baskerville" pitchFamily="34" charset="-120"/>
              </a:rPr>
              <a:t>Authentication &amp; Security</a:t>
            </a:r>
            <a:endParaRPr lang="en-US" sz="3950" dirty="0">
              <a:solidFill>
                <a:srgbClr val="004678"/>
              </a:solidFill>
            </a:endParaRPr>
          </a:p>
        </p:txBody>
      </p:sp>
      <p:sp>
        <p:nvSpPr>
          <p:cNvPr id="3" name="Text 1"/>
          <p:cNvSpPr/>
          <p:nvPr/>
        </p:nvSpPr>
        <p:spPr>
          <a:xfrm>
            <a:off x="703898" y="1956316"/>
            <a:ext cx="4589264"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JWT-Based Stateless Authentication</a:t>
            </a:r>
            <a:endParaRPr lang="en-US" sz="1950" dirty="0">
              <a:solidFill>
                <a:srgbClr val="006699"/>
              </a:solidFill>
            </a:endParaRPr>
          </a:p>
        </p:txBody>
      </p:sp>
      <p:sp>
        <p:nvSpPr>
          <p:cNvPr id="4" name="Text 2"/>
          <p:cNvSpPr/>
          <p:nvPr/>
        </p:nvSpPr>
        <p:spPr>
          <a:xfrm>
            <a:off x="703898" y="2448878"/>
            <a:ext cx="8422958" cy="606981"/>
          </a:xfrm>
          <a:prstGeom prst="rect">
            <a:avLst/>
          </a:prstGeom>
          <a:noFill/>
          <a:ln/>
        </p:spPr>
        <p:txBody>
          <a:bodyPr wrap="squar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Registration and login endpoints handle user credentials with BCrypt password encryption. Successful authentication generates JWT tokens for secure API access.</a:t>
            </a:r>
            <a:endParaRPr lang="en-US" sz="1550" dirty="0">
              <a:solidFill>
                <a:schemeClr val="tx1">
                  <a:lumMod val="95000"/>
                  <a:lumOff val="5000"/>
                </a:schemeClr>
              </a:solidFill>
            </a:endParaRPr>
          </a:p>
        </p:txBody>
      </p:sp>
      <p:sp>
        <p:nvSpPr>
          <p:cNvPr id="5" name="Text 3"/>
          <p:cNvSpPr/>
          <p:nvPr/>
        </p:nvSpPr>
        <p:spPr>
          <a:xfrm>
            <a:off x="703898" y="3216354"/>
            <a:ext cx="8422958" cy="606981"/>
          </a:xfrm>
          <a:prstGeom prst="rect">
            <a:avLst/>
          </a:prstGeom>
          <a:noFill/>
          <a:ln/>
        </p:spPr>
        <p:txBody>
          <a:bodyPr wrap="squar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Backend APIs are protected based on user roles—doctor endpoints restricted to doctors, patient endpoints to patients, with selective cross-access routes.</a:t>
            </a:r>
            <a:endParaRPr lang="en-US" sz="1550" dirty="0">
              <a:solidFill>
                <a:schemeClr val="tx1">
                  <a:lumMod val="95000"/>
                  <a:lumOff val="5000"/>
                </a:schemeClr>
              </a:solidFill>
            </a:endParaRPr>
          </a:p>
        </p:txBody>
      </p:sp>
      <p:sp>
        <p:nvSpPr>
          <p:cNvPr id="6" name="Text 4"/>
          <p:cNvSpPr/>
          <p:nvPr/>
        </p:nvSpPr>
        <p:spPr>
          <a:xfrm>
            <a:off x="9625013" y="1956316"/>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Security Features</a:t>
            </a:r>
            <a:endParaRPr lang="en-US" sz="1950" dirty="0">
              <a:solidFill>
                <a:srgbClr val="006699"/>
              </a:solidFill>
            </a:endParaRPr>
          </a:p>
        </p:txBody>
      </p:sp>
      <p:sp>
        <p:nvSpPr>
          <p:cNvPr id="7" name="Text 5"/>
          <p:cNvSpPr/>
          <p:nvPr/>
        </p:nvSpPr>
        <p:spPr>
          <a:xfrm>
            <a:off x="9625013" y="2448878"/>
            <a:ext cx="4308991" cy="1401128"/>
          </a:xfrm>
          <a:prstGeom prst="rect">
            <a:avLst/>
          </a:prstGeom>
          <a:noFill/>
          <a:ln/>
        </p:spPr>
        <p:txBody>
          <a:bodyPr wrap="square" lIns="0" tIns="0" rIns="0" bIns="0" rtlCol="0" anchor="t"/>
          <a:lstStyle/>
          <a:p>
            <a:pPr marL="342900" indent="-342900" algn="l">
              <a:lnSpc>
                <a:spcPts val="2350"/>
              </a:lnSpc>
              <a:buSzPct val="100000"/>
              <a:buChar char="•"/>
            </a:pPr>
            <a:r>
              <a:rPr lang="en-US" sz="1550" dirty="0">
                <a:solidFill>
                  <a:schemeClr val="tx1">
                    <a:lumMod val="95000"/>
                    <a:lumOff val="5000"/>
                  </a:schemeClr>
                </a:solidFill>
                <a:latin typeface="Open Sans" pitchFamily="34" charset="0"/>
                <a:ea typeface="Open Sans" pitchFamily="34" charset="-122"/>
                <a:cs typeface="Open Sans" pitchFamily="34" charset="-120"/>
              </a:rPr>
              <a:t>BCrypt password encryption</a:t>
            </a:r>
            <a:endParaRPr lang="en-US" sz="1550" dirty="0">
              <a:solidFill>
                <a:schemeClr val="tx1">
                  <a:lumMod val="95000"/>
                  <a:lumOff val="5000"/>
                </a:schemeClr>
              </a:solidFill>
            </a:endParaRPr>
          </a:p>
          <a:p>
            <a:pPr marL="342900" indent="-342900" algn="l">
              <a:lnSpc>
                <a:spcPts val="2350"/>
              </a:lnSpc>
              <a:buSzPct val="100000"/>
              <a:buChar char="•"/>
            </a:pPr>
            <a:r>
              <a:rPr lang="en-US" sz="1550" dirty="0">
                <a:solidFill>
                  <a:schemeClr val="tx1">
                    <a:lumMod val="95000"/>
                    <a:lumOff val="5000"/>
                  </a:schemeClr>
                </a:solidFill>
                <a:latin typeface="Open Sans" pitchFamily="34" charset="0"/>
                <a:ea typeface="Open Sans" pitchFamily="34" charset="-122"/>
                <a:cs typeface="Open Sans" pitchFamily="34" charset="-120"/>
              </a:rPr>
              <a:t>Bearer token authorization</a:t>
            </a:r>
            <a:endParaRPr lang="en-US" sz="1550" dirty="0">
              <a:solidFill>
                <a:schemeClr val="tx1">
                  <a:lumMod val="95000"/>
                  <a:lumOff val="5000"/>
                </a:schemeClr>
              </a:solidFill>
            </a:endParaRPr>
          </a:p>
          <a:p>
            <a:pPr marL="342900" indent="-342900" algn="l">
              <a:lnSpc>
                <a:spcPts val="2350"/>
              </a:lnSpc>
              <a:buSzPct val="100000"/>
              <a:buChar char="•"/>
            </a:pPr>
            <a:r>
              <a:rPr lang="en-US" sz="1550" dirty="0">
                <a:solidFill>
                  <a:schemeClr val="tx1">
                    <a:lumMod val="95000"/>
                    <a:lumOff val="5000"/>
                  </a:schemeClr>
                </a:solidFill>
                <a:latin typeface="Open Sans" pitchFamily="34" charset="0"/>
                <a:ea typeface="Open Sans" pitchFamily="34" charset="-122"/>
                <a:cs typeface="Open Sans" pitchFamily="34" charset="-120"/>
              </a:rPr>
              <a:t>Role-based route protection</a:t>
            </a:r>
            <a:endParaRPr lang="en-US" sz="1550" dirty="0">
              <a:solidFill>
                <a:schemeClr val="tx1">
                  <a:lumMod val="95000"/>
                  <a:lumOff val="5000"/>
                </a:schemeClr>
              </a:solidFill>
            </a:endParaRPr>
          </a:p>
          <a:p>
            <a:pPr marL="342900" indent="-342900" algn="l">
              <a:lnSpc>
                <a:spcPts val="2350"/>
              </a:lnSpc>
              <a:buSzPct val="100000"/>
              <a:buChar char="•"/>
            </a:pPr>
            <a:r>
              <a:rPr lang="en-US" sz="1550" dirty="0">
                <a:solidFill>
                  <a:schemeClr val="tx1">
                    <a:lumMod val="95000"/>
                    <a:lumOff val="5000"/>
                  </a:schemeClr>
                </a:solidFill>
                <a:latin typeface="Open Sans" pitchFamily="34" charset="0"/>
                <a:ea typeface="Open Sans" pitchFamily="34" charset="-122"/>
                <a:cs typeface="Open Sans" pitchFamily="34" charset="-120"/>
              </a:rPr>
              <a:t>Stateless session management</a:t>
            </a:r>
            <a:endParaRPr lang="en-US" sz="1550" dirty="0">
              <a:solidFill>
                <a:schemeClr val="tx1">
                  <a:lumMod val="95000"/>
                  <a:lumOff val="5000"/>
                </a:schemeClr>
              </a:solidFill>
            </a:endParaRPr>
          </a:p>
        </p:txBody>
      </p:sp>
      <p:sp>
        <p:nvSpPr>
          <p:cNvPr id="8" name="Text 6"/>
          <p:cNvSpPr/>
          <p:nvPr/>
        </p:nvSpPr>
        <p:spPr>
          <a:xfrm>
            <a:off x="703898" y="4184452"/>
            <a:ext cx="201097" cy="251341"/>
          </a:xfrm>
          <a:prstGeom prst="rect">
            <a:avLst/>
          </a:prstGeom>
          <a:noFill/>
          <a:ln/>
        </p:spPr>
        <p:txBody>
          <a:bodyPr wrap="none" lIns="0" tIns="0" rIns="0" bIns="0" rtlCol="0" anchor="t"/>
          <a:lstStyle/>
          <a:p>
            <a:pPr marL="0" indent="0" algn="l">
              <a:lnSpc>
                <a:spcPts val="2350"/>
              </a:lnSpc>
              <a:buNone/>
            </a:pPr>
            <a:r>
              <a:rPr lang="en-US" sz="1550" dirty="0">
                <a:solidFill>
                  <a:srgbClr val="49495A"/>
                </a:solidFill>
                <a:latin typeface="Libre Baskerville Light" pitchFamily="34" charset="0"/>
                <a:ea typeface="Libre Baskerville Light" pitchFamily="34" charset="-122"/>
                <a:cs typeface="Libre Baskerville Light" pitchFamily="34" charset="-120"/>
              </a:rPr>
              <a:t>01</a:t>
            </a:r>
            <a:endParaRPr lang="en-US" sz="1550" dirty="0"/>
          </a:p>
        </p:txBody>
      </p:sp>
      <p:pic>
        <p:nvPicPr>
          <p:cNvPr id="9" name="Image 0" descr="preencoded.png"/>
          <p:cNvPicPr>
            <a:picLocks noChangeAspect="1"/>
          </p:cNvPicPr>
          <p:nvPr/>
        </p:nvPicPr>
        <p:blipFill>
          <a:blip r:embed="rId3"/>
          <a:stretch>
            <a:fillRect/>
          </a:stretch>
        </p:blipFill>
        <p:spPr>
          <a:xfrm>
            <a:off x="703898" y="4503301"/>
            <a:ext cx="4288631" cy="22860"/>
          </a:xfrm>
          <a:prstGeom prst="rect">
            <a:avLst/>
          </a:prstGeom>
        </p:spPr>
      </p:pic>
      <p:sp>
        <p:nvSpPr>
          <p:cNvPr id="10" name="Text 7"/>
          <p:cNvSpPr/>
          <p:nvPr/>
        </p:nvSpPr>
        <p:spPr>
          <a:xfrm>
            <a:off x="703898" y="4649510"/>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Registration</a:t>
            </a:r>
            <a:endParaRPr lang="en-US" sz="1950" dirty="0">
              <a:solidFill>
                <a:srgbClr val="006699"/>
              </a:solidFill>
            </a:endParaRPr>
          </a:p>
        </p:txBody>
      </p:sp>
      <p:sp>
        <p:nvSpPr>
          <p:cNvPr id="11" name="Text 8"/>
          <p:cNvSpPr/>
          <p:nvPr/>
        </p:nvSpPr>
        <p:spPr>
          <a:xfrm>
            <a:off x="703898" y="5070753"/>
            <a:ext cx="4288631" cy="606981"/>
          </a:xfrm>
          <a:prstGeom prst="rect">
            <a:avLst/>
          </a:prstGeom>
          <a:noFill/>
          <a:ln/>
        </p:spPr>
        <p:txBody>
          <a:bodyPr wrap="squar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User creates account with email and password</a:t>
            </a:r>
            <a:endParaRPr lang="en-US" sz="1550" dirty="0">
              <a:solidFill>
                <a:schemeClr val="tx1">
                  <a:lumMod val="95000"/>
                  <a:lumOff val="5000"/>
                </a:schemeClr>
              </a:solidFill>
            </a:endParaRPr>
          </a:p>
        </p:txBody>
      </p:sp>
      <p:sp>
        <p:nvSpPr>
          <p:cNvPr id="12" name="Text 9"/>
          <p:cNvSpPr/>
          <p:nvPr/>
        </p:nvSpPr>
        <p:spPr>
          <a:xfrm>
            <a:off x="5170765" y="4184452"/>
            <a:ext cx="201097" cy="251341"/>
          </a:xfrm>
          <a:prstGeom prst="rect">
            <a:avLst/>
          </a:prstGeom>
          <a:noFill/>
          <a:ln/>
        </p:spPr>
        <p:txBody>
          <a:bodyPr wrap="none" lIns="0" tIns="0" rIns="0" bIns="0" rtlCol="0" anchor="t"/>
          <a:lstStyle/>
          <a:p>
            <a:pPr marL="0" indent="0" algn="l">
              <a:lnSpc>
                <a:spcPts val="2350"/>
              </a:lnSpc>
              <a:buNone/>
            </a:pPr>
            <a:r>
              <a:rPr lang="en-US" sz="1550" dirty="0">
                <a:solidFill>
                  <a:srgbClr val="49495A"/>
                </a:solidFill>
                <a:latin typeface="Libre Baskerville Light" pitchFamily="34" charset="0"/>
                <a:ea typeface="Libre Baskerville Light" pitchFamily="34" charset="-122"/>
                <a:cs typeface="Libre Baskerville Light" pitchFamily="34" charset="-120"/>
              </a:rPr>
              <a:t>02</a:t>
            </a:r>
            <a:endParaRPr lang="en-US" sz="1550" dirty="0"/>
          </a:p>
        </p:txBody>
      </p:sp>
      <p:pic>
        <p:nvPicPr>
          <p:cNvPr id="13" name="Image 1" descr="preencoded.png"/>
          <p:cNvPicPr>
            <a:picLocks noChangeAspect="1"/>
          </p:cNvPicPr>
          <p:nvPr/>
        </p:nvPicPr>
        <p:blipFill>
          <a:blip r:embed="rId3"/>
          <a:stretch>
            <a:fillRect/>
          </a:stretch>
        </p:blipFill>
        <p:spPr>
          <a:xfrm>
            <a:off x="5170765" y="4523423"/>
            <a:ext cx="4288750" cy="22860"/>
          </a:xfrm>
          <a:prstGeom prst="rect">
            <a:avLst/>
          </a:prstGeom>
        </p:spPr>
      </p:pic>
      <p:sp>
        <p:nvSpPr>
          <p:cNvPr id="14" name="Text 10"/>
          <p:cNvSpPr/>
          <p:nvPr/>
        </p:nvSpPr>
        <p:spPr>
          <a:xfrm>
            <a:off x="5170765" y="4649510"/>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BCrypt Hashing</a:t>
            </a:r>
            <a:endParaRPr lang="en-US" sz="1950" dirty="0">
              <a:solidFill>
                <a:srgbClr val="006699"/>
              </a:solidFill>
            </a:endParaRPr>
          </a:p>
        </p:txBody>
      </p:sp>
      <p:sp>
        <p:nvSpPr>
          <p:cNvPr id="15" name="Text 11"/>
          <p:cNvSpPr/>
          <p:nvPr/>
        </p:nvSpPr>
        <p:spPr>
          <a:xfrm>
            <a:off x="5170765" y="5070753"/>
            <a:ext cx="4288750" cy="303490"/>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Password encrypted before storage</a:t>
            </a:r>
            <a:endParaRPr lang="en-US" sz="1550" dirty="0">
              <a:solidFill>
                <a:schemeClr val="tx1">
                  <a:lumMod val="95000"/>
                  <a:lumOff val="5000"/>
                </a:schemeClr>
              </a:solidFill>
            </a:endParaRPr>
          </a:p>
        </p:txBody>
      </p:sp>
      <p:sp>
        <p:nvSpPr>
          <p:cNvPr id="16" name="Text 12"/>
          <p:cNvSpPr/>
          <p:nvPr/>
        </p:nvSpPr>
        <p:spPr>
          <a:xfrm>
            <a:off x="9637752" y="4184452"/>
            <a:ext cx="201097" cy="251341"/>
          </a:xfrm>
          <a:prstGeom prst="rect">
            <a:avLst/>
          </a:prstGeom>
          <a:noFill/>
          <a:ln/>
        </p:spPr>
        <p:txBody>
          <a:bodyPr wrap="none" lIns="0" tIns="0" rIns="0" bIns="0" rtlCol="0" anchor="t"/>
          <a:lstStyle/>
          <a:p>
            <a:pPr marL="0" indent="0" algn="l">
              <a:lnSpc>
                <a:spcPts val="2350"/>
              </a:lnSpc>
              <a:buNone/>
            </a:pPr>
            <a:r>
              <a:rPr lang="en-US" sz="1550" dirty="0">
                <a:solidFill>
                  <a:srgbClr val="49495A"/>
                </a:solidFill>
                <a:latin typeface="Libre Baskerville Light" pitchFamily="34" charset="0"/>
                <a:ea typeface="Libre Baskerville Light" pitchFamily="34" charset="-122"/>
                <a:cs typeface="Libre Baskerville Light" pitchFamily="34" charset="-120"/>
              </a:rPr>
              <a:t>03</a:t>
            </a:r>
            <a:endParaRPr lang="en-US" sz="1550" dirty="0"/>
          </a:p>
        </p:txBody>
      </p:sp>
      <p:pic>
        <p:nvPicPr>
          <p:cNvPr id="17" name="Image 2" descr="preencoded.png"/>
          <p:cNvPicPr>
            <a:picLocks noChangeAspect="1"/>
          </p:cNvPicPr>
          <p:nvPr/>
        </p:nvPicPr>
        <p:blipFill>
          <a:blip r:embed="rId3"/>
          <a:stretch>
            <a:fillRect/>
          </a:stretch>
        </p:blipFill>
        <p:spPr>
          <a:xfrm>
            <a:off x="9637752" y="4523423"/>
            <a:ext cx="4288631" cy="22860"/>
          </a:xfrm>
          <a:prstGeom prst="rect">
            <a:avLst/>
          </a:prstGeom>
        </p:spPr>
      </p:pic>
      <p:sp>
        <p:nvSpPr>
          <p:cNvPr id="18" name="Text 13"/>
          <p:cNvSpPr/>
          <p:nvPr/>
        </p:nvSpPr>
        <p:spPr>
          <a:xfrm>
            <a:off x="9637752" y="4649510"/>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JWT Generation</a:t>
            </a:r>
            <a:endParaRPr lang="en-US" sz="1950" dirty="0">
              <a:solidFill>
                <a:srgbClr val="006699"/>
              </a:solidFill>
            </a:endParaRPr>
          </a:p>
        </p:txBody>
      </p:sp>
      <p:sp>
        <p:nvSpPr>
          <p:cNvPr id="19" name="Text 14"/>
          <p:cNvSpPr/>
          <p:nvPr/>
        </p:nvSpPr>
        <p:spPr>
          <a:xfrm>
            <a:off x="9637752" y="5070753"/>
            <a:ext cx="4288631" cy="303490"/>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Token created after successful login</a:t>
            </a:r>
            <a:endParaRPr lang="en-US" sz="1550" dirty="0">
              <a:solidFill>
                <a:schemeClr val="tx1">
                  <a:lumMod val="95000"/>
                  <a:lumOff val="5000"/>
                </a:schemeClr>
              </a:solidFill>
            </a:endParaRPr>
          </a:p>
        </p:txBody>
      </p:sp>
      <p:sp>
        <p:nvSpPr>
          <p:cNvPr id="20" name="Text 15"/>
          <p:cNvSpPr/>
          <p:nvPr/>
        </p:nvSpPr>
        <p:spPr>
          <a:xfrm>
            <a:off x="703898" y="6006703"/>
            <a:ext cx="201097" cy="251341"/>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Libre Baskerville Light" pitchFamily="34" charset="0"/>
                <a:ea typeface="Libre Baskerville Light" pitchFamily="34" charset="-122"/>
                <a:cs typeface="Libre Baskerville Light" pitchFamily="34" charset="-120"/>
              </a:rPr>
              <a:t>04</a:t>
            </a:r>
            <a:endParaRPr lang="en-US" sz="1550" dirty="0">
              <a:solidFill>
                <a:schemeClr val="tx1">
                  <a:lumMod val="95000"/>
                  <a:lumOff val="5000"/>
                </a:schemeClr>
              </a:solidFill>
            </a:endParaRPr>
          </a:p>
        </p:txBody>
      </p:sp>
      <p:pic>
        <p:nvPicPr>
          <p:cNvPr id="21" name="Image 3" descr="preencoded.png"/>
          <p:cNvPicPr>
            <a:picLocks noChangeAspect="1"/>
          </p:cNvPicPr>
          <p:nvPr/>
        </p:nvPicPr>
        <p:blipFill>
          <a:blip r:embed="rId4"/>
          <a:stretch>
            <a:fillRect/>
          </a:stretch>
        </p:blipFill>
        <p:spPr>
          <a:xfrm>
            <a:off x="703898" y="6305550"/>
            <a:ext cx="6522125" cy="22860"/>
          </a:xfrm>
          <a:prstGeom prst="rect">
            <a:avLst/>
          </a:prstGeom>
        </p:spPr>
      </p:pic>
      <p:sp>
        <p:nvSpPr>
          <p:cNvPr id="22" name="Text 16"/>
          <p:cNvSpPr/>
          <p:nvPr/>
        </p:nvSpPr>
        <p:spPr>
          <a:xfrm>
            <a:off x="703898" y="6471761"/>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API Access</a:t>
            </a:r>
            <a:endParaRPr lang="en-US" sz="1950" dirty="0">
              <a:solidFill>
                <a:srgbClr val="006699"/>
              </a:solidFill>
            </a:endParaRPr>
          </a:p>
        </p:txBody>
      </p:sp>
      <p:sp>
        <p:nvSpPr>
          <p:cNvPr id="23" name="Text 17"/>
          <p:cNvSpPr/>
          <p:nvPr/>
        </p:nvSpPr>
        <p:spPr>
          <a:xfrm>
            <a:off x="703898" y="6893004"/>
            <a:ext cx="6522125" cy="303490"/>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Bearer token sent with each request</a:t>
            </a:r>
            <a:endParaRPr lang="en-US" sz="1550" dirty="0">
              <a:solidFill>
                <a:schemeClr val="tx1">
                  <a:lumMod val="95000"/>
                  <a:lumOff val="5000"/>
                </a:schemeClr>
              </a:solidFill>
            </a:endParaRPr>
          </a:p>
        </p:txBody>
      </p:sp>
      <p:sp>
        <p:nvSpPr>
          <p:cNvPr id="24" name="Text 18"/>
          <p:cNvSpPr/>
          <p:nvPr/>
        </p:nvSpPr>
        <p:spPr>
          <a:xfrm>
            <a:off x="7404259" y="6006703"/>
            <a:ext cx="201097" cy="251341"/>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Libre Baskerville Light" pitchFamily="34" charset="0"/>
                <a:ea typeface="Libre Baskerville Light" pitchFamily="34" charset="-122"/>
                <a:cs typeface="Libre Baskerville Light" pitchFamily="34" charset="-120"/>
              </a:rPr>
              <a:t>05</a:t>
            </a:r>
            <a:endParaRPr lang="en-US" sz="1550" dirty="0">
              <a:solidFill>
                <a:schemeClr val="tx1">
                  <a:lumMod val="95000"/>
                  <a:lumOff val="5000"/>
                </a:schemeClr>
              </a:solidFill>
            </a:endParaRPr>
          </a:p>
        </p:txBody>
      </p:sp>
      <p:pic>
        <p:nvPicPr>
          <p:cNvPr id="25" name="Image 4" descr="preencoded.png"/>
          <p:cNvPicPr>
            <a:picLocks noChangeAspect="1"/>
          </p:cNvPicPr>
          <p:nvPr/>
        </p:nvPicPr>
        <p:blipFill>
          <a:blip r:embed="rId4"/>
          <a:stretch>
            <a:fillRect/>
          </a:stretch>
        </p:blipFill>
        <p:spPr>
          <a:xfrm>
            <a:off x="7404259" y="6305550"/>
            <a:ext cx="6522125" cy="22860"/>
          </a:xfrm>
          <a:prstGeom prst="rect">
            <a:avLst/>
          </a:prstGeom>
        </p:spPr>
      </p:pic>
      <p:sp>
        <p:nvSpPr>
          <p:cNvPr id="26" name="Text 19"/>
          <p:cNvSpPr/>
          <p:nvPr/>
        </p:nvSpPr>
        <p:spPr>
          <a:xfrm>
            <a:off x="7404259" y="6471761"/>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006699"/>
                </a:solidFill>
                <a:latin typeface="Libre Baskerville" pitchFamily="34" charset="0"/>
                <a:ea typeface="Libre Baskerville" pitchFamily="34" charset="-122"/>
                <a:cs typeface="Libre Baskerville" pitchFamily="34" charset="-120"/>
              </a:rPr>
              <a:t>Role Validation</a:t>
            </a:r>
            <a:endParaRPr lang="en-US" sz="1950" dirty="0">
              <a:solidFill>
                <a:srgbClr val="006699"/>
              </a:solidFill>
            </a:endParaRPr>
          </a:p>
        </p:txBody>
      </p:sp>
      <p:sp>
        <p:nvSpPr>
          <p:cNvPr id="27" name="Text 20"/>
          <p:cNvSpPr/>
          <p:nvPr/>
        </p:nvSpPr>
        <p:spPr>
          <a:xfrm>
            <a:off x="7404259" y="6893004"/>
            <a:ext cx="6522125" cy="303490"/>
          </a:xfrm>
          <a:prstGeom prst="rect">
            <a:avLst/>
          </a:prstGeom>
          <a:noFill/>
          <a:ln/>
        </p:spPr>
        <p:txBody>
          <a:bodyPr wrap="none" lIns="0" tIns="0" rIns="0" bIns="0" rtlCol="0" anchor="t"/>
          <a:lstStyle/>
          <a:p>
            <a:pPr marL="0" indent="0" algn="l">
              <a:lnSpc>
                <a:spcPts val="2350"/>
              </a:lnSpc>
              <a:buNone/>
            </a:pPr>
            <a:r>
              <a:rPr lang="en-US" sz="1550" dirty="0">
                <a:solidFill>
                  <a:schemeClr val="tx1">
                    <a:lumMod val="95000"/>
                    <a:lumOff val="5000"/>
                  </a:schemeClr>
                </a:solidFill>
                <a:latin typeface="Open Sans" pitchFamily="34" charset="0"/>
                <a:ea typeface="Open Sans" pitchFamily="34" charset="-122"/>
                <a:cs typeface="Open Sans" pitchFamily="34" charset="-120"/>
              </a:rPr>
              <a:t>Spring Security checks permissions</a:t>
            </a:r>
            <a:endParaRPr lang="en-US" sz="1550" dirty="0">
              <a:solidFill>
                <a:schemeClr val="tx1">
                  <a:lumMod val="95000"/>
                  <a:lumOff val="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573649" y="1034534"/>
            <a:ext cx="4160520" cy="519946"/>
          </a:xfrm>
          <a:prstGeom prst="rect">
            <a:avLst/>
          </a:prstGeom>
          <a:noFill/>
          <a:ln/>
        </p:spPr>
        <p:txBody>
          <a:bodyPr wrap="none" lIns="0" tIns="0" rIns="0" bIns="0" rtlCol="0" anchor="t"/>
          <a:lstStyle/>
          <a:p>
            <a:pPr marL="0" indent="0" algn="l">
              <a:lnSpc>
                <a:spcPts val="4050"/>
              </a:lnSpc>
              <a:buNone/>
            </a:pPr>
            <a:r>
              <a:rPr lang="en-US" sz="3250" dirty="0">
                <a:solidFill>
                  <a:srgbClr val="194178"/>
                </a:solidFill>
                <a:latin typeface="Libre Baskerville" pitchFamily="34" charset="0"/>
                <a:ea typeface="Libre Baskerville" pitchFamily="34" charset="-122"/>
                <a:cs typeface="Libre Baskerville" pitchFamily="34" charset="-120"/>
              </a:rPr>
              <a:t>Doctor Module</a:t>
            </a:r>
            <a:endParaRPr lang="en-US" sz="3250" dirty="0">
              <a:solidFill>
                <a:srgbClr val="194178"/>
              </a:solidFill>
            </a:endParaRPr>
          </a:p>
        </p:txBody>
      </p:sp>
      <p:sp>
        <p:nvSpPr>
          <p:cNvPr id="3" name="Text 1"/>
          <p:cNvSpPr/>
          <p:nvPr/>
        </p:nvSpPr>
        <p:spPr>
          <a:xfrm>
            <a:off x="1573649" y="1798677"/>
            <a:ext cx="11483102" cy="230743"/>
          </a:xfrm>
          <a:prstGeom prst="rect">
            <a:avLst/>
          </a:prstGeom>
          <a:noFill/>
          <a:ln/>
        </p:spPr>
        <p:txBody>
          <a:bodyPr wrap="none" lIns="0" tIns="0" rIns="0" bIns="0" rtlCol="0" anchor="t"/>
          <a:lstStyle/>
          <a:p>
            <a:pPr marL="0" indent="0" algn="l">
              <a:lnSpc>
                <a:spcPts val="1800"/>
              </a:lnSpc>
              <a:buNone/>
            </a:pPr>
            <a:r>
              <a:rPr lang="en-US" sz="1600" dirty="0">
                <a:latin typeface="Open Sans" pitchFamily="34" charset="0"/>
                <a:ea typeface="Open Sans" pitchFamily="34" charset="-122"/>
                <a:cs typeface="Open Sans" pitchFamily="34" charset="-120"/>
              </a:rPr>
              <a:t>The doctor side focuses on patient management and prescription workflow through comprehensive dashboards and administrative tools.</a:t>
            </a:r>
            <a:endParaRPr lang="en-US" sz="1600" dirty="0"/>
          </a:p>
        </p:txBody>
      </p:sp>
      <p:sp>
        <p:nvSpPr>
          <p:cNvPr id="4" name="Shape 2"/>
          <p:cNvSpPr/>
          <p:nvPr/>
        </p:nvSpPr>
        <p:spPr>
          <a:xfrm>
            <a:off x="1573649" y="2166699"/>
            <a:ext cx="5680472" cy="1517809"/>
          </a:xfrm>
          <a:prstGeom prst="roundRect">
            <a:avLst>
              <a:gd name="adj" fmla="val 1645"/>
            </a:avLst>
          </a:prstGeom>
          <a:solidFill>
            <a:srgbClr val="EAE8F3"/>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739979" y="2333030"/>
            <a:ext cx="499229" cy="499229"/>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7258" y="2470309"/>
            <a:ext cx="224552" cy="224552"/>
          </a:xfrm>
          <a:prstGeom prst="rect">
            <a:avLst/>
          </a:prstGeom>
        </p:spPr>
      </p:pic>
      <p:sp>
        <p:nvSpPr>
          <p:cNvPr id="7" name="Text 3"/>
          <p:cNvSpPr/>
          <p:nvPr/>
        </p:nvSpPr>
        <p:spPr>
          <a:xfrm>
            <a:off x="1739979" y="2954298"/>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Dashboard</a:t>
            </a:r>
            <a:endParaRPr lang="en-US" sz="1600" dirty="0">
              <a:solidFill>
                <a:srgbClr val="006699"/>
              </a:solidFill>
            </a:endParaRPr>
          </a:p>
        </p:txBody>
      </p:sp>
      <p:sp>
        <p:nvSpPr>
          <p:cNvPr id="8" name="Text 4"/>
          <p:cNvSpPr/>
          <p:nvPr/>
        </p:nvSpPr>
        <p:spPr>
          <a:xfrm>
            <a:off x="1739979" y="3287435"/>
            <a:ext cx="5347811" cy="230743"/>
          </a:xfrm>
          <a:prstGeom prst="rect">
            <a:avLst/>
          </a:prstGeom>
          <a:noFill/>
          <a:ln/>
        </p:spPr>
        <p:txBody>
          <a:bodyPr wrap="non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Summary information and recent patient activity monitoring</a:t>
            </a:r>
            <a:endParaRPr lang="en-US" sz="1300" dirty="0"/>
          </a:p>
        </p:txBody>
      </p:sp>
      <p:sp>
        <p:nvSpPr>
          <p:cNvPr id="9" name="Shape 5"/>
          <p:cNvSpPr/>
          <p:nvPr/>
        </p:nvSpPr>
        <p:spPr>
          <a:xfrm>
            <a:off x="7376160" y="2166699"/>
            <a:ext cx="5680591" cy="1517809"/>
          </a:xfrm>
          <a:prstGeom prst="roundRect">
            <a:avLst>
              <a:gd name="adj" fmla="val 1645"/>
            </a:avLst>
          </a:prstGeom>
          <a:solidFill>
            <a:srgbClr val="EAE8F3"/>
          </a:solidFill>
          <a:ln/>
        </p:spPr>
        <p:txBody>
          <a:bodyPr/>
          <a:lstStyle/>
          <a:p>
            <a:endParaRPr lang="en-IN"/>
          </a:p>
        </p:txBody>
      </p:sp>
      <p:pic>
        <p:nvPicPr>
          <p:cNvPr id="10" name="Image 2" descr="preencoded.png"/>
          <p:cNvPicPr>
            <a:picLocks noChangeAspect="1"/>
          </p:cNvPicPr>
          <p:nvPr/>
        </p:nvPicPr>
        <p:blipFill>
          <a:blip r:embed="rId5"/>
          <a:stretch>
            <a:fillRect/>
          </a:stretch>
        </p:blipFill>
        <p:spPr>
          <a:xfrm>
            <a:off x="7542490" y="2333030"/>
            <a:ext cx="499229" cy="499229"/>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9769" y="2470309"/>
            <a:ext cx="224552" cy="224552"/>
          </a:xfrm>
          <a:prstGeom prst="rect">
            <a:avLst/>
          </a:prstGeom>
        </p:spPr>
      </p:pic>
      <p:sp>
        <p:nvSpPr>
          <p:cNvPr id="12" name="Text 6"/>
          <p:cNvSpPr/>
          <p:nvPr/>
        </p:nvSpPr>
        <p:spPr>
          <a:xfrm>
            <a:off x="7542490" y="2954298"/>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Patient List</a:t>
            </a:r>
            <a:endParaRPr lang="en-US" sz="1600" dirty="0">
              <a:solidFill>
                <a:srgbClr val="006699"/>
              </a:solidFill>
            </a:endParaRPr>
          </a:p>
        </p:txBody>
      </p:sp>
      <p:sp>
        <p:nvSpPr>
          <p:cNvPr id="13" name="Text 7"/>
          <p:cNvSpPr/>
          <p:nvPr/>
        </p:nvSpPr>
        <p:spPr>
          <a:xfrm>
            <a:off x="7542490" y="3287435"/>
            <a:ext cx="5347930" cy="230743"/>
          </a:xfrm>
          <a:prstGeom prst="rect">
            <a:avLst/>
          </a:prstGeom>
          <a:noFill/>
          <a:ln/>
        </p:spPr>
        <p:txBody>
          <a:bodyPr wrap="non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View all assigned patients with search and filtering capabilities</a:t>
            </a:r>
            <a:endParaRPr lang="en-US" sz="1300" dirty="0"/>
          </a:p>
        </p:txBody>
      </p:sp>
      <p:sp>
        <p:nvSpPr>
          <p:cNvPr id="14" name="Shape 8"/>
          <p:cNvSpPr/>
          <p:nvPr/>
        </p:nvSpPr>
        <p:spPr>
          <a:xfrm>
            <a:off x="1573649" y="3806547"/>
            <a:ext cx="5680472" cy="1517809"/>
          </a:xfrm>
          <a:prstGeom prst="roundRect">
            <a:avLst>
              <a:gd name="adj" fmla="val 1645"/>
            </a:avLst>
          </a:prstGeom>
          <a:solidFill>
            <a:srgbClr val="EAE8F3"/>
          </a:solidFill>
          <a:ln/>
        </p:spPr>
        <p:txBody>
          <a:bodyPr/>
          <a:lstStyle/>
          <a:p>
            <a:endParaRPr lang="en-IN"/>
          </a:p>
        </p:txBody>
      </p:sp>
      <p:pic>
        <p:nvPicPr>
          <p:cNvPr id="15" name="Image 4" descr="preencoded.png"/>
          <p:cNvPicPr>
            <a:picLocks noChangeAspect="1"/>
          </p:cNvPicPr>
          <p:nvPr/>
        </p:nvPicPr>
        <p:blipFill>
          <a:blip r:embed="rId7"/>
          <a:stretch>
            <a:fillRect/>
          </a:stretch>
        </p:blipFill>
        <p:spPr>
          <a:xfrm>
            <a:off x="1739979" y="3972878"/>
            <a:ext cx="499229" cy="499229"/>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77258" y="4110157"/>
            <a:ext cx="224552" cy="224552"/>
          </a:xfrm>
          <a:prstGeom prst="rect">
            <a:avLst/>
          </a:prstGeom>
        </p:spPr>
      </p:pic>
      <p:sp>
        <p:nvSpPr>
          <p:cNvPr id="17" name="Text 9"/>
          <p:cNvSpPr/>
          <p:nvPr/>
        </p:nvSpPr>
        <p:spPr>
          <a:xfrm>
            <a:off x="1739979" y="4594146"/>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Patient Search</a:t>
            </a:r>
            <a:endParaRPr lang="en-US" sz="1600" dirty="0">
              <a:solidFill>
                <a:srgbClr val="006699"/>
              </a:solidFill>
            </a:endParaRPr>
          </a:p>
        </p:txBody>
      </p:sp>
      <p:sp>
        <p:nvSpPr>
          <p:cNvPr id="18" name="Text 10"/>
          <p:cNvSpPr/>
          <p:nvPr/>
        </p:nvSpPr>
        <p:spPr>
          <a:xfrm>
            <a:off x="1739979" y="4927283"/>
            <a:ext cx="5347811" cy="230743"/>
          </a:xfrm>
          <a:prstGeom prst="rect">
            <a:avLst/>
          </a:prstGeom>
          <a:noFill/>
          <a:ln/>
        </p:spPr>
        <p:txBody>
          <a:bodyPr wrap="non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Quickly find patients by name, condition, or medication</a:t>
            </a:r>
            <a:endParaRPr lang="en-US" sz="1300" dirty="0"/>
          </a:p>
        </p:txBody>
      </p:sp>
      <p:sp>
        <p:nvSpPr>
          <p:cNvPr id="19" name="Shape 11"/>
          <p:cNvSpPr/>
          <p:nvPr/>
        </p:nvSpPr>
        <p:spPr>
          <a:xfrm>
            <a:off x="7376160" y="3806547"/>
            <a:ext cx="5680591" cy="1517809"/>
          </a:xfrm>
          <a:prstGeom prst="roundRect">
            <a:avLst>
              <a:gd name="adj" fmla="val 1645"/>
            </a:avLst>
          </a:prstGeom>
          <a:solidFill>
            <a:srgbClr val="EAE8F3"/>
          </a:solidFill>
          <a:ln/>
        </p:spPr>
        <p:txBody>
          <a:bodyPr/>
          <a:lstStyle/>
          <a:p>
            <a:endParaRPr lang="en-IN"/>
          </a:p>
        </p:txBody>
      </p:sp>
      <p:pic>
        <p:nvPicPr>
          <p:cNvPr id="20" name="Image 6" descr="preencoded.png"/>
          <p:cNvPicPr>
            <a:picLocks noChangeAspect="1"/>
          </p:cNvPicPr>
          <p:nvPr/>
        </p:nvPicPr>
        <p:blipFill>
          <a:blip r:embed="rId9"/>
          <a:stretch>
            <a:fillRect/>
          </a:stretch>
        </p:blipFill>
        <p:spPr>
          <a:xfrm>
            <a:off x="7542490" y="3972878"/>
            <a:ext cx="499229" cy="499229"/>
          </a:xfrm>
          <a:prstGeom prst="rect">
            <a:avLst/>
          </a:prstGeom>
        </p:spPr>
      </p:pic>
      <p:pic>
        <p:nvPicPr>
          <p:cNvPr id="2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79769" y="4110157"/>
            <a:ext cx="224552" cy="224552"/>
          </a:xfrm>
          <a:prstGeom prst="rect">
            <a:avLst/>
          </a:prstGeom>
        </p:spPr>
      </p:pic>
      <p:sp>
        <p:nvSpPr>
          <p:cNvPr id="22" name="Text 12"/>
          <p:cNvSpPr/>
          <p:nvPr/>
        </p:nvSpPr>
        <p:spPr>
          <a:xfrm>
            <a:off x="7542490" y="4594146"/>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Add Patient</a:t>
            </a:r>
            <a:endParaRPr lang="en-US" sz="1600" dirty="0">
              <a:solidFill>
                <a:srgbClr val="006699"/>
              </a:solidFill>
            </a:endParaRPr>
          </a:p>
        </p:txBody>
      </p:sp>
      <p:sp>
        <p:nvSpPr>
          <p:cNvPr id="23" name="Text 13"/>
          <p:cNvSpPr/>
          <p:nvPr/>
        </p:nvSpPr>
        <p:spPr>
          <a:xfrm>
            <a:off x="7542490" y="4927283"/>
            <a:ext cx="5347930" cy="230743"/>
          </a:xfrm>
          <a:prstGeom prst="rect">
            <a:avLst/>
          </a:prstGeom>
          <a:noFill/>
          <a:ln/>
        </p:spPr>
        <p:txBody>
          <a:bodyPr wrap="non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Link new patients to doctor's practice with profile details</a:t>
            </a:r>
            <a:endParaRPr lang="en-US" sz="1300" dirty="0"/>
          </a:p>
        </p:txBody>
      </p:sp>
      <p:sp>
        <p:nvSpPr>
          <p:cNvPr id="24" name="Shape 14"/>
          <p:cNvSpPr/>
          <p:nvPr/>
        </p:nvSpPr>
        <p:spPr>
          <a:xfrm>
            <a:off x="1573649" y="5446395"/>
            <a:ext cx="5680472" cy="1748552"/>
          </a:xfrm>
          <a:prstGeom prst="roundRect">
            <a:avLst>
              <a:gd name="adj" fmla="val 1428"/>
            </a:avLst>
          </a:prstGeom>
          <a:solidFill>
            <a:srgbClr val="EAE8F3"/>
          </a:solidFill>
          <a:ln/>
        </p:spPr>
        <p:txBody>
          <a:bodyPr/>
          <a:lstStyle/>
          <a:p>
            <a:endParaRPr lang="en-IN"/>
          </a:p>
        </p:txBody>
      </p:sp>
      <p:pic>
        <p:nvPicPr>
          <p:cNvPr id="25" name="Image 8" descr="preencoded.png"/>
          <p:cNvPicPr>
            <a:picLocks noChangeAspect="1"/>
          </p:cNvPicPr>
          <p:nvPr/>
        </p:nvPicPr>
        <p:blipFill>
          <a:blip r:embed="rId11"/>
          <a:stretch>
            <a:fillRect/>
          </a:stretch>
        </p:blipFill>
        <p:spPr>
          <a:xfrm>
            <a:off x="1739979" y="5612725"/>
            <a:ext cx="499229" cy="499229"/>
          </a:xfrm>
          <a:prstGeom prst="rect">
            <a:avLst/>
          </a:prstGeom>
        </p:spPr>
      </p:pic>
      <p:pic>
        <p:nvPicPr>
          <p:cNvPr id="2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877258" y="5750004"/>
            <a:ext cx="224552" cy="224552"/>
          </a:xfrm>
          <a:prstGeom prst="rect">
            <a:avLst/>
          </a:prstGeom>
        </p:spPr>
      </p:pic>
      <p:sp>
        <p:nvSpPr>
          <p:cNvPr id="27" name="Text 15"/>
          <p:cNvSpPr/>
          <p:nvPr/>
        </p:nvSpPr>
        <p:spPr>
          <a:xfrm>
            <a:off x="1739979" y="6233993"/>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Create Prescription</a:t>
            </a:r>
            <a:endParaRPr lang="en-US" sz="1600" dirty="0">
              <a:solidFill>
                <a:srgbClr val="006699"/>
              </a:solidFill>
            </a:endParaRPr>
          </a:p>
        </p:txBody>
      </p:sp>
      <p:sp>
        <p:nvSpPr>
          <p:cNvPr id="28" name="Text 16"/>
          <p:cNvSpPr/>
          <p:nvPr/>
        </p:nvSpPr>
        <p:spPr>
          <a:xfrm>
            <a:off x="1739979" y="6567130"/>
            <a:ext cx="5347811" cy="461486"/>
          </a:xfrm>
          <a:prstGeom prst="rect">
            <a:avLst/>
          </a:prstGeom>
          <a:noFill/>
          <a:ln/>
        </p:spPr>
        <p:txBody>
          <a:bodyPr wrap="squar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Prescribe multiple medications with dosage, frequency, instructions, and duration</a:t>
            </a:r>
            <a:endParaRPr lang="en-US" sz="1300" dirty="0"/>
          </a:p>
        </p:txBody>
      </p:sp>
      <p:sp>
        <p:nvSpPr>
          <p:cNvPr id="29" name="Shape 17"/>
          <p:cNvSpPr/>
          <p:nvPr/>
        </p:nvSpPr>
        <p:spPr>
          <a:xfrm>
            <a:off x="7376160" y="5446395"/>
            <a:ext cx="5680591" cy="1748552"/>
          </a:xfrm>
          <a:prstGeom prst="roundRect">
            <a:avLst>
              <a:gd name="adj" fmla="val 1428"/>
            </a:avLst>
          </a:prstGeom>
          <a:solidFill>
            <a:srgbClr val="EAE8F3"/>
          </a:solidFill>
          <a:ln/>
        </p:spPr>
        <p:txBody>
          <a:bodyPr/>
          <a:lstStyle/>
          <a:p>
            <a:endParaRPr lang="en-IN"/>
          </a:p>
        </p:txBody>
      </p:sp>
      <p:pic>
        <p:nvPicPr>
          <p:cNvPr id="30" name="Image 10" descr="preencoded.png"/>
          <p:cNvPicPr>
            <a:picLocks noChangeAspect="1"/>
          </p:cNvPicPr>
          <p:nvPr/>
        </p:nvPicPr>
        <p:blipFill>
          <a:blip r:embed="rId13"/>
          <a:stretch>
            <a:fillRect/>
          </a:stretch>
        </p:blipFill>
        <p:spPr>
          <a:xfrm>
            <a:off x="7542490" y="5612725"/>
            <a:ext cx="499229" cy="499229"/>
          </a:xfrm>
          <a:prstGeom prst="rect">
            <a:avLst/>
          </a:prstGeom>
        </p:spPr>
      </p:pic>
      <p:pic>
        <p:nvPicPr>
          <p:cNvPr id="31"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679769" y="5750004"/>
            <a:ext cx="224552" cy="224552"/>
          </a:xfrm>
          <a:prstGeom prst="rect">
            <a:avLst/>
          </a:prstGeom>
        </p:spPr>
      </p:pic>
      <p:sp>
        <p:nvSpPr>
          <p:cNvPr id="32" name="Text 18"/>
          <p:cNvSpPr/>
          <p:nvPr/>
        </p:nvSpPr>
        <p:spPr>
          <a:xfrm>
            <a:off x="7542490" y="6233993"/>
            <a:ext cx="2080260" cy="259913"/>
          </a:xfrm>
          <a:prstGeom prst="rect">
            <a:avLst/>
          </a:prstGeom>
          <a:noFill/>
          <a:ln/>
        </p:spPr>
        <p:txBody>
          <a:bodyPr wrap="none" lIns="0" tIns="0" rIns="0" bIns="0" rtlCol="0" anchor="t"/>
          <a:lstStyle/>
          <a:p>
            <a:pPr marL="0" indent="0" algn="l">
              <a:lnSpc>
                <a:spcPts val="2000"/>
              </a:lnSpc>
              <a:buNone/>
            </a:pPr>
            <a:r>
              <a:rPr lang="en-US" sz="1600" dirty="0">
                <a:solidFill>
                  <a:srgbClr val="006699"/>
                </a:solidFill>
                <a:latin typeface="Libre Baskerville" pitchFamily="34" charset="0"/>
                <a:ea typeface="Libre Baskerville" pitchFamily="34" charset="-122"/>
                <a:cs typeface="Libre Baskerville" pitchFamily="34" charset="-120"/>
              </a:rPr>
              <a:t>Profile</a:t>
            </a:r>
            <a:endParaRPr lang="en-US" sz="1600" dirty="0">
              <a:solidFill>
                <a:srgbClr val="006699"/>
              </a:solidFill>
            </a:endParaRPr>
          </a:p>
        </p:txBody>
      </p:sp>
      <p:sp>
        <p:nvSpPr>
          <p:cNvPr id="33" name="Text 19"/>
          <p:cNvSpPr/>
          <p:nvPr/>
        </p:nvSpPr>
        <p:spPr>
          <a:xfrm>
            <a:off x="7542490" y="6567130"/>
            <a:ext cx="5347930" cy="461486"/>
          </a:xfrm>
          <a:prstGeom prst="rect">
            <a:avLst/>
          </a:prstGeom>
          <a:noFill/>
          <a:ln/>
        </p:spPr>
        <p:txBody>
          <a:bodyPr wrap="square" lIns="0" tIns="0" rIns="0" bIns="0" rtlCol="0" anchor="t"/>
          <a:lstStyle/>
          <a:p>
            <a:pPr marL="0" indent="0" algn="l">
              <a:lnSpc>
                <a:spcPts val="1800"/>
              </a:lnSpc>
              <a:buNone/>
            </a:pPr>
            <a:r>
              <a:rPr lang="en-US" sz="1300" dirty="0">
                <a:latin typeface="Open Sans" pitchFamily="34" charset="0"/>
                <a:ea typeface="Open Sans" pitchFamily="34" charset="-122"/>
                <a:cs typeface="Open Sans" pitchFamily="34" charset="-120"/>
              </a:rPr>
              <a:t>Professional information including specialization, hospital, qualifications, and consultation timings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774141" y="1098053"/>
            <a:ext cx="4031813" cy="503873"/>
          </a:xfrm>
          <a:prstGeom prst="rect">
            <a:avLst/>
          </a:prstGeom>
          <a:noFill/>
          <a:ln/>
        </p:spPr>
        <p:txBody>
          <a:bodyPr wrap="none" lIns="0" tIns="0" rIns="0" bIns="0" rtlCol="0" anchor="t"/>
          <a:lstStyle/>
          <a:p>
            <a:pPr marL="0" indent="0" algn="l">
              <a:lnSpc>
                <a:spcPts val="3950"/>
              </a:lnSpc>
              <a:buNone/>
            </a:pPr>
            <a:r>
              <a:rPr lang="en-US" sz="3150" dirty="0">
                <a:solidFill>
                  <a:srgbClr val="194178"/>
                </a:solidFill>
                <a:latin typeface="Libre Baskerville" pitchFamily="34" charset="0"/>
                <a:ea typeface="Libre Baskerville" pitchFamily="34" charset="-122"/>
                <a:cs typeface="Libre Baskerville" pitchFamily="34" charset="-120"/>
              </a:rPr>
              <a:t>Patient Module</a:t>
            </a:r>
            <a:endParaRPr lang="en-US" sz="3150" dirty="0">
              <a:solidFill>
                <a:srgbClr val="194178"/>
              </a:solidFill>
            </a:endParaRPr>
          </a:p>
        </p:txBody>
      </p:sp>
      <p:sp>
        <p:nvSpPr>
          <p:cNvPr id="3" name="Text 1"/>
          <p:cNvSpPr/>
          <p:nvPr/>
        </p:nvSpPr>
        <p:spPr>
          <a:xfrm>
            <a:off x="1751290" y="1888212"/>
            <a:ext cx="11127819" cy="220742"/>
          </a:xfrm>
          <a:prstGeom prst="rect">
            <a:avLst/>
          </a:prstGeom>
          <a:noFill/>
          <a:ln/>
        </p:spPr>
        <p:txBody>
          <a:bodyPr wrap="none" lIns="0" tIns="0" rIns="0" bIns="0" rtlCol="0" anchor="t"/>
          <a:lstStyle/>
          <a:p>
            <a:pPr marL="0" indent="0" algn="l">
              <a:lnSpc>
                <a:spcPts val="1700"/>
              </a:lnSpc>
              <a:buNone/>
            </a:pPr>
            <a:r>
              <a:rPr lang="en-US" sz="1400" dirty="0">
                <a:latin typeface="Open Sans" pitchFamily="34" charset="0"/>
                <a:ea typeface="Open Sans" pitchFamily="34" charset="-122"/>
                <a:cs typeface="Open Sans" pitchFamily="34" charset="-120"/>
              </a:rPr>
              <a:t>The patient side focuses on daily medication adherence and personal health monitoring through intuitive dashboards and tracking screens.</a:t>
            </a:r>
            <a:endParaRPr lang="en-US" sz="1400" dirty="0"/>
          </a:p>
        </p:txBody>
      </p:sp>
      <p:sp>
        <p:nvSpPr>
          <p:cNvPr id="4" name="Shape 2"/>
          <p:cNvSpPr/>
          <p:nvPr/>
        </p:nvSpPr>
        <p:spPr>
          <a:xfrm>
            <a:off x="1751290" y="2237899"/>
            <a:ext cx="5506522" cy="1682948"/>
          </a:xfrm>
          <a:prstGeom prst="roundRect">
            <a:avLst>
              <a:gd name="adj" fmla="val 1437"/>
            </a:avLst>
          </a:prstGeom>
          <a:solidFill>
            <a:srgbClr val="EAE8F3"/>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912501" y="2399109"/>
            <a:ext cx="483751" cy="483751"/>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5494" y="2532102"/>
            <a:ext cx="217646" cy="217646"/>
          </a:xfrm>
          <a:prstGeom prst="rect">
            <a:avLst/>
          </a:prstGeom>
        </p:spPr>
      </p:pic>
      <p:sp>
        <p:nvSpPr>
          <p:cNvPr id="7" name="Text 3"/>
          <p:cNvSpPr/>
          <p:nvPr/>
        </p:nvSpPr>
        <p:spPr>
          <a:xfrm>
            <a:off x="1912501" y="2997518"/>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Dashboard</a:t>
            </a:r>
            <a:endParaRPr lang="en-US" sz="1550" dirty="0">
              <a:solidFill>
                <a:srgbClr val="006699"/>
              </a:solidFill>
            </a:endParaRPr>
          </a:p>
        </p:txBody>
      </p:sp>
      <p:sp>
        <p:nvSpPr>
          <p:cNvPr id="8" name="Text 4"/>
          <p:cNvSpPr/>
          <p:nvPr/>
        </p:nvSpPr>
        <p:spPr>
          <a:xfrm>
            <a:off x="1912501" y="3318153"/>
            <a:ext cx="5184100" cy="441484"/>
          </a:xfrm>
          <a:prstGeom prst="rect">
            <a:avLst/>
          </a:prstGeom>
          <a:noFill/>
          <a:ln/>
        </p:spPr>
        <p:txBody>
          <a:bodyPr wrap="squar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Medication summary, today's medications, adherence insights, and quick navigation</a:t>
            </a:r>
            <a:endParaRPr lang="en-US" sz="1250" dirty="0"/>
          </a:p>
        </p:txBody>
      </p:sp>
      <p:sp>
        <p:nvSpPr>
          <p:cNvPr id="9" name="Shape 5"/>
          <p:cNvSpPr/>
          <p:nvPr/>
        </p:nvSpPr>
        <p:spPr>
          <a:xfrm>
            <a:off x="7372469" y="2237899"/>
            <a:ext cx="5506641" cy="1682948"/>
          </a:xfrm>
          <a:prstGeom prst="roundRect">
            <a:avLst>
              <a:gd name="adj" fmla="val 1437"/>
            </a:avLst>
          </a:prstGeom>
          <a:solidFill>
            <a:srgbClr val="EAE8F3"/>
          </a:solidFill>
          <a:ln/>
        </p:spPr>
        <p:txBody>
          <a:bodyPr/>
          <a:lstStyle/>
          <a:p>
            <a:endParaRPr lang="en-IN"/>
          </a:p>
        </p:txBody>
      </p:sp>
      <p:pic>
        <p:nvPicPr>
          <p:cNvPr id="10" name="Image 2" descr="preencoded.png"/>
          <p:cNvPicPr>
            <a:picLocks noChangeAspect="1"/>
          </p:cNvPicPr>
          <p:nvPr/>
        </p:nvPicPr>
        <p:blipFill>
          <a:blip r:embed="rId5"/>
          <a:stretch>
            <a:fillRect/>
          </a:stretch>
        </p:blipFill>
        <p:spPr>
          <a:xfrm>
            <a:off x="7533680" y="2399109"/>
            <a:ext cx="483751" cy="483751"/>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6673" y="2532102"/>
            <a:ext cx="217646" cy="217646"/>
          </a:xfrm>
          <a:prstGeom prst="rect">
            <a:avLst/>
          </a:prstGeom>
        </p:spPr>
      </p:pic>
      <p:sp>
        <p:nvSpPr>
          <p:cNvPr id="12" name="Text 6"/>
          <p:cNvSpPr/>
          <p:nvPr/>
        </p:nvSpPr>
        <p:spPr>
          <a:xfrm>
            <a:off x="7533680" y="2997518"/>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Add Medication</a:t>
            </a:r>
            <a:endParaRPr lang="en-US" sz="1550" dirty="0">
              <a:solidFill>
                <a:srgbClr val="006699"/>
              </a:solidFill>
            </a:endParaRPr>
          </a:p>
        </p:txBody>
      </p:sp>
      <p:sp>
        <p:nvSpPr>
          <p:cNvPr id="13" name="Text 7"/>
          <p:cNvSpPr/>
          <p:nvPr/>
        </p:nvSpPr>
        <p:spPr>
          <a:xfrm>
            <a:off x="7533680" y="3318153"/>
            <a:ext cx="5184219" cy="441484"/>
          </a:xfrm>
          <a:prstGeom prst="rect">
            <a:avLst/>
          </a:prstGeom>
          <a:noFill/>
          <a:ln/>
        </p:spPr>
        <p:txBody>
          <a:bodyPr wrap="squar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Save medication schedules with dosage, frequency, time, and date range</a:t>
            </a:r>
            <a:endParaRPr lang="en-US" sz="1250" dirty="0"/>
          </a:p>
        </p:txBody>
      </p:sp>
      <p:sp>
        <p:nvSpPr>
          <p:cNvPr id="14" name="Shape 8"/>
          <p:cNvSpPr/>
          <p:nvPr/>
        </p:nvSpPr>
        <p:spPr>
          <a:xfrm>
            <a:off x="1751290" y="4035504"/>
            <a:ext cx="5506522" cy="1462207"/>
          </a:xfrm>
          <a:prstGeom prst="roundRect">
            <a:avLst>
              <a:gd name="adj" fmla="val 1654"/>
            </a:avLst>
          </a:prstGeom>
          <a:solidFill>
            <a:srgbClr val="EAE8F3"/>
          </a:solidFill>
          <a:ln/>
        </p:spPr>
        <p:txBody>
          <a:bodyPr/>
          <a:lstStyle/>
          <a:p>
            <a:endParaRPr lang="en-IN"/>
          </a:p>
        </p:txBody>
      </p:sp>
      <p:pic>
        <p:nvPicPr>
          <p:cNvPr id="15" name="Image 4" descr="preencoded.png"/>
          <p:cNvPicPr>
            <a:picLocks noChangeAspect="1"/>
          </p:cNvPicPr>
          <p:nvPr/>
        </p:nvPicPr>
        <p:blipFill>
          <a:blip r:embed="rId7"/>
          <a:stretch>
            <a:fillRect/>
          </a:stretch>
        </p:blipFill>
        <p:spPr>
          <a:xfrm>
            <a:off x="1912501" y="4196715"/>
            <a:ext cx="483751" cy="483751"/>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45494" y="4329708"/>
            <a:ext cx="217646" cy="217646"/>
          </a:xfrm>
          <a:prstGeom prst="rect">
            <a:avLst/>
          </a:prstGeom>
        </p:spPr>
      </p:pic>
      <p:sp>
        <p:nvSpPr>
          <p:cNvPr id="17" name="Text 9"/>
          <p:cNvSpPr/>
          <p:nvPr/>
        </p:nvSpPr>
        <p:spPr>
          <a:xfrm>
            <a:off x="1912501" y="4795123"/>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Schedule View</a:t>
            </a:r>
            <a:endParaRPr lang="en-US" sz="1550" dirty="0">
              <a:solidFill>
                <a:srgbClr val="006699"/>
              </a:solidFill>
            </a:endParaRPr>
          </a:p>
        </p:txBody>
      </p:sp>
      <p:sp>
        <p:nvSpPr>
          <p:cNvPr id="18" name="Text 10"/>
          <p:cNvSpPr/>
          <p:nvPr/>
        </p:nvSpPr>
        <p:spPr>
          <a:xfrm>
            <a:off x="1912501" y="5115758"/>
            <a:ext cx="5184100" cy="220742"/>
          </a:xfrm>
          <a:prstGeom prst="rect">
            <a:avLst/>
          </a:prstGeom>
          <a:noFill/>
          <a:ln/>
        </p:spPr>
        <p:txBody>
          <a:bodyPr wrap="non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Day-wise medication schedule with status marking capability</a:t>
            </a:r>
            <a:endParaRPr lang="en-US" sz="1250" dirty="0"/>
          </a:p>
        </p:txBody>
      </p:sp>
      <p:sp>
        <p:nvSpPr>
          <p:cNvPr id="19" name="Shape 11"/>
          <p:cNvSpPr/>
          <p:nvPr/>
        </p:nvSpPr>
        <p:spPr>
          <a:xfrm>
            <a:off x="7372469" y="4035504"/>
            <a:ext cx="5506641" cy="1462207"/>
          </a:xfrm>
          <a:prstGeom prst="roundRect">
            <a:avLst>
              <a:gd name="adj" fmla="val 1654"/>
            </a:avLst>
          </a:prstGeom>
          <a:solidFill>
            <a:srgbClr val="EAE8F3"/>
          </a:solidFill>
          <a:ln/>
        </p:spPr>
        <p:txBody>
          <a:bodyPr/>
          <a:lstStyle/>
          <a:p>
            <a:endParaRPr lang="en-IN"/>
          </a:p>
        </p:txBody>
      </p:sp>
      <p:pic>
        <p:nvPicPr>
          <p:cNvPr id="20" name="Image 6" descr="preencoded.png"/>
          <p:cNvPicPr>
            <a:picLocks noChangeAspect="1"/>
          </p:cNvPicPr>
          <p:nvPr/>
        </p:nvPicPr>
        <p:blipFill>
          <a:blip r:embed="rId9"/>
          <a:stretch>
            <a:fillRect/>
          </a:stretch>
        </p:blipFill>
        <p:spPr>
          <a:xfrm>
            <a:off x="7533680" y="4196715"/>
            <a:ext cx="483751" cy="483751"/>
          </a:xfrm>
          <a:prstGeom prst="rect">
            <a:avLst/>
          </a:prstGeom>
        </p:spPr>
      </p:pic>
      <p:pic>
        <p:nvPicPr>
          <p:cNvPr id="2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66673" y="4329708"/>
            <a:ext cx="217646" cy="217646"/>
          </a:xfrm>
          <a:prstGeom prst="rect">
            <a:avLst/>
          </a:prstGeom>
        </p:spPr>
      </p:pic>
      <p:sp>
        <p:nvSpPr>
          <p:cNvPr id="22" name="Text 12"/>
          <p:cNvSpPr/>
          <p:nvPr/>
        </p:nvSpPr>
        <p:spPr>
          <a:xfrm>
            <a:off x="7533680" y="4795123"/>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Reminders</a:t>
            </a:r>
            <a:endParaRPr lang="en-US" sz="1550" dirty="0">
              <a:solidFill>
                <a:srgbClr val="006699"/>
              </a:solidFill>
            </a:endParaRPr>
          </a:p>
        </p:txBody>
      </p:sp>
      <p:sp>
        <p:nvSpPr>
          <p:cNvPr id="23" name="Text 13"/>
          <p:cNvSpPr/>
          <p:nvPr/>
        </p:nvSpPr>
        <p:spPr>
          <a:xfrm>
            <a:off x="7533680" y="5115758"/>
            <a:ext cx="5184219" cy="220742"/>
          </a:xfrm>
          <a:prstGeom prst="rect">
            <a:avLst/>
          </a:prstGeom>
          <a:noFill/>
          <a:ln/>
        </p:spPr>
        <p:txBody>
          <a:bodyPr wrap="non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Pending medication notifications and time-based alerts</a:t>
            </a:r>
            <a:endParaRPr lang="en-US" sz="1250" dirty="0"/>
          </a:p>
        </p:txBody>
      </p:sp>
      <p:sp>
        <p:nvSpPr>
          <p:cNvPr id="24" name="Shape 14"/>
          <p:cNvSpPr/>
          <p:nvPr/>
        </p:nvSpPr>
        <p:spPr>
          <a:xfrm>
            <a:off x="1751290" y="5612368"/>
            <a:ext cx="5506522" cy="1462207"/>
          </a:xfrm>
          <a:prstGeom prst="roundRect">
            <a:avLst>
              <a:gd name="adj" fmla="val 1654"/>
            </a:avLst>
          </a:prstGeom>
          <a:solidFill>
            <a:srgbClr val="EAE8F3"/>
          </a:solidFill>
          <a:ln/>
        </p:spPr>
        <p:txBody>
          <a:bodyPr/>
          <a:lstStyle/>
          <a:p>
            <a:endParaRPr lang="en-IN"/>
          </a:p>
        </p:txBody>
      </p:sp>
      <p:pic>
        <p:nvPicPr>
          <p:cNvPr id="25" name="Image 8" descr="preencoded.png"/>
          <p:cNvPicPr>
            <a:picLocks noChangeAspect="1"/>
          </p:cNvPicPr>
          <p:nvPr/>
        </p:nvPicPr>
        <p:blipFill>
          <a:blip r:embed="rId11"/>
          <a:stretch>
            <a:fillRect/>
          </a:stretch>
        </p:blipFill>
        <p:spPr>
          <a:xfrm>
            <a:off x="1912501" y="5773579"/>
            <a:ext cx="483751" cy="483751"/>
          </a:xfrm>
          <a:prstGeom prst="rect">
            <a:avLst/>
          </a:prstGeom>
        </p:spPr>
      </p:pic>
      <p:pic>
        <p:nvPicPr>
          <p:cNvPr id="2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45494" y="5906572"/>
            <a:ext cx="217646" cy="217646"/>
          </a:xfrm>
          <a:prstGeom prst="rect">
            <a:avLst/>
          </a:prstGeom>
        </p:spPr>
      </p:pic>
      <p:sp>
        <p:nvSpPr>
          <p:cNvPr id="27" name="Text 15"/>
          <p:cNvSpPr/>
          <p:nvPr/>
        </p:nvSpPr>
        <p:spPr>
          <a:xfrm>
            <a:off x="1912501" y="6371987"/>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Vitals</a:t>
            </a:r>
            <a:endParaRPr lang="en-US" sz="1550" dirty="0">
              <a:solidFill>
                <a:srgbClr val="006699"/>
              </a:solidFill>
            </a:endParaRPr>
          </a:p>
        </p:txBody>
      </p:sp>
      <p:sp>
        <p:nvSpPr>
          <p:cNvPr id="28" name="Text 16"/>
          <p:cNvSpPr/>
          <p:nvPr/>
        </p:nvSpPr>
        <p:spPr>
          <a:xfrm>
            <a:off x="1912501" y="6692622"/>
            <a:ext cx="5184100" cy="220742"/>
          </a:xfrm>
          <a:prstGeom prst="rect">
            <a:avLst/>
          </a:prstGeom>
          <a:noFill/>
          <a:ln/>
        </p:spPr>
        <p:txBody>
          <a:bodyPr wrap="non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Log and display health metrics with trend analysis</a:t>
            </a:r>
            <a:endParaRPr lang="en-US" sz="1250" dirty="0"/>
          </a:p>
        </p:txBody>
      </p:sp>
      <p:sp>
        <p:nvSpPr>
          <p:cNvPr id="29" name="Shape 17"/>
          <p:cNvSpPr/>
          <p:nvPr/>
        </p:nvSpPr>
        <p:spPr>
          <a:xfrm>
            <a:off x="7372469" y="5612368"/>
            <a:ext cx="5506641" cy="1462207"/>
          </a:xfrm>
          <a:prstGeom prst="roundRect">
            <a:avLst>
              <a:gd name="adj" fmla="val 1654"/>
            </a:avLst>
          </a:prstGeom>
          <a:solidFill>
            <a:srgbClr val="EAE8F3"/>
          </a:solidFill>
          <a:ln/>
        </p:spPr>
        <p:txBody>
          <a:bodyPr/>
          <a:lstStyle/>
          <a:p>
            <a:endParaRPr lang="en-IN"/>
          </a:p>
        </p:txBody>
      </p:sp>
      <p:pic>
        <p:nvPicPr>
          <p:cNvPr id="30" name="Image 10" descr="preencoded.png"/>
          <p:cNvPicPr>
            <a:picLocks noChangeAspect="1"/>
          </p:cNvPicPr>
          <p:nvPr/>
        </p:nvPicPr>
        <p:blipFill>
          <a:blip r:embed="rId13"/>
          <a:stretch>
            <a:fillRect/>
          </a:stretch>
        </p:blipFill>
        <p:spPr>
          <a:xfrm>
            <a:off x="7533680" y="5773579"/>
            <a:ext cx="483751" cy="483751"/>
          </a:xfrm>
          <a:prstGeom prst="rect">
            <a:avLst/>
          </a:prstGeom>
        </p:spPr>
      </p:pic>
      <p:pic>
        <p:nvPicPr>
          <p:cNvPr id="31"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666673" y="5906572"/>
            <a:ext cx="217646" cy="217646"/>
          </a:xfrm>
          <a:prstGeom prst="rect">
            <a:avLst/>
          </a:prstGeom>
        </p:spPr>
      </p:pic>
      <p:sp>
        <p:nvSpPr>
          <p:cNvPr id="32" name="Text 18"/>
          <p:cNvSpPr/>
          <p:nvPr/>
        </p:nvSpPr>
        <p:spPr>
          <a:xfrm>
            <a:off x="7533680" y="6371987"/>
            <a:ext cx="2015847" cy="251936"/>
          </a:xfrm>
          <a:prstGeom prst="rect">
            <a:avLst/>
          </a:prstGeom>
          <a:noFill/>
          <a:ln/>
        </p:spPr>
        <p:txBody>
          <a:bodyPr wrap="none" lIns="0" tIns="0" rIns="0" bIns="0" rtlCol="0" anchor="t"/>
          <a:lstStyle/>
          <a:p>
            <a:pPr marL="0" indent="0" algn="l">
              <a:lnSpc>
                <a:spcPts val="1950"/>
              </a:lnSpc>
              <a:buNone/>
            </a:pPr>
            <a:r>
              <a:rPr lang="en-US" sz="1550" dirty="0">
                <a:solidFill>
                  <a:srgbClr val="006699"/>
                </a:solidFill>
                <a:latin typeface="Libre Baskerville" pitchFamily="34" charset="0"/>
                <a:ea typeface="Libre Baskerville" pitchFamily="34" charset="-122"/>
                <a:cs typeface="Libre Baskerville" pitchFamily="34" charset="-120"/>
              </a:rPr>
              <a:t>Profile</a:t>
            </a:r>
            <a:endParaRPr lang="en-US" sz="1550" dirty="0">
              <a:solidFill>
                <a:srgbClr val="006699"/>
              </a:solidFill>
            </a:endParaRPr>
          </a:p>
        </p:txBody>
      </p:sp>
      <p:sp>
        <p:nvSpPr>
          <p:cNvPr id="33" name="Text 19"/>
          <p:cNvSpPr/>
          <p:nvPr/>
        </p:nvSpPr>
        <p:spPr>
          <a:xfrm>
            <a:off x="7533680" y="6692622"/>
            <a:ext cx="5184219" cy="220742"/>
          </a:xfrm>
          <a:prstGeom prst="rect">
            <a:avLst/>
          </a:prstGeom>
          <a:noFill/>
          <a:ln/>
        </p:spPr>
        <p:txBody>
          <a:bodyPr wrap="none" lIns="0" tIns="0" rIns="0" bIns="0" rtlCol="0" anchor="t"/>
          <a:lstStyle/>
          <a:p>
            <a:pPr marL="0" indent="0" algn="l">
              <a:lnSpc>
                <a:spcPts val="1700"/>
              </a:lnSpc>
              <a:buNone/>
            </a:pPr>
            <a:r>
              <a:rPr lang="en-US" sz="1250" dirty="0">
                <a:latin typeface="Open Sans" pitchFamily="34" charset="0"/>
                <a:ea typeface="Open Sans" pitchFamily="34" charset="-122"/>
                <a:cs typeface="Open Sans" pitchFamily="34" charset="-120"/>
              </a:rPr>
              <a:t>Personal and health-related information with edit functionality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5F8973-13BA-87EC-3113-BE1E15C8D4E5}"/>
              </a:ext>
            </a:extLst>
          </p:cNvPr>
          <p:cNvSpPr txBox="1"/>
          <p:nvPr/>
        </p:nvSpPr>
        <p:spPr>
          <a:xfrm>
            <a:off x="423746" y="606147"/>
            <a:ext cx="10236819" cy="7017306"/>
          </a:xfrm>
          <a:prstGeom prst="rect">
            <a:avLst/>
          </a:prstGeom>
          <a:noFill/>
        </p:spPr>
        <p:txBody>
          <a:bodyPr wrap="square">
            <a:spAutoFit/>
          </a:bodyPr>
          <a:lstStyle/>
          <a:p>
            <a:pPr>
              <a:buNone/>
            </a:pPr>
            <a:r>
              <a:rPr lang="en-US" sz="3600" b="1" dirty="0">
                <a:solidFill>
                  <a:srgbClr val="004678"/>
                </a:solidFill>
              </a:rPr>
              <a:t>MedBot – AI-Based Drug Interaction Feature</a:t>
            </a:r>
          </a:p>
          <a:p>
            <a:pPr>
              <a:buFont typeface="Arial" panose="020B0604020202020204" pitchFamily="34" charset="0"/>
              <a:buChar char="•"/>
            </a:pPr>
            <a:r>
              <a:rPr lang="en-US" dirty="0"/>
              <a:t>MedBot is an </a:t>
            </a:r>
            <a:r>
              <a:rPr lang="en-US" b="1" dirty="0"/>
              <a:t>AI-powered medical assistant</a:t>
            </a:r>
            <a:r>
              <a:rPr lang="en-US" dirty="0"/>
              <a:t> that helps users safely manage medication usage by analyzing </a:t>
            </a:r>
            <a:r>
              <a:rPr lang="en-US" b="1" dirty="0"/>
              <a:t>drug interactions in real time</a:t>
            </a:r>
            <a:r>
              <a:rPr lang="en-US" dirty="0"/>
              <a:t> </a:t>
            </a:r>
          </a:p>
          <a:p>
            <a:pPr>
              <a:buFont typeface="Arial" panose="020B0604020202020204" pitchFamily="34" charset="0"/>
              <a:buChar char="•"/>
            </a:pPr>
            <a:r>
              <a:rPr lang="en-US" dirty="0"/>
              <a:t>Users can ask queries like </a:t>
            </a:r>
            <a:r>
              <a:rPr lang="en-US" i="1" dirty="0"/>
              <a:t>“Can I take paracetamol with ibuprofen?”</a:t>
            </a:r>
            <a:r>
              <a:rPr lang="en-US" dirty="0"/>
              <a:t> and receive </a:t>
            </a:r>
            <a:r>
              <a:rPr lang="en-US" b="1" dirty="0"/>
              <a:t>instant, structured medical guidance</a:t>
            </a:r>
            <a:r>
              <a:rPr lang="en-US" dirty="0"/>
              <a:t> </a:t>
            </a:r>
          </a:p>
          <a:p>
            <a:pPr>
              <a:buFont typeface="Arial" panose="020B0604020202020204" pitchFamily="34" charset="0"/>
              <a:buChar char="•"/>
            </a:pPr>
            <a:r>
              <a:rPr lang="en-US" dirty="0">
                <a:solidFill>
                  <a:srgbClr val="194178"/>
                </a:solidFill>
              </a:rPr>
              <a:t> </a:t>
            </a:r>
            <a:r>
              <a:rPr lang="en-US" b="1" dirty="0">
                <a:solidFill>
                  <a:srgbClr val="194178"/>
                </a:solidFill>
              </a:rPr>
              <a:t>Core Capabilities</a:t>
            </a:r>
            <a:r>
              <a:rPr lang="en-US" b="1" dirty="0"/>
              <a:t>:</a:t>
            </a:r>
            <a:r>
              <a:rPr lang="en-US" dirty="0"/>
              <a:t> </a:t>
            </a:r>
          </a:p>
          <a:p>
            <a:pPr marL="742950" lvl="1" indent="-285750">
              <a:buFont typeface="Arial" panose="020B0604020202020204" pitchFamily="34" charset="0"/>
              <a:buChar char="•"/>
            </a:pPr>
            <a:r>
              <a:rPr lang="en-US" dirty="0"/>
              <a:t>Identifies </a:t>
            </a:r>
            <a:r>
              <a:rPr lang="en-US" b="1" dirty="0"/>
              <a:t>drug compatibility and interactions</a:t>
            </a:r>
            <a:r>
              <a:rPr lang="en-US" dirty="0"/>
              <a:t> </a:t>
            </a:r>
          </a:p>
          <a:p>
            <a:pPr marL="742950" lvl="1" indent="-285750">
              <a:buFont typeface="Arial" panose="020B0604020202020204" pitchFamily="34" charset="0"/>
              <a:buChar char="•"/>
            </a:pPr>
            <a:r>
              <a:rPr lang="en-US" dirty="0"/>
              <a:t>Provides </a:t>
            </a:r>
            <a:r>
              <a:rPr lang="en-US" b="1" dirty="0"/>
              <a:t>dosage and timing recommendations</a:t>
            </a:r>
            <a:r>
              <a:rPr lang="en-US" dirty="0"/>
              <a:t> </a:t>
            </a:r>
          </a:p>
          <a:p>
            <a:pPr marL="742950" lvl="1" indent="-285750">
              <a:buFont typeface="Arial" panose="020B0604020202020204" pitchFamily="34" charset="0"/>
              <a:buChar char="•"/>
            </a:pPr>
            <a:r>
              <a:rPr lang="en-US" dirty="0"/>
              <a:t>Highlights </a:t>
            </a:r>
            <a:r>
              <a:rPr lang="en-US" b="1" dirty="0"/>
              <a:t>possible side effects and risks</a:t>
            </a:r>
            <a:r>
              <a:rPr lang="en-US" dirty="0"/>
              <a:t> </a:t>
            </a:r>
          </a:p>
          <a:p>
            <a:pPr marL="742950" lvl="1" indent="-285750">
              <a:buFont typeface="Arial" panose="020B0604020202020204" pitchFamily="34" charset="0"/>
              <a:buChar char="•"/>
            </a:pPr>
            <a:r>
              <a:rPr lang="en-US" dirty="0"/>
              <a:t>Suggests </a:t>
            </a:r>
            <a:r>
              <a:rPr lang="en-US" b="1" dirty="0"/>
              <a:t>safe alternatives and contraindications</a:t>
            </a:r>
            <a:r>
              <a:rPr lang="en-US" dirty="0"/>
              <a:t> </a:t>
            </a:r>
          </a:p>
          <a:p>
            <a:pPr>
              <a:buFont typeface="Arial" panose="020B0604020202020204" pitchFamily="34" charset="0"/>
              <a:buChar char="•"/>
            </a:pPr>
            <a:r>
              <a:rPr lang="en-US" dirty="0"/>
              <a:t> </a:t>
            </a:r>
            <a:r>
              <a:rPr lang="en-US" b="1" dirty="0">
                <a:solidFill>
                  <a:srgbClr val="194178"/>
                </a:solidFill>
              </a:rPr>
              <a:t>Risk Awareness</a:t>
            </a:r>
            <a:r>
              <a:rPr lang="en-US" b="1" dirty="0"/>
              <a:t>:</a:t>
            </a:r>
            <a:r>
              <a:rPr lang="en-US" dirty="0"/>
              <a:t> </a:t>
            </a:r>
          </a:p>
          <a:p>
            <a:pPr marL="742950" lvl="1" indent="-285750">
              <a:buFont typeface="Arial" panose="020B0604020202020204" pitchFamily="34" charset="0"/>
              <a:buChar char="•"/>
            </a:pPr>
            <a:r>
              <a:rPr lang="en-US" dirty="0"/>
              <a:t>Detects potential issues such as </a:t>
            </a:r>
            <a:r>
              <a:rPr lang="en-US" b="1" dirty="0"/>
              <a:t>liver damage, stomach ulcers, and kidney problems</a:t>
            </a:r>
            <a:r>
              <a:rPr lang="en-US" dirty="0"/>
              <a:t> </a:t>
            </a:r>
          </a:p>
          <a:p>
            <a:pPr marL="742950" lvl="1" indent="-285750">
              <a:buFont typeface="Arial" panose="020B0604020202020204" pitchFamily="34" charset="0"/>
              <a:buChar char="•"/>
            </a:pPr>
            <a:r>
              <a:rPr lang="en-US" dirty="0"/>
              <a:t>Advises caution for </a:t>
            </a:r>
            <a:r>
              <a:rPr lang="en-US" b="1" dirty="0"/>
              <a:t>long-term usage and high dosages</a:t>
            </a:r>
            <a:r>
              <a:rPr lang="en-US" dirty="0"/>
              <a:t> </a:t>
            </a:r>
          </a:p>
          <a:p>
            <a:pPr>
              <a:buFont typeface="Arial" panose="020B0604020202020204" pitchFamily="34" charset="0"/>
              <a:buChar char="•"/>
            </a:pPr>
            <a:r>
              <a:rPr lang="en-US" dirty="0"/>
              <a:t> </a:t>
            </a:r>
            <a:r>
              <a:rPr lang="en-US" b="1" dirty="0">
                <a:solidFill>
                  <a:srgbClr val="194178"/>
                </a:solidFill>
              </a:rPr>
              <a:t>User-Centric Design</a:t>
            </a:r>
            <a:r>
              <a:rPr lang="en-US" b="1" dirty="0"/>
              <a:t>:</a:t>
            </a:r>
            <a:r>
              <a:rPr lang="en-US" dirty="0"/>
              <a:t> </a:t>
            </a:r>
          </a:p>
          <a:p>
            <a:pPr marL="742950" lvl="1" indent="-285750">
              <a:buFont typeface="Arial" panose="020B0604020202020204" pitchFamily="34" charset="0"/>
              <a:buChar char="•"/>
            </a:pPr>
            <a:r>
              <a:rPr lang="en-US" dirty="0"/>
              <a:t>Simple </a:t>
            </a:r>
            <a:r>
              <a:rPr lang="en-US" b="1" dirty="0"/>
              <a:t>chat-based interface</a:t>
            </a:r>
            <a:r>
              <a:rPr lang="en-US" dirty="0"/>
              <a:t> for easy interaction </a:t>
            </a:r>
          </a:p>
          <a:p>
            <a:pPr marL="742950" lvl="1" indent="-285750">
              <a:buFont typeface="Arial" panose="020B0604020202020204" pitchFamily="34" charset="0"/>
              <a:buChar char="•"/>
            </a:pPr>
            <a:r>
              <a:rPr lang="en-US" dirty="0"/>
              <a:t>Quick navigation with features like </a:t>
            </a:r>
            <a:r>
              <a:rPr lang="en-US" b="1" dirty="0"/>
              <a:t>Drug Interaction, Side Effects, Dosage Guide</a:t>
            </a:r>
            <a:r>
              <a:rPr lang="en-US" dirty="0"/>
              <a:t> </a:t>
            </a:r>
          </a:p>
          <a:p>
            <a:pPr marL="742950" lvl="1" indent="-285750">
              <a:buFont typeface="Arial" panose="020B0604020202020204" pitchFamily="34" charset="0"/>
              <a:buChar char="•"/>
            </a:pPr>
            <a:r>
              <a:rPr lang="en-US" dirty="0"/>
              <a:t>Delivers </a:t>
            </a:r>
            <a:r>
              <a:rPr lang="en-US" b="1" dirty="0"/>
              <a:t>fast, accurate, and easy-to-understand responses</a:t>
            </a:r>
            <a:r>
              <a:rPr lang="en-US" dirty="0"/>
              <a:t> </a:t>
            </a:r>
          </a:p>
          <a:p>
            <a:pPr>
              <a:buFont typeface="Arial" panose="020B0604020202020204" pitchFamily="34" charset="0"/>
              <a:buChar char="•"/>
            </a:pPr>
            <a:r>
              <a:rPr lang="en-US" b="1" dirty="0">
                <a:solidFill>
                  <a:srgbClr val="194178"/>
                </a:solidFill>
              </a:rPr>
              <a:t>Impact</a:t>
            </a:r>
            <a:r>
              <a:rPr lang="en-US" b="1" dirty="0"/>
              <a:t>:</a:t>
            </a:r>
            <a:r>
              <a:rPr lang="en-US" dirty="0"/>
              <a:t> </a:t>
            </a:r>
          </a:p>
          <a:p>
            <a:pPr marL="742950" lvl="1" indent="-285750">
              <a:buFont typeface="Arial" panose="020B0604020202020204" pitchFamily="34" charset="0"/>
              <a:buChar char="•"/>
            </a:pPr>
            <a:r>
              <a:rPr lang="en-US" dirty="0"/>
              <a:t>Enhances </a:t>
            </a:r>
            <a:r>
              <a:rPr lang="en-US" b="1" dirty="0"/>
              <a:t>patient safety and awareness</a:t>
            </a:r>
            <a:r>
              <a:rPr lang="en-US" dirty="0"/>
              <a:t> </a:t>
            </a:r>
          </a:p>
          <a:p>
            <a:pPr marL="742950" lvl="1" indent="-285750">
              <a:buFont typeface="Arial" panose="020B0604020202020204" pitchFamily="34" charset="0"/>
              <a:buChar char="•"/>
            </a:pPr>
            <a:r>
              <a:rPr lang="en-US" dirty="0"/>
              <a:t>Reduces chances of </a:t>
            </a:r>
            <a:r>
              <a:rPr lang="en-US" b="1" dirty="0"/>
              <a:t>harmful drug combinations</a:t>
            </a:r>
            <a:r>
              <a:rPr lang="en-US" dirty="0"/>
              <a:t> </a:t>
            </a:r>
          </a:p>
          <a:p>
            <a:pPr marL="742950" lvl="1" indent="-285750">
              <a:buFont typeface="Arial" panose="020B0604020202020204" pitchFamily="34" charset="0"/>
              <a:buChar char="•"/>
            </a:pPr>
            <a:r>
              <a:rPr lang="en-US" dirty="0"/>
              <a:t>Acts as a </a:t>
            </a:r>
            <a:r>
              <a:rPr lang="en-US" b="1" dirty="0"/>
              <a:t>first-level healthcare support system</a:t>
            </a:r>
            <a:r>
              <a:rPr lang="en-US" dirty="0"/>
              <a:t> </a:t>
            </a:r>
          </a:p>
          <a:p>
            <a:pPr lvl="1"/>
            <a:endParaRPr lang="en-US" dirty="0"/>
          </a:p>
          <a:p>
            <a:pPr>
              <a:buFont typeface="Arial" panose="020B0604020202020204" pitchFamily="34" charset="0"/>
              <a:buChar char="•"/>
            </a:pPr>
            <a:r>
              <a:rPr lang="en-US" dirty="0"/>
              <a:t> </a:t>
            </a:r>
            <a:r>
              <a:rPr lang="en-US" i="1" dirty="0"/>
              <a:t>Disclaimer: This system provides informational guidance only and does not replace professional medical consultation</a:t>
            </a:r>
            <a:endParaRPr lang="en-US" dirty="0"/>
          </a:p>
        </p:txBody>
      </p:sp>
    </p:spTree>
    <p:extLst>
      <p:ext uri="{BB962C8B-B14F-4D97-AF65-F5344CB8AC3E}">
        <p14:creationId xmlns:p14="http://schemas.microsoft.com/office/powerpoint/2010/main" val="3100932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9795" y="522633"/>
            <a:ext cx="6266985" cy="536734"/>
          </a:xfrm>
          <a:prstGeom prst="rect">
            <a:avLst/>
          </a:prstGeom>
          <a:noFill/>
          <a:ln/>
        </p:spPr>
        <p:txBody>
          <a:bodyPr wrap="none" lIns="0" tIns="0" rIns="0" bIns="0" rtlCol="0" anchor="t"/>
          <a:lstStyle/>
          <a:p>
            <a:pPr marL="0" indent="0" algn="l">
              <a:lnSpc>
                <a:spcPts val="2750"/>
              </a:lnSpc>
              <a:buNone/>
            </a:pPr>
            <a:r>
              <a:rPr lang="en-US" sz="2200" dirty="0">
                <a:solidFill>
                  <a:srgbClr val="194178"/>
                </a:solidFill>
                <a:latin typeface="Libre Baskerville" pitchFamily="34" charset="0"/>
                <a:ea typeface="Libre Baskerville" pitchFamily="34" charset="-122"/>
                <a:cs typeface="Libre Baskerville" pitchFamily="34" charset="-120"/>
              </a:rPr>
              <a:t>Key Features &amp; Technical Enhancements</a:t>
            </a:r>
            <a:endParaRPr lang="en-US" sz="2200" dirty="0">
              <a:solidFill>
                <a:srgbClr val="194178"/>
              </a:solidFill>
            </a:endParaRPr>
          </a:p>
        </p:txBody>
      </p:sp>
      <p:sp>
        <p:nvSpPr>
          <p:cNvPr id="3" name="Shape 1"/>
          <p:cNvSpPr/>
          <p:nvPr/>
        </p:nvSpPr>
        <p:spPr>
          <a:xfrm>
            <a:off x="1237786" y="1100921"/>
            <a:ext cx="2570678" cy="1965664"/>
          </a:xfrm>
          <a:prstGeom prst="roundRect">
            <a:avLst>
              <a:gd name="adj" fmla="val 1324"/>
            </a:avLst>
          </a:prstGeom>
          <a:solidFill>
            <a:srgbClr val="FBFAFF"/>
          </a:solidFill>
          <a:ln w="15240">
            <a:solidFill>
              <a:srgbClr val="D0CED9"/>
            </a:solidFill>
            <a:prstDash val="solid"/>
          </a:ln>
        </p:spPr>
        <p:txBody>
          <a:bodyPr/>
          <a:lstStyle/>
          <a:p>
            <a:r>
              <a:rPr lang="en-US" sz="2000" dirty="0">
                <a:solidFill>
                  <a:srgbClr val="006699"/>
                </a:solidFill>
              </a:rPr>
              <a:t>Adherence Monitoring</a:t>
            </a:r>
          </a:p>
          <a:p>
            <a:endParaRPr lang="en-US" sz="1200" dirty="0"/>
          </a:p>
          <a:p>
            <a:r>
              <a:rPr lang="en-US" sz="1350" dirty="0"/>
              <a:t>Implements a robust logic layer that aggregates intake logs. It computes metrics for taken, missed, and pending doses, calculating adherence percentage via a weighted algorithm stored in the user profile state.</a:t>
            </a:r>
            <a:endParaRPr lang="en-IN" sz="1350" dirty="0"/>
          </a:p>
        </p:txBody>
      </p:sp>
      <p:sp>
        <p:nvSpPr>
          <p:cNvPr id="4" name="Text 2"/>
          <p:cNvSpPr/>
          <p:nvPr/>
        </p:nvSpPr>
        <p:spPr>
          <a:xfrm>
            <a:off x="3531037" y="2419231"/>
            <a:ext cx="1657945" cy="177165"/>
          </a:xfrm>
          <a:prstGeom prst="rect">
            <a:avLst/>
          </a:prstGeom>
          <a:noFill/>
          <a:ln/>
        </p:spPr>
        <p:txBody>
          <a:bodyPr wrap="none" lIns="0" tIns="0" rIns="0" bIns="0" rtlCol="0" anchor="t"/>
          <a:lstStyle/>
          <a:p>
            <a:pPr marL="0" indent="0" algn="l">
              <a:lnSpc>
                <a:spcPts val="1350"/>
              </a:lnSpc>
              <a:buNone/>
            </a:pPr>
            <a:endParaRPr lang="en-US" sz="1100" dirty="0"/>
          </a:p>
        </p:txBody>
      </p:sp>
      <p:sp>
        <p:nvSpPr>
          <p:cNvPr id="5" name="Text 3"/>
          <p:cNvSpPr/>
          <p:nvPr/>
        </p:nvSpPr>
        <p:spPr>
          <a:xfrm>
            <a:off x="3531037" y="2630329"/>
            <a:ext cx="2313503" cy="816531"/>
          </a:xfrm>
          <a:prstGeom prst="rect">
            <a:avLst/>
          </a:prstGeom>
          <a:noFill/>
          <a:ln/>
        </p:spPr>
        <p:txBody>
          <a:bodyPr wrap="square" lIns="0" tIns="0" rIns="0" bIns="0" rtlCol="0" anchor="t"/>
          <a:lstStyle/>
          <a:p>
            <a:pPr marL="0" indent="0" algn="l">
              <a:lnSpc>
                <a:spcPts val="1050"/>
              </a:lnSpc>
              <a:buNone/>
            </a:pPr>
            <a:endParaRPr lang="en-US" sz="850" dirty="0"/>
          </a:p>
        </p:txBody>
      </p:sp>
      <p:sp>
        <p:nvSpPr>
          <p:cNvPr id="6" name="Shape 4"/>
          <p:cNvSpPr/>
          <p:nvPr/>
        </p:nvSpPr>
        <p:spPr>
          <a:xfrm>
            <a:off x="3993725" y="1100922"/>
            <a:ext cx="2820222" cy="1965664"/>
          </a:xfrm>
          <a:prstGeom prst="roundRect">
            <a:avLst>
              <a:gd name="adj" fmla="val 1324"/>
            </a:avLst>
          </a:prstGeom>
          <a:solidFill>
            <a:srgbClr val="FBFAFF"/>
          </a:solidFill>
          <a:ln w="15240">
            <a:solidFill>
              <a:srgbClr val="D0CED9"/>
            </a:solidFill>
            <a:prstDash val="solid"/>
          </a:ln>
        </p:spPr>
        <p:txBody>
          <a:bodyPr/>
          <a:lstStyle/>
          <a:p>
            <a:r>
              <a:rPr lang="en-US" sz="2000" dirty="0">
                <a:solidFill>
                  <a:srgbClr val="006699"/>
                </a:solidFill>
              </a:rPr>
              <a:t>Vitals Module</a:t>
            </a:r>
          </a:p>
          <a:p>
            <a:endParaRPr lang="en-US" sz="1200" dirty="0"/>
          </a:p>
          <a:p>
            <a:r>
              <a:rPr lang="en-US" sz="1300" dirty="0"/>
              <a:t>Uses a schema-validated model to ingest health metrics. The backend processes these against clinical thresholds to dynamically assign status classifications (NORMAL, ELEVATED, HIGH) using event-driven status updates.</a:t>
            </a:r>
            <a:endParaRPr lang="en-IN" sz="1300" dirty="0"/>
          </a:p>
        </p:txBody>
      </p:sp>
      <p:sp>
        <p:nvSpPr>
          <p:cNvPr id="7" name="Text 5"/>
          <p:cNvSpPr/>
          <p:nvPr/>
        </p:nvSpPr>
        <p:spPr>
          <a:xfrm>
            <a:off x="6158389" y="2419231"/>
            <a:ext cx="1417558" cy="177165"/>
          </a:xfrm>
          <a:prstGeom prst="rect">
            <a:avLst/>
          </a:prstGeom>
          <a:noFill/>
          <a:ln/>
        </p:spPr>
        <p:txBody>
          <a:bodyPr wrap="none" lIns="0" tIns="0" rIns="0" bIns="0" rtlCol="0" anchor="t"/>
          <a:lstStyle/>
          <a:p>
            <a:pPr marL="0" indent="0" algn="l">
              <a:lnSpc>
                <a:spcPts val="1350"/>
              </a:lnSpc>
              <a:buNone/>
            </a:pPr>
            <a:endParaRPr lang="en-US" sz="1100" dirty="0"/>
          </a:p>
        </p:txBody>
      </p:sp>
      <p:sp>
        <p:nvSpPr>
          <p:cNvPr id="8" name="Text 6"/>
          <p:cNvSpPr/>
          <p:nvPr/>
        </p:nvSpPr>
        <p:spPr>
          <a:xfrm>
            <a:off x="6158389" y="2630329"/>
            <a:ext cx="2313503" cy="816531"/>
          </a:xfrm>
          <a:prstGeom prst="rect">
            <a:avLst/>
          </a:prstGeom>
          <a:noFill/>
          <a:ln/>
        </p:spPr>
        <p:txBody>
          <a:bodyPr wrap="square" lIns="0" tIns="0" rIns="0" bIns="0" rtlCol="0" anchor="t"/>
          <a:lstStyle/>
          <a:p>
            <a:pPr marL="0" indent="0" algn="l">
              <a:lnSpc>
                <a:spcPts val="1050"/>
              </a:lnSpc>
              <a:buNone/>
            </a:pPr>
            <a:endParaRPr lang="en-US" sz="850" dirty="0"/>
          </a:p>
        </p:txBody>
      </p:sp>
      <p:sp>
        <p:nvSpPr>
          <p:cNvPr id="9" name="Shape 7"/>
          <p:cNvSpPr/>
          <p:nvPr/>
        </p:nvSpPr>
        <p:spPr>
          <a:xfrm>
            <a:off x="6999209" y="1123066"/>
            <a:ext cx="2936528" cy="1943520"/>
          </a:xfrm>
          <a:prstGeom prst="roundRect">
            <a:avLst>
              <a:gd name="adj" fmla="val 1324"/>
            </a:avLst>
          </a:prstGeom>
          <a:solidFill>
            <a:srgbClr val="FBFAFF"/>
          </a:solidFill>
          <a:ln w="15240">
            <a:solidFill>
              <a:srgbClr val="D0CED9"/>
            </a:solidFill>
            <a:prstDash val="solid"/>
          </a:ln>
        </p:spPr>
        <p:txBody>
          <a:bodyPr/>
          <a:lstStyle/>
          <a:p>
            <a:r>
              <a:rPr lang="en-US" sz="2000" dirty="0">
                <a:solidFill>
                  <a:srgbClr val="006699"/>
                </a:solidFill>
              </a:rPr>
              <a:t>Theme Persistence</a:t>
            </a:r>
          </a:p>
          <a:p>
            <a:endParaRPr lang="en-US" sz="1400" dirty="0"/>
          </a:p>
          <a:p>
            <a:r>
              <a:rPr lang="en-US" sz="1400" dirty="0"/>
              <a:t>Leverages Async Storage to synchronize user preference state across application sessions, coupled with a CSS-in-JS provider pattern that ensures theme-consistent rendering across web and mobile viewports.</a:t>
            </a:r>
            <a:endParaRPr lang="en-IN" sz="1400" dirty="0"/>
          </a:p>
        </p:txBody>
      </p:sp>
      <p:sp>
        <p:nvSpPr>
          <p:cNvPr id="10" name="Text 8"/>
          <p:cNvSpPr/>
          <p:nvPr/>
        </p:nvSpPr>
        <p:spPr>
          <a:xfrm>
            <a:off x="8785741" y="2419231"/>
            <a:ext cx="1417558" cy="177165"/>
          </a:xfrm>
          <a:prstGeom prst="rect">
            <a:avLst/>
          </a:prstGeom>
          <a:noFill/>
          <a:ln/>
        </p:spPr>
        <p:txBody>
          <a:bodyPr wrap="none" lIns="0" tIns="0" rIns="0" bIns="0" rtlCol="0" anchor="t"/>
          <a:lstStyle/>
          <a:p>
            <a:pPr marL="0" indent="0" algn="l">
              <a:lnSpc>
                <a:spcPts val="1350"/>
              </a:lnSpc>
              <a:buNone/>
            </a:pPr>
            <a:endParaRPr lang="en-US" sz="1100" dirty="0"/>
          </a:p>
        </p:txBody>
      </p:sp>
      <p:sp>
        <p:nvSpPr>
          <p:cNvPr id="11" name="Text 9"/>
          <p:cNvSpPr/>
          <p:nvPr/>
        </p:nvSpPr>
        <p:spPr>
          <a:xfrm>
            <a:off x="8785741" y="2630329"/>
            <a:ext cx="2313623" cy="816531"/>
          </a:xfrm>
          <a:prstGeom prst="rect">
            <a:avLst/>
          </a:prstGeom>
          <a:noFill/>
          <a:ln/>
        </p:spPr>
        <p:txBody>
          <a:bodyPr wrap="square" lIns="0" tIns="0" rIns="0" bIns="0" rtlCol="0" anchor="t"/>
          <a:lstStyle/>
          <a:p>
            <a:pPr marL="0" indent="0" algn="l">
              <a:lnSpc>
                <a:spcPts val="1050"/>
              </a:lnSpc>
              <a:buNone/>
            </a:pPr>
            <a:endParaRPr lang="en-US" sz="850" dirty="0"/>
          </a:p>
        </p:txBody>
      </p:sp>
      <p:sp>
        <p:nvSpPr>
          <p:cNvPr id="12" name="Text 10"/>
          <p:cNvSpPr/>
          <p:nvPr/>
        </p:nvSpPr>
        <p:spPr>
          <a:xfrm>
            <a:off x="975479" y="3273028"/>
            <a:ext cx="2548057" cy="395724"/>
          </a:xfrm>
          <a:prstGeom prst="rect">
            <a:avLst/>
          </a:prstGeom>
          <a:noFill/>
          <a:ln/>
        </p:spPr>
        <p:txBody>
          <a:bodyPr wrap="none" lIns="0" tIns="0" rIns="0" bIns="0" rtlCol="0" anchor="t"/>
          <a:lstStyle/>
          <a:p>
            <a:pPr marL="0" indent="0" algn="l">
              <a:lnSpc>
                <a:spcPts val="2200"/>
              </a:lnSpc>
              <a:buNone/>
            </a:pPr>
            <a:r>
              <a:rPr lang="en-US" sz="1750" dirty="0">
                <a:solidFill>
                  <a:srgbClr val="194178"/>
                </a:solidFill>
                <a:latin typeface="Libre Baskerville" pitchFamily="34" charset="0"/>
                <a:ea typeface="Libre Baskerville" pitchFamily="34" charset="-122"/>
                <a:cs typeface="Libre Baskerville" pitchFamily="34" charset="-120"/>
              </a:rPr>
              <a:t>Core API Architecture</a:t>
            </a:r>
            <a:endParaRPr lang="en-US" sz="1750" dirty="0">
              <a:solidFill>
                <a:srgbClr val="194178"/>
              </a:solidFill>
            </a:endParaRPr>
          </a:p>
        </p:txBody>
      </p:sp>
      <p:sp>
        <p:nvSpPr>
          <p:cNvPr id="13" name="Text 11"/>
          <p:cNvSpPr/>
          <p:nvPr/>
        </p:nvSpPr>
        <p:spPr>
          <a:xfrm>
            <a:off x="1237785" y="3653303"/>
            <a:ext cx="9990165" cy="1397067"/>
          </a:xfrm>
          <a:prstGeom prst="rect">
            <a:avLst/>
          </a:prstGeom>
          <a:noFill/>
          <a:ln/>
        </p:spPr>
        <p:txBody>
          <a:bodyPr wrap="none" lIns="0" tIns="0" rIns="0" bIns="0" rtlCol="0" anchor="t"/>
          <a:lstStyle/>
          <a:p>
            <a:r>
              <a:rPr lang="en-US" sz="1500" dirty="0">
                <a:solidFill>
                  <a:schemeClr val="tx1">
                    <a:lumMod val="95000"/>
                    <a:lumOff val="5000"/>
                  </a:schemeClr>
                </a:solidFill>
              </a:rPr>
              <a:t>• The system follows a </a:t>
            </a:r>
            <a:r>
              <a:rPr lang="en-US" sz="1500" b="1" dirty="0">
                <a:solidFill>
                  <a:schemeClr val="tx1">
                    <a:lumMod val="95000"/>
                    <a:lumOff val="5000"/>
                  </a:schemeClr>
                </a:solidFill>
              </a:rPr>
              <a:t>RESTful API architecture</a:t>
            </a:r>
            <a:r>
              <a:rPr lang="en-US" sz="1500" dirty="0">
                <a:solidFill>
                  <a:schemeClr val="tx1">
                    <a:lumMod val="95000"/>
                    <a:lumOff val="5000"/>
                  </a:schemeClr>
                </a:solidFill>
              </a:rPr>
              <a:t> to enable communication between the frontend and backend components.</a:t>
            </a:r>
          </a:p>
          <a:p>
            <a:r>
              <a:rPr lang="en-US" sz="1500" dirty="0">
                <a:solidFill>
                  <a:schemeClr val="tx1">
                    <a:lumMod val="95000"/>
                    <a:lumOff val="5000"/>
                  </a:schemeClr>
                </a:solidFill>
              </a:rPr>
              <a:t>• The </a:t>
            </a:r>
            <a:r>
              <a:rPr lang="en-US" sz="1500" b="1" dirty="0">
                <a:solidFill>
                  <a:schemeClr val="tx1">
                    <a:lumMod val="95000"/>
                    <a:lumOff val="5000"/>
                  </a:schemeClr>
                </a:solidFill>
              </a:rPr>
              <a:t>Controller layer</a:t>
            </a:r>
            <a:r>
              <a:rPr lang="en-US" sz="1500" dirty="0">
                <a:solidFill>
                  <a:schemeClr val="tx1">
                    <a:lumMod val="95000"/>
                    <a:lumOff val="5000"/>
                  </a:schemeClr>
                </a:solidFill>
              </a:rPr>
              <a:t> receives requests from the client application and forwards them to the appropriate services.</a:t>
            </a:r>
          </a:p>
          <a:p>
            <a:r>
              <a:rPr lang="en-US" sz="1500" dirty="0">
                <a:solidFill>
                  <a:schemeClr val="tx1">
                    <a:lumMod val="95000"/>
                    <a:lumOff val="5000"/>
                  </a:schemeClr>
                </a:solidFill>
              </a:rPr>
              <a:t>• The </a:t>
            </a:r>
            <a:r>
              <a:rPr lang="en-US" sz="1500" b="1" dirty="0">
                <a:solidFill>
                  <a:schemeClr val="tx1">
                    <a:lumMod val="95000"/>
                    <a:lumOff val="5000"/>
                  </a:schemeClr>
                </a:solidFill>
              </a:rPr>
              <a:t>Service layer</a:t>
            </a:r>
            <a:r>
              <a:rPr lang="en-US" sz="1500" dirty="0">
                <a:solidFill>
                  <a:schemeClr val="tx1">
                    <a:lumMod val="95000"/>
                    <a:lumOff val="5000"/>
                  </a:schemeClr>
                </a:solidFill>
              </a:rPr>
              <a:t> processes the business logic such as medication scheduling, prescription storage, and reminder generation.</a:t>
            </a:r>
          </a:p>
          <a:p>
            <a:r>
              <a:rPr lang="en-US" sz="1500" dirty="0">
                <a:solidFill>
                  <a:schemeClr val="tx1">
                    <a:lumMod val="95000"/>
                    <a:lumOff val="5000"/>
                  </a:schemeClr>
                </a:solidFill>
              </a:rPr>
              <a:t>• The </a:t>
            </a:r>
            <a:r>
              <a:rPr lang="en-US" sz="1500" b="1" dirty="0">
                <a:solidFill>
                  <a:schemeClr val="tx1">
                    <a:lumMod val="95000"/>
                    <a:lumOff val="5000"/>
                  </a:schemeClr>
                </a:solidFill>
              </a:rPr>
              <a:t>Repository layer</a:t>
            </a:r>
            <a:r>
              <a:rPr lang="en-US" sz="1500" dirty="0">
                <a:solidFill>
                  <a:schemeClr val="tx1">
                    <a:lumMod val="95000"/>
                    <a:lumOff val="5000"/>
                  </a:schemeClr>
                </a:solidFill>
              </a:rPr>
              <a:t> interacts with the database to store and retrieve patient, medication, and prescription data.</a:t>
            </a:r>
          </a:p>
          <a:p>
            <a:r>
              <a:rPr lang="en-US" sz="1500" dirty="0">
                <a:solidFill>
                  <a:schemeClr val="tx1">
                    <a:lumMod val="95000"/>
                    <a:lumOff val="5000"/>
                  </a:schemeClr>
                </a:solidFill>
              </a:rPr>
              <a:t>• The APIs ensure </a:t>
            </a:r>
            <a:r>
              <a:rPr lang="en-US" sz="1500" b="1" dirty="0">
                <a:solidFill>
                  <a:schemeClr val="tx1">
                    <a:lumMod val="95000"/>
                    <a:lumOff val="5000"/>
                  </a:schemeClr>
                </a:solidFill>
              </a:rPr>
              <a:t>secure and efficient data exchange</a:t>
            </a:r>
            <a:r>
              <a:rPr lang="en-US" sz="1500" dirty="0">
                <a:solidFill>
                  <a:schemeClr val="tx1">
                    <a:lumMod val="95000"/>
                    <a:lumOff val="5000"/>
                  </a:schemeClr>
                </a:solidFill>
              </a:rPr>
              <a:t> between users and the system.</a:t>
            </a:r>
          </a:p>
          <a:p>
            <a:r>
              <a:rPr lang="en-US" sz="1500" dirty="0">
                <a:solidFill>
                  <a:schemeClr val="tx1">
                    <a:lumMod val="95000"/>
                    <a:lumOff val="5000"/>
                  </a:schemeClr>
                </a:solidFill>
              </a:rPr>
              <a:t>• The architecture improves </a:t>
            </a:r>
            <a:r>
              <a:rPr lang="en-US" sz="1500" b="1" dirty="0">
                <a:solidFill>
                  <a:schemeClr val="tx1">
                    <a:lumMod val="95000"/>
                    <a:lumOff val="5000"/>
                  </a:schemeClr>
                </a:solidFill>
              </a:rPr>
              <a:t>scalability, maintainability, and modular development</a:t>
            </a:r>
            <a:r>
              <a:rPr lang="en-US" sz="1500" dirty="0">
                <a:solidFill>
                  <a:schemeClr val="tx1">
                    <a:lumMod val="95000"/>
                    <a:lumOff val="5000"/>
                  </a:schemeClr>
                </a:solidFill>
              </a:rPr>
              <a:t> of the application.</a:t>
            </a:r>
          </a:p>
        </p:txBody>
      </p:sp>
      <p:sp>
        <p:nvSpPr>
          <p:cNvPr id="24" name="Text 22"/>
          <p:cNvSpPr/>
          <p:nvPr/>
        </p:nvSpPr>
        <p:spPr>
          <a:xfrm>
            <a:off x="975480" y="5174165"/>
            <a:ext cx="3261984" cy="462921"/>
          </a:xfrm>
          <a:prstGeom prst="rect">
            <a:avLst/>
          </a:prstGeom>
          <a:noFill/>
          <a:ln/>
        </p:spPr>
        <p:txBody>
          <a:bodyPr wrap="none" lIns="0" tIns="0" rIns="0" bIns="0" rtlCol="0" anchor="t"/>
          <a:lstStyle/>
          <a:p>
            <a:pPr marL="0" indent="0" algn="l">
              <a:lnSpc>
                <a:spcPts val="2200"/>
              </a:lnSpc>
              <a:buNone/>
            </a:pPr>
            <a:r>
              <a:rPr lang="en-US" sz="1750" dirty="0">
                <a:solidFill>
                  <a:srgbClr val="194178"/>
                </a:solidFill>
                <a:latin typeface="Libre Baskerville" pitchFamily="34" charset="0"/>
                <a:ea typeface="Libre Baskerville" pitchFamily="34" charset="-122"/>
                <a:cs typeface="Libre Baskerville" pitchFamily="34" charset="-120"/>
              </a:rPr>
              <a:t>Future Technical Roadmap</a:t>
            </a:r>
            <a:endParaRPr lang="en-US" sz="1750" dirty="0">
              <a:solidFill>
                <a:srgbClr val="194178"/>
              </a:solidFill>
            </a:endParaRPr>
          </a:p>
        </p:txBody>
      </p:sp>
      <p:sp>
        <p:nvSpPr>
          <p:cNvPr id="25" name="Text 23"/>
          <p:cNvSpPr/>
          <p:nvPr/>
        </p:nvSpPr>
        <p:spPr>
          <a:xfrm>
            <a:off x="1237786" y="5660521"/>
            <a:ext cx="6735336" cy="1862254"/>
          </a:xfrm>
          <a:prstGeom prst="rect">
            <a:avLst/>
          </a:prstGeom>
          <a:noFill/>
          <a:ln/>
        </p:spPr>
        <p:txBody>
          <a:bodyPr wrap="square" lIns="0" tIns="0" rIns="0" bIns="0" rtlCol="0" anchor="t"/>
          <a:lstStyle/>
          <a:p>
            <a:r>
              <a:rPr lang="en-US" sz="1500" b="1" dirty="0">
                <a:solidFill>
                  <a:srgbClr val="006699"/>
                </a:solidFill>
              </a:rPr>
              <a:t>Push Notifications</a:t>
            </a:r>
            <a:br>
              <a:rPr lang="en-US" sz="1500" dirty="0"/>
            </a:br>
            <a:r>
              <a:rPr lang="en-US" sz="1500" dirty="0"/>
              <a:t>Integration with Firebase Cloud Messaging (FCM) to send medication reminders and alerts.</a:t>
            </a:r>
          </a:p>
          <a:p>
            <a:r>
              <a:rPr lang="en-US" sz="1500" b="1" dirty="0">
                <a:solidFill>
                  <a:srgbClr val="006699"/>
                </a:solidFill>
              </a:rPr>
              <a:t>Live Updates</a:t>
            </a:r>
            <a:br>
              <a:rPr lang="en-US" sz="1500" dirty="0"/>
            </a:br>
            <a:r>
              <a:rPr lang="en-US" sz="1500" dirty="0"/>
              <a:t>Web Sockets enable real-time communication for instant dashboard updates.</a:t>
            </a:r>
          </a:p>
          <a:p>
            <a:r>
              <a:rPr lang="en-US" sz="1500" b="1" dirty="0">
                <a:solidFill>
                  <a:srgbClr val="006699"/>
                </a:solidFill>
              </a:rPr>
              <a:t>Cloud Storage</a:t>
            </a:r>
            <a:br>
              <a:rPr lang="en-US" sz="1500" dirty="0"/>
            </a:br>
            <a:r>
              <a:rPr lang="en-US" sz="1500" dirty="0"/>
              <a:t>Secure storage of prescriptions and reports using S3-compatible cloud services.</a:t>
            </a:r>
          </a:p>
          <a:p>
            <a:r>
              <a:rPr lang="en-US" sz="1500" b="1" dirty="0">
                <a:solidFill>
                  <a:srgbClr val="006699"/>
                </a:solidFill>
              </a:rPr>
              <a:t>Calendar Integration</a:t>
            </a:r>
            <a:br>
              <a:rPr lang="en-US" sz="1500" dirty="0"/>
            </a:br>
            <a:r>
              <a:rPr lang="en-US" sz="1500" dirty="0"/>
              <a:t>Appointment scheduling synchronized with external calendars using iCal standards.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79383" y="634603"/>
            <a:ext cx="13071634" cy="1391841"/>
          </a:xfrm>
          <a:prstGeom prst="rect">
            <a:avLst/>
          </a:prstGeom>
          <a:noFill/>
          <a:ln/>
        </p:spPr>
        <p:txBody>
          <a:bodyPr wrap="square" lIns="0" tIns="0" rIns="0" bIns="0" rtlCol="0" anchor="t"/>
          <a:lstStyle/>
          <a:p>
            <a:pPr marL="0" indent="0" algn="l">
              <a:lnSpc>
                <a:spcPts val="5450"/>
              </a:lnSpc>
              <a:buNone/>
            </a:pPr>
            <a:r>
              <a:rPr lang="en-US" sz="4350" dirty="0">
                <a:solidFill>
                  <a:srgbClr val="194178"/>
                </a:solidFill>
                <a:latin typeface="Libre Baskerville" pitchFamily="34" charset="0"/>
                <a:ea typeface="Libre Baskerville" pitchFamily="34" charset="-122"/>
                <a:cs typeface="Libre Baskerville" pitchFamily="34" charset="-120"/>
              </a:rPr>
              <a:t>Conclusion: Empowering Healthcare with MedLink</a:t>
            </a:r>
            <a:endParaRPr lang="en-US" sz="4350" dirty="0">
              <a:solidFill>
                <a:srgbClr val="194178"/>
              </a:solidFill>
            </a:endParaRPr>
          </a:p>
        </p:txBody>
      </p:sp>
      <p:sp>
        <p:nvSpPr>
          <p:cNvPr id="3" name="Text 1"/>
          <p:cNvSpPr/>
          <p:nvPr/>
        </p:nvSpPr>
        <p:spPr>
          <a:xfrm>
            <a:off x="779383" y="2245043"/>
            <a:ext cx="13071634" cy="924402"/>
          </a:xfrm>
          <a:prstGeom prst="rect">
            <a:avLst/>
          </a:prstGeom>
          <a:noFill/>
          <a:ln/>
        </p:spPr>
        <p:txBody>
          <a:bodyPr wrap="square" lIns="0" tIns="0" rIns="0" bIns="0" rtlCol="0" anchor="t"/>
          <a:lstStyle/>
          <a:p>
            <a:pPr marL="0" indent="0" algn="l">
              <a:lnSpc>
                <a:spcPts val="2750"/>
              </a:lnSpc>
              <a:buNone/>
            </a:pPr>
            <a:r>
              <a:rPr lang="en-US" sz="1750" dirty="0">
                <a:latin typeface="Open Sans" pitchFamily="34" charset="0"/>
                <a:ea typeface="Open Sans" pitchFamily="34" charset="-122"/>
                <a:cs typeface="Open Sans" pitchFamily="34" charset="-120"/>
              </a:rPr>
              <a:t>MedLink represents a significant step forward in digital healthcare, delivering a comprehensive platform designed to improve patient outcomes and streamline medical practice.</a:t>
            </a:r>
            <a:endParaRPr lang="en-US" sz="1750" dirty="0"/>
          </a:p>
        </p:txBody>
      </p:sp>
      <p:sp>
        <p:nvSpPr>
          <p:cNvPr id="4" name="Shape 2"/>
          <p:cNvSpPr/>
          <p:nvPr/>
        </p:nvSpPr>
        <p:spPr>
          <a:xfrm>
            <a:off x="779383" y="3415427"/>
            <a:ext cx="4211479" cy="2683788"/>
          </a:xfrm>
          <a:prstGeom prst="roundRect">
            <a:avLst>
              <a:gd name="adj" fmla="val 1245"/>
            </a:avLst>
          </a:prstGeom>
          <a:solidFill>
            <a:srgbClr val="EAE8F3"/>
          </a:solidFill>
          <a:ln/>
        </p:spPr>
        <p:txBody>
          <a:bodyPr/>
          <a:lstStyle/>
          <a:p>
            <a:endParaRPr lang="en-IN"/>
          </a:p>
        </p:txBody>
      </p:sp>
      <p:sp>
        <p:nvSpPr>
          <p:cNvPr id="5" name="Text 3"/>
          <p:cNvSpPr/>
          <p:nvPr/>
        </p:nvSpPr>
        <p:spPr>
          <a:xfrm>
            <a:off x="1002030" y="3638074"/>
            <a:ext cx="3766185" cy="695801"/>
          </a:xfrm>
          <a:prstGeom prst="rect">
            <a:avLst/>
          </a:prstGeom>
          <a:noFill/>
          <a:ln/>
        </p:spPr>
        <p:txBody>
          <a:bodyPr wrap="square" lIns="0" tIns="0" rIns="0" bIns="0" rtlCol="0" anchor="t"/>
          <a:lstStyle/>
          <a:p>
            <a:pPr marL="0" indent="0" algn="l">
              <a:lnSpc>
                <a:spcPts val="2700"/>
              </a:lnSpc>
              <a:buNone/>
            </a:pPr>
            <a:r>
              <a:rPr lang="en-US" sz="2150" dirty="0">
                <a:solidFill>
                  <a:srgbClr val="006699"/>
                </a:solidFill>
                <a:latin typeface="Libre Baskerville" pitchFamily="34" charset="0"/>
                <a:ea typeface="Libre Baskerville" pitchFamily="34" charset="-122"/>
                <a:cs typeface="Libre Baskerville" pitchFamily="34" charset="-120"/>
              </a:rPr>
              <a:t>Enhanced Patient Adherence</a:t>
            </a:r>
            <a:endParaRPr lang="en-US" sz="2150" dirty="0">
              <a:solidFill>
                <a:srgbClr val="006699"/>
              </a:solidFill>
            </a:endParaRPr>
          </a:p>
        </p:txBody>
      </p:sp>
      <p:sp>
        <p:nvSpPr>
          <p:cNvPr id="6" name="Text 4"/>
          <p:cNvSpPr/>
          <p:nvPr/>
        </p:nvSpPr>
        <p:spPr>
          <a:xfrm>
            <a:off x="1002030" y="4464963"/>
            <a:ext cx="3766185" cy="1411605"/>
          </a:xfrm>
          <a:prstGeom prst="rect">
            <a:avLst/>
          </a:prstGeom>
          <a:noFill/>
          <a:ln/>
        </p:spPr>
        <p:txBody>
          <a:bodyPr wrap="square" lIns="0" tIns="0" rIns="0" bIns="0" rtlCol="0" anchor="t"/>
          <a:lstStyle/>
          <a:p>
            <a:pPr marL="0" indent="0" algn="l">
              <a:lnSpc>
                <a:spcPts val="2750"/>
              </a:lnSpc>
              <a:buNone/>
            </a:pPr>
            <a:r>
              <a:rPr lang="en-US" sz="1750" dirty="0">
                <a:latin typeface="Open Sans" pitchFamily="34" charset="0"/>
                <a:ea typeface="Open Sans" pitchFamily="34" charset="-122"/>
                <a:cs typeface="Open Sans" pitchFamily="34" charset="-120"/>
              </a:rPr>
              <a:t>Intuitive medication scheduling and timely reminders drive consistent intake, directly impacting patient health.</a:t>
            </a:r>
            <a:endParaRPr lang="en-US" sz="1750" dirty="0"/>
          </a:p>
        </p:txBody>
      </p:sp>
      <p:sp>
        <p:nvSpPr>
          <p:cNvPr id="7" name="Shape 5"/>
          <p:cNvSpPr/>
          <p:nvPr/>
        </p:nvSpPr>
        <p:spPr>
          <a:xfrm>
            <a:off x="5209461" y="3415427"/>
            <a:ext cx="4211479" cy="2683788"/>
          </a:xfrm>
          <a:prstGeom prst="roundRect">
            <a:avLst>
              <a:gd name="adj" fmla="val 1245"/>
            </a:avLst>
          </a:prstGeom>
          <a:solidFill>
            <a:srgbClr val="EAE8F3"/>
          </a:solidFill>
          <a:ln/>
        </p:spPr>
        <p:txBody>
          <a:bodyPr/>
          <a:lstStyle/>
          <a:p>
            <a:endParaRPr lang="en-IN"/>
          </a:p>
        </p:txBody>
      </p:sp>
      <p:sp>
        <p:nvSpPr>
          <p:cNvPr id="8" name="Text 6"/>
          <p:cNvSpPr/>
          <p:nvPr/>
        </p:nvSpPr>
        <p:spPr>
          <a:xfrm>
            <a:off x="5432108" y="3638074"/>
            <a:ext cx="3766185" cy="695801"/>
          </a:xfrm>
          <a:prstGeom prst="rect">
            <a:avLst/>
          </a:prstGeom>
          <a:noFill/>
          <a:ln/>
        </p:spPr>
        <p:txBody>
          <a:bodyPr wrap="square" lIns="0" tIns="0" rIns="0" bIns="0" rtlCol="0" anchor="t"/>
          <a:lstStyle/>
          <a:p>
            <a:pPr marL="0" indent="0" algn="l">
              <a:lnSpc>
                <a:spcPts val="2700"/>
              </a:lnSpc>
              <a:buNone/>
            </a:pPr>
            <a:r>
              <a:rPr lang="en-US" sz="2150" dirty="0">
                <a:solidFill>
                  <a:srgbClr val="006699"/>
                </a:solidFill>
                <a:latin typeface="Libre Baskerville" pitchFamily="34" charset="0"/>
                <a:ea typeface="Libre Baskerville" pitchFamily="34" charset="-122"/>
                <a:cs typeface="Libre Baskerville" pitchFamily="34" charset="-120"/>
              </a:rPr>
              <a:t>Efficient Doctor Workflow</a:t>
            </a:r>
            <a:endParaRPr lang="en-US" sz="2150" dirty="0">
              <a:solidFill>
                <a:srgbClr val="006699"/>
              </a:solidFill>
            </a:endParaRPr>
          </a:p>
        </p:txBody>
      </p:sp>
      <p:sp>
        <p:nvSpPr>
          <p:cNvPr id="9" name="Text 7"/>
          <p:cNvSpPr/>
          <p:nvPr/>
        </p:nvSpPr>
        <p:spPr>
          <a:xfrm>
            <a:off x="5432108" y="4464963"/>
            <a:ext cx="3766185" cy="1411605"/>
          </a:xfrm>
          <a:prstGeom prst="rect">
            <a:avLst/>
          </a:prstGeom>
          <a:noFill/>
          <a:ln/>
        </p:spPr>
        <p:txBody>
          <a:bodyPr wrap="square" lIns="0" tIns="0" rIns="0" bIns="0" rtlCol="0" anchor="t"/>
          <a:lstStyle/>
          <a:p>
            <a:pPr marL="0" indent="0" algn="l">
              <a:lnSpc>
                <a:spcPts val="2750"/>
              </a:lnSpc>
              <a:buNone/>
            </a:pPr>
            <a:r>
              <a:rPr lang="en-US" sz="1750" dirty="0">
                <a:latin typeface="Open Sans" pitchFamily="34" charset="0"/>
                <a:ea typeface="Open Sans" pitchFamily="34" charset="-122"/>
                <a:cs typeface="Open Sans" pitchFamily="34" charset="-120"/>
              </a:rPr>
              <a:t>From patient management to prescription generation, doctors benefit from a centralised, easy-to-use system.</a:t>
            </a:r>
            <a:endParaRPr lang="en-US" sz="1750" dirty="0"/>
          </a:p>
        </p:txBody>
      </p:sp>
      <p:sp>
        <p:nvSpPr>
          <p:cNvPr id="10" name="Shape 8"/>
          <p:cNvSpPr/>
          <p:nvPr/>
        </p:nvSpPr>
        <p:spPr>
          <a:xfrm>
            <a:off x="9639538" y="3415427"/>
            <a:ext cx="4211479" cy="2683788"/>
          </a:xfrm>
          <a:prstGeom prst="roundRect">
            <a:avLst>
              <a:gd name="adj" fmla="val 1245"/>
            </a:avLst>
          </a:prstGeom>
          <a:solidFill>
            <a:srgbClr val="EAE8F3"/>
          </a:solidFill>
          <a:ln/>
        </p:spPr>
        <p:txBody>
          <a:bodyPr/>
          <a:lstStyle/>
          <a:p>
            <a:endParaRPr lang="en-IN"/>
          </a:p>
        </p:txBody>
      </p:sp>
      <p:sp>
        <p:nvSpPr>
          <p:cNvPr id="11" name="Text 9"/>
          <p:cNvSpPr/>
          <p:nvPr/>
        </p:nvSpPr>
        <p:spPr>
          <a:xfrm>
            <a:off x="9862185" y="3638074"/>
            <a:ext cx="3766185" cy="695801"/>
          </a:xfrm>
          <a:prstGeom prst="rect">
            <a:avLst/>
          </a:prstGeom>
          <a:noFill/>
          <a:ln/>
        </p:spPr>
        <p:txBody>
          <a:bodyPr wrap="square" lIns="0" tIns="0" rIns="0" bIns="0" rtlCol="0" anchor="t"/>
          <a:lstStyle/>
          <a:p>
            <a:pPr marL="0" indent="0" algn="l">
              <a:lnSpc>
                <a:spcPts val="2700"/>
              </a:lnSpc>
              <a:buNone/>
            </a:pPr>
            <a:r>
              <a:rPr lang="en-US" sz="2150" dirty="0">
                <a:solidFill>
                  <a:srgbClr val="006699"/>
                </a:solidFill>
                <a:latin typeface="Libre Baskerville" pitchFamily="34" charset="0"/>
                <a:ea typeface="Libre Baskerville" pitchFamily="34" charset="-122"/>
                <a:cs typeface="Libre Baskerville" pitchFamily="34" charset="-120"/>
              </a:rPr>
              <a:t>Robust Security &amp; Data Privacy</a:t>
            </a:r>
            <a:endParaRPr lang="en-US" sz="2150" dirty="0">
              <a:solidFill>
                <a:srgbClr val="006699"/>
              </a:solidFill>
            </a:endParaRPr>
          </a:p>
        </p:txBody>
      </p:sp>
      <p:sp>
        <p:nvSpPr>
          <p:cNvPr id="12" name="Text 10"/>
          <p:cNvSpPr/>
          <p:nvPr/>
        </p:nvSpPr>
        <p:spPr>
          <a:xfrm>
            <a:off x="9862185" y="4464963"/>
            <a:ext cx="3766185" cy="1058704"/>
          </a:xfrm>
          <a:prstGeom prst="rect">
            <a:avLst/>
          </a:prstGeom>
          <a:noFill/>
          <a:ln/>
        </p:spPr>
        <p:txBody>
          <a:bodyPr wrap="square" lIns="0" tIns="0" rIns="0" bIns="0" rtlCol="0" anchor="t"/>
          <a:lstStyle/>
          <a:p>
            <a:pPr marL="0" indent="0" algn="l">
              <a:lnSpc>
                <a:spcPts val="2750"/>
              </a:lnSpc>
              <a:buNone/>
            </a:pPr>
            <a:r>
              <a:rPr lang="en-US" sz="1750" dirty="0">
                <a:latin typeface="Open Sans" pitchFamily="34" charset="0"/>
                <a:ea typeface="Open Sans" pitchFamily="34" charset="-122"/>
                <a:cs typeface="Open Sans" pitchFamily="34" charset="-120"/>
              </a:rPr>
              <a:t>JWT authentication and role-based access ensure sensitive patient data remains secure and protected.</a:t>
            </a:r>
            <a:endParaRPr lang="en-US" sz="1750" dirty="0"/>
          </a:p>
        </p:txBody>
      </p:sp>
      <p:sp>
        <p:nvSpPr>
          <p:cNvPr id="13" name="Shape 11"/>
          <p:cNvSpPr/>
          <p:nvPr/>
        </p:nvSpPr>
        <p:spPr>
          <a:xfrm>
            <a:off x="779383" y="6317813"/>
            <a:ext cx="13071634" cy="1277183"/>
          </a:xfrm>
          <a:prstGeom prst="roundRect">
            <a:avLst>
              <a:gd name="adj" fmla="val 2616"/>
            </a:avLst>
          </a:prstGeom>
          <a:solidFill>
            <a:srgbClr val="EAE8F3"/>
          </a:solidFill>
          <a:ln/>
        </p:spPr>
        <p:txBody>
          <a:bodyPr/>
          <a:lstStyle/>
          <a:p>
            <a:endParaRPr lang="en-IN"/>
          </a:p>
        </p:txBody>
      </p:sp>
      <p:sp>
        <p:nvSpPr>
          <p:cNvPr id="14" name="Text 12"/>
          <p:cNvSpPr/>
          <p:nvPr/>
        </p:nvSpPr>
        <p:spPr>
          <a:xfrm>
            <a:off x="1002030" y="6540460"/>
            <a:ext cx="4555808" cy="347901"/>
          </a:xfrm>
          <a:prstGeom prst="rect">
            <a:avLst/>
          </a:prstGeom>
          <a:noFill/>
          <a:ln/>
        </p:spPr>
        <p:txBody>
          <a:bodyPr wrap="none" lIns="0" tIns="0" rIns="0" bIns="0" rtlCol="0" anchor="t"/>
          <a:lstStyle/>
          <a:p>
            <a:pPr marL="0" indent="0" algn="l">
              <a:lnSpc>
                <a:spcPts val="2700"/>
              </a:lnSpc>
              <a:buNone/>
            </a:pPr>
            <a:r>
              <a:rPr lang="en-US" sz="2150" dirty="0">
                <a:solidFill>
                  <a:srgbClr val="006699"/>
                </a:solidFill>
                <a:latin typeface="Libre Baskerville" pitchFamily="34" charset="0"/>
                <a:ea typeface="Libre Baskerville" pitchFamily="34" charset="-122"/>
                <a:cs typeface="Libre Baskerville" pitchFamily="34" charset="-120"/>
              </a:rPr>
              <a:t>Scalable &amp; Modern Architecture</a:t>
            </a:r>
            <a:endParaRPr lang="en-US" sz="2150" dirty="0">
              <a:solidFill>
                <a:srgbClr val="006699"/>
              </a:solidFill>
            </a:endParaRPr>
          </a:p>
        </p:txBody>
      </p:sp>
      <p:sp>
        <p:nvSpPr>
          <p:cNvPr id="15" name="Text 13"/>
          <p:cNvSpPr/>
          <p:nvPr/>
        </p:nvSpPr>
        <p:spPr>
          <a:xfrm>
            <a:off x="1002030" y="7019449"/>
            <a:ext cx="12626340" cy="352901"/>
          </a:xfrm>
          <a:prstGeom prst="rect">
            <a:avLst/>
          </a:prstGeom>
          <a:noFill/>
          <a:ln/>
        </p:spPr>
        <p:txBody>
          <a:bodyPr wrap="none" lIns="0" tIns="0" rIns="0" bIns="0" rtlCol="0" anchor="t"/>
          <a:lstStyle/>
          <a:p>
            <a:pPr marL="0" indent="0" algn="l">
              <a:lnSpc>
                <a:spcPts val="2750"/>
              </a:lnSpc>
              <a:buNone/>
            </a:pPr>
            <a:r>
              <a:rPr lang="en-US" sz="1750" dirty="0">
                <a:latin typeface="Open Sans" pitchFamily="34" charset="0"/>
                <a:ea typeface="Open Sans" pitchFamily="34" charset="-122"/>
                <a:cs typeface="Open Sans" pitchFamily="34" charset="-120"/>
              </a:rPr>
              <a:t>Built with Spring Boot, MongoDB, and React Native, MedLink is future-proof and ready for continuous enhancement.</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02005"/>
            <a:ext cx="7371874" cy="708779"/>
          </a:xfrm>
          <a:prstGeom prst="rect">
            <a:avLst/>
          </a:prstGeom>
          <a:noFill/>
          <a:ln/>
        </p:spPr>
        <p:txBody>
          <a:bodyPr wrap="none" lIns="0" tIns="0" rIns="0" bIns="0" rtlCol="0" anchor="t"/>
          <a:lstStyle/>
          <a:p>
            <a:pPr marL="0" indent="0" algn="l">
              <a:lnSpc>
                <a:spcPts val="5550"/>
              </a:lnSpc>
              <a:buNone/>
            </a:pPr>
            <a:r>
              <a:rPr lang="en-US" sz="4450" dirty="0">
                <a:solidFill>
                  <a:srgbClr val="194178"/>
                </a:solidFill>
                <a:latin typeface="Libre Baskerville" pitchFamily="34" charset="0"/>
                <a:ea typeface="Libre Baskerville" pitchFamily="34" charset="-122"/>
                <a:cs typeface="Libre Baskerville" pitchFamily="34" charset="-120"/>
              </a:rPr>
              <a:t>Thank You for Your Time</a:t>
            </a:r>
            <a:endParaRPr lang="en-US" sz="4450" dirty="0">
              <a:solidFill>
                <a:srgbClr val="194178"/>
              </a:solidFill>
            </a:endParaRPr>
          </a:p>
        </p:txBody>
      </p:sp>
      <p:sp>
        <p:nvSpPr>
          <p:cNvPr id="3" name="Text 1"/>
          <p:cNvSpPr/>
          <p:nvPr/>
        </p:nvSpPr>
        <p:spPr>
          <a:xfrm>
            <a:off x="793790" y="1765935"/>
            <a:ext cx="13042821" cy="462081"/>
          </a:xfrm>
          <a:prstGeom prst="rect">
            <a:avLst/>
          </a:prstGeom>
          <a:noFill/>
          <a:ln/>
        </p:spPr>
        <p:txBody>
          <a:bodyPr wrap="none" lIns="0" tIns="0" rIns="0" bIns="0" rtlCol="0" anchor="t"/>
          <a:lstStyle/>
          <a:p>
            <a:pPr marL="0" indent="0" algn="l">
              <a:lnSpc>
                <a:spcPts val="2850"/>
              </a:lnSpc>
              <a:buNone/>
            </a:pPr>
            <a:r>
              <a:rPr lang="en-US" sz="1750" dirty="0">
                <a:latin typeface="Open Sans" pitchFamily="34" charset="0"/>
                <a:ea typeface="Open Sans" pitchFamily="34" charset="-122"/>
                <a:cs typeface="Open Sans" pitchFamily="34" charset="-120"/>
              </a:rPr>
              <a:t>We appreciate your attention and engagement during this presentation of MedLink.</a:t>
            </a:r>
            <a:endParaRPr lang="en-US" sz="1750" dirty="0"/>
          </a:p>
        </p:txBody>
      </p:sp>
      <p:sp>
        <p:nvSpPr>
          <p:cNvPr id="4" name="Text 2"/>
          <p:cNvSpPr/>
          <p:nvPr/>
        </p:nvSpPr>
        <p:spPr>
          <a:xfrm>
            <a:off x="793790" y="2454830"/>
            <a:ext cx="13042821" cy="725805"/>
          </a:xfrm>
          <a:prstGeom prst="rect">
            <a:avLst/>
          </a:prstGeom>
          <a:noFill/>
          <a:ln/>
        </p:spPr>
        <p:txBody>
          <a:bodyPr wrap="square" lIns="0" tIns="0" rIns="0" bIns="0" rtlCol="0" anchor="t"/>
          <a:lstStyle/>
          <a:p>
            <a:pPr marL="0" indent="0" algn="l">
              <a:lnSpc>
                <a:spcPts val="2850"/>
              </a:lnSpc>
              <a:buNone/>
            </a:pPr>
            <a:r>
              <a:rPr lang="en-US" sz="1750" dirty="0">
                <a:latin typeface="Open Sans" pitchFamily="34" charset="0"/>
                <a:ea typeface="Open Sans" pitchFamily="34" charset="-122"/>
                <a:cs typeface="Open Sans" pitchFamily="34" charset="-120"/>
              </a:rPr>
              <a:t>We believe MedLink is poised to make a significant impact on patient care and healthcare efficiency, empowering both patients and medical professionals.</a:t>
            </a:r>
            <a:endParaRPr lang="en-US" sz="1750" dirty="0"/>
          </a:p>
        </p:txBody>
      </p:sp>
      <p:sp>
        <p:nvSpPr>
          <p:cNvPr id="5" name="Text 3"/>
          <p:cNvSpPr/>
          <p:nvPr/>
        </p:nvSpPr>
        <p:spPr>
          <a:xfrm>
            <a:off x="793790" y="3461266"/>
            <a:ext cx="4112657" cy="612457"/>
          </a:xfrm>
          <a:prstGeom prst="rect">
            <a:avLst/>
          </a:prstGeom>
          <a:noFill/>
          <a:ln/>
        </p:spPr>
        <p:txBody>
          <a:bodyPr wrap="none" lIns="0" tIns="0" rIns="0" bIns="0" rtlCol="0" anchor="t"/>
          <a:lstStyle/>
          <a:p>
            <a:pPr marL="0" indent="0" algn="l">
              <a:lnSpc>
                <a:spcPts val="3300"/>
              </a:lnSpc>
              <a:buNone/>
            </a:pPr>
            <a:r>
              <a:rPr lang="en-US" sz="2650" dirty="0">
                <a:solidFill>
                  <a:srgbClr val="194178"/>
                </a:solidFill>
                <a:latin typeface="Libre Baskerville" pitchFamily="34" charset="0"/>
                <a:ea typeface="Libre Baskerville" pitchFamily="34" charset="-122"/>
                <a:cs typeface="Libre Baskerville" pitchFamily="34" charset="-120"/>
              </a:rPr>
              <a:t>Questions &amp; Discussion</a:t>
            </a:r>
            <a:endParaRPr lang="en-US" sz="2650" dirty="0">
              <a:solidFill>
                <a:srgbClr val="194178"/>
              </a:solidFill>
            </a:endParaRPr>
          </a:p>
        </p:txBody>
      </p:sp>
      <p:sp>
        <p:nvSpPr>
          <p:cNvPr id="6" name="Text 4"/>
          <p:cNvSpPr/>
          <p:nvPr/>
        </p:nvSpPr>
        <p:spPr>
          <a:xfrm>
            <a:off x="793790" y="4207813"/>
            <a:ext cx="13042821" cy="725805"/>
          </a:xfrm>
          <a:prstGeom prst="rect">
            <a:avLst/>
          </a:prstGeom>
          <a:noFill/>
          <a:ln/>
        </p:spPr>
        <p:txBody>
          <a:bodyPr wrap="square" lIns="0" tIns="0" rIns="0" bIns="0" rtlCol="0" anchor="t"/>
          <a:lstStyle/>
          <a:p>
            <a:pPr marL="0" indent="0" algn="l">
              <a:lnSpc>
                <a:spcPts val="2850"/>
              </a:lnSpc>
              <a:buNone/>
            </a:pPr>
            <a:r>
              <a:rPr lang="en-US" sz="1750" dirty="0">
                <a:latin typeface="Open Sans" pitchFamily="34" charset="0"/>
                <a:ea typeface="Open Sans" pitchFamily="34" charset="-122"/>
                <a:cs typeface="Open Sans" pitchFamily="34" charset="-120"/>
              </a:rPr>
              <a:t>We are now open for any questions you may have, and eager to discuss how MedLink can best serve your specific needs and integrate into existing workflows.</a:t>
            </a:r>
            <a:endParaRPr lang="en-US" sz="1750" dirty="0"/>
          </a:p>
        </p:txBody>
      </p:sp>
      <p:sp>
        <p:nvSpPr>
          <p:cNvPr id="7" name="Shape 5"/>
          <p:cNvSpPr/>
          <p:nvPr/>
        </p:nvSpPr>
        <p:spPr>
          <a:xfrm>
            <a:off x="793790" y="5394841"/>
            <a:ext cx="6407944" cy="2032754"/>
          </a:xfrm>
          <a:prstGeom prst="roundRect">
            <a:avLst>
              <a:gd name="adj" fmla="val 1674"/>
            </a:avLst>
          </a:prstGeom>
          <a:solidFill>
            <a:srgbClr val="EAE8F3"/>
          </a:solidFill>
          <a:ln/>
        </p:spPr>
        <p:txBody>
          <a:bodyPr/>
          <a:lstStyle/>
          <a:p>
            <a:endParaRPr lang="en-IN"/>
          </a:p>
        </p:txBody>
      </p:sp>
      <p:sp>
        <p:nvSpPr>
          <p:cNvPr id="8" name="Text 6"/>
          <p:cNvSpPr/>
          <p:nvPr/>
        </p:nvSpPr>
        <p:spPr>
          <a:xfrm>
            <a:off x="1020604" y="56216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Get in Touch</a:t>
            </a:r>
            <a:endParaRPr lang="en-US" sz="2200" dirty="0">
              <a:solidFill>
                <a:srgbClr val="006699"/>
              </a:solidFill>
            </a:endParaRPr>
          </a:p>
        </p:txBody>
      </p:sp>
      <p:sp>
        <p:nvSpPr>
          <p:cNvPr id="9" name="Text 7"/>
          <p:cNvSpPr/>
          <p:nvPr/>
        </p:nvSpPr>
        <p:spPr>
          <a:xfrm>
            <a:off x="1020604" y="6112073"/>
            <a:ext cx="5954316" cy="1088708"/>
          </a:xfrm>
          <a:prstGeom prst="rect">
            <a:avLst/>
          </a:prstGeom>
          <a:noFill/>
          <a:ln/>
        </p:spPr>
        <p:txBody>
          <a:bodyPr wrap="square" lIns="0" tIns="0" rIns="0" bIns="0" rtlCol="0" anchor="t"/>
          <a:lstStyle/>
          <a:p>
            <a:pPr marL="0" indent="0" algn="l">
              <a:lnSpc>
                <a:spcPts val="2850"/>
              </a:lnSpc>
              <a:buNone/>
            </a:pPr>
            <a:r>
              <a:rPr lang="en-US" sz="1750" dirty="0">
                <a:latin typeface="Open Sans" pitchFamily="34" charset="0"/>
                <a:ea typeface="Open Sans" pitchFamily="34" charset="-122"/>
                <a:cs typeface="Open Sans" pitchFamily="34" charset="-120"/>
              </a:rPr>
              <a:t>For further inquiries or a detailed demonstration tailored to your organisation, please contact our team to schedule a follow-up.</a:t>
            </a:r>
            <a:endParaRPr lang="en-US" sz="1750" dirty="0"/>
          </a:p>
        </p:txBody>
      </p:sp>
      <p:sp>
        <p:nvSpPr>
          <p:cNvPr id="10" name="Shape 8"/>
          <p:cNvSpPr/>
          <p:nvPr/>
        </p:nvSpPr>
        <p:spPr>
          <a:xfrm>
            <a:off x="7428548" y="5394841"/>
            <a:ext cx="6408063" cy="2032754"/>
          </a:xfrm>
          <a:prstGeom prst="roundRect">
            <a:avLst>
              <a:gd name="adj" fmla="val 1674"/>
            </a:avLst>
          </a:prstGeom>
          <a:solidFill>
            <a:srgbClr val="EAE8F3"/>
          </a:solidFill>
          <a:ln/>
        </p:spPr>
        <p:txBody>
          <a:bodyPr/>
          <a:lstStyle/>
          <a:p>
            <a:endParaRPr lang="en-IN"/>
          </a:p>
        </p:txBody>
      </p:sp>
      <p:sp>
        <p:nvSpPr>
          <p:cNvPr id="11" name="Text 9"/>
          <p:cNvSpPr/>
          <p:nvPr/>
        </p:nvSpPr>
        <p:spPr>
          <a:xfrm>
            <a:off x="7655362" y="56216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6699"/>
                </a:solidFill>
                <a:latin typeface="Libre Baskerville" pitchFamily="34" charset="0"/>
                <a:ea typeface="Libre Baskerville" pitchFamily="34" charset="-122"/>
                <a:cs typeface="Libre Baskerville" pitchFamily="34" charset="-120"/>
              </a:rPr>
              <a:t>Feedback Welcome</a:t>
            </a:r>
            <a:endParaRPr lang="en-US" sz="2200" dirty="0">
              <a:solidFill>
                <a:srgbClr val="006699"/>
              </a:solidFill>
            </a:endParaRPr>
          </a:p>
        </p:txBody>
      </p:sp>
      <p:sp>
        <p:nvSpPr>
          <p:cNvPr id="12" name="Text 10"/>
          <p:cNvSpPr/>
          <p:nvPr/>
        </p:nvSpPr>
        <p:spPr>
          <a:xfrm>
            <a:off x="7655362" y="6112073"/>
            <a:ext cx="5954435" cy="1088708"/>
          </a:xfrm>
          <a:prstGeom prst="rect">
            <a:avLst/>
          </a:prstGeom>
          <a:noFill/>
          <a:ln/>
        </p:spPr>
        <p:txBody>
          <a:bodyPr wrap="square" lIns="0" tIns="0" rIns="0" bIns="0" rtlCol="0" anchor="t"/>
          <a:lstStyle/>
          <a:p>
            <a:pPr marL="0" indent="0" algn="l">
              <a:lnSpc>
                <a:spcPts val="2850"/>
              </a:lnSpc>
              <a:buNone/>
            </a:pPr>
            <a:r>
              <a:rPr lang="en-US" sz="1750" dirty="0">
                <a:latin typeface="Open Sans" pitchFamily="34" charset="0"/>
                <a:ea typeface="Open Sans" pitchFamily="34" charset="-122"/>
                <a:cs typeface="Open Sans" pitchFamily="34" charset="-120"/>
              </a:rPr>
              <a:t>Your valuable insights are crucial as we continue to refine and enhance MedLink to meet the evolving demands of modern healthcare.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415</TotalTime>
  <Words>1427</Words>
  <Application>Microsoft Office PowerPoint</Application>
  <PresentationFormat>Custom</PresentationFormat>
  <Paragraphs>179</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Libre Baskerville Light</vt:lpstr>
      <vt:lpstr>Libre Baskerville</vt:lpstr>
      <vt:lpstr>Calibri Light</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Shaikunrani Shaik</cp:lastModifiedBy>
  <cp:revision>10</cp:revision>
  <dcterms:created xsi:type="dcterms:W3CDTF">2026-03-14T14:01:33Z</dcterms:created>
  <dcterms:modified xsi:type="dcterms:W3CDTF">2026-03-30T13:14:30Z</dcterms:modified>
</cp:coreProperties>
</file>