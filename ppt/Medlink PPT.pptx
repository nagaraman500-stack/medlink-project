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729" r:id="rId1"/>
  </p:sldMasterIdLst>
  <p:notesMasterIdLst>
    <p:notesMasterId r:id="rId23"/>
  </p:notesMasterIdLst>
  <p:sldIdLst>
    <p:sldId id="256" r:id="rId2"/>
    <p:sldId id="257" r:id="rId3"/>
    <p:sldId id="258" r:id="rId4"/>
    <p:sldId id="259" r:id="rId5"/>
    <p:sldId id="277" r:id="rId6"/>
    <p:sldId id="261" r:id="rId7"/>
    <p:sldId id="262" r:id="rId8"/>
    <p:sldId id="265" r:id="rId9"/>
    <p:sldId id="273" r:id="rId10"/>
    <p:sldId id="274" r:id="rId11"/>
    <p:sldId id="263" r:id="rId12"/>
    <p:sldId id="271" r:id="rId13"/>
    <p:sldId id="275" r:id="rId14"/>
    <p:sldId id="264" r:id="rId15"/>
    <p:sldId id="272" r:id="rId16"/>
    <p:sldId id="276" r:id="rId17"/>
    <p:sldId id="266" r:id="rId18"/>
    <p:sldId id="267" r:id="rId19"/>
    <p:sldId id="268" r:id="rId20"/>
    <p:sldId id="269" r:id="rId21"/>
    <p:sldId id="270" r:id="rId22"/>
  </p:sldIdLst>
  <p:sldSz cx="14630400" cy="8229600"/>
  <p:notesSz cx="8229600" cy="14630400"/>
  <p:embeddedFontLst>
    <p:embeddedFont>
      <p:font typeface="Consolas" panose="020B0609020204030204" pitchFamily="49" charset="0"/>
      <p:regular r:id="rId24"/>
      <p:bold r:id="rId25"/>
      <p:italic r:id="rId26"/>
      <p:boldItalic r:id="rId27"/>
    </p:embeddedFont>
    <p:embeddedFont>
      <p:font typeface="Libre Baskerville" panose="02000000000000000000" pitchFamily="2" charset="0"/>
      <p:regular r:id="rId28"/>
    </p:embeddedFont>
    <p:embeddedFont>
      <p:font typeface="Open Sans" panose="020B0606030504020204" pitchFamily="34" charset="0"/>
      <p:regular r:id="rId29"/>
      <p:bold r:id="rId30"/>
      <p:italic r:id="rId31"/>
      <p:boldItalic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4178"/>
    <a:srgbClr val="009999"/>
    <a:srgbClr val="006699"/>
    <a:srgbClr val="003366"/>
    <a:srgbClr val="00CC66"/>
    <a:srgbClr val="3C3C3C"/>
    <a:srgbClr val="00467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9" d="100"/>
          <a:sy n="69" d="100"/>
        </p:scale>
        <p:origin x="677"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ikunrani Shaik" userId="4a9b5fd90b2a339e" providerId="LiveId" clId="{5669F0D2-CDFD-4EDE-BEBD-F5C4809A96DF}"/>
    <pc:docChg chg="undo custSel addSld delSld modSld">
      <pc:chgData name="Shaikunrani Shaik" userId="4a9b5fd90b2a339e" providerId="LiveId" clId="{5669F0D2-CDFD-4EDE-BEBD-F5C4809A96DF}" dt="2026-03-26T08:56:50.868" v="340" actId="20577"/>
      <pc:docMkLst>
        <pc:docMk/>
      </pc:docMkLst>
      <pc:sldChg chg="addSp delSp modSp mod">
        <pc:chgData name="Shaikunrani Shaik" userId="4a9b5fd90b2a339e" providerId="LiveId" clId="{5669F0D2-CDFD-4EDE-BEBD-F5C4809A96DF}" dt="2026-03-26T08:56:50.868" v="340" actId="20577"/>
        <pc:sldMkLst>
          <pc:docMk/>
          <pc:sldMk cId="0" sldId="256"/>
        </pc:sldMkLst>
        <pc:spChg chg="mod">
          <ac:chgData name="Shaikunrani Shaik" userId="4a9b5fd90b2a339e" providerId="LiveId" clId="{5669F0D2-CDFD-4EDE-BEBD-F5C4809A96DF}" dt="2026-03-26T08:39:00.952" v="46" actId="20577"/>
          <ac:spMkLst>
            <pc:docMk/>
            <pc:sldMk cId="0" sldId="256"/>
            <ac:spMk id="5" creationId="{00000000-0000-0000-0000-000000000000}"/>
          </ac:spMkLst>
        </pc:spChg>
        <pc:spChg chg="mod">
          <ac:chgData name="Shaikunrani Shaik" userId="4a9b5fd90b2a339e" providerId="LiveId" clId="{5669F0D2-CDFD-4EDE-BEBD-F5C4809A96DF}" dt="2026-03-26T08:51:50.956" v="224" actId="20577"/>
          <ac:spMkLst>
            <pc:docMk/>
            <pc:sldMk cId="0" sldId="256"/>
            <ac:spMk id="7" creationId="{00000000-0000-0000-0000-000000000000}"/>
          </ac:spMkLst>
        </pc:spChg>
        <pc:spChg chg="mod">
          <ac:chgData name="Shaikunrani Shaik" userId="4a9b5fd90b2a339e" providerId="LiveId" clId="{5669F0D2-CDFD-4EDE-BEBD-F5C4809A96DF}" dt="2026-03-26T08:52:05.654" v="248" actId="20577"/>
          <ac:spMkLst>
            <pc:docMk/>
            <pc:sldMk cId="0" sldId="256"/>
            <ac:spMk id="9" creationId="{00000000-0000-0000-0000-000000000000}"/>
          </ac:spMkLst>
        </pc:spChg>
        <pc:spChg chg="mod">
          <ac:chgData name="Shaikunrani Shaik" userId="4a9b5fd90b2a339e" providerId="LiveId" clId="{5669F0D2-CDFD-4EDE-BEBD-F5C4809A96DF}" dt="2026-03-26T08:56:37.345" v="325" actId="20577"/>
          <ac:spMkLst>
            <pc:docMk/>
            <pc:sldMk cId="0" sldId="256"/>
            <ac:spMk id="11" creationId="{00000000-0000-0000-0000-000000000000}"/>
          </ac:spMkLst>
        </pc:spChg>
        <pc:spChg chg="mod">
          <ac:chgData name="Shaikunrani Shaik" userId="4a9b5fd90b2a339e" providerId="LiveId" clId="{5669F0D2-CDFD-4EDE-BEBD-F5C4809A96DF}" dt="2026-03-26T08:56:26.241" v="308" actId="20577"/>
          <ac:spMkLst>
            <pc:docMk/>
            <pc:sldMk cId="0" sldId="256"/>
            <ac:spMk id="13" creationId="{00000000-0000-0000-0000-000000000000}"/>
          </ac:spMkLst>
        </pc:spChg>
        <pc:spChg chg="add del mod">
          <ac:chgData name="Shaikunrani Shaik" userId="4a9b5fd90b2a339e" providerId="LiveId" clId="{5669F0D2-CDFD-4EDE-BEBD-F5C4809A96DF}" dt="2026-03-26T08:56:50.868" v="340" actId="20577"/>
          <ac:spMkLst>
            <pc:docMk/>
            <pc:sldMk cId="0" sldId="256"/>
            <ac:spMk id="15" creationId="{00000000-0000-0000-0000-000000000000}"/>
          </ac:spMkLst>
        </pc:spChg>
        <pc:spChg chg="mod">
          <ac:chgData name="Shaikunrani Shaik" userId="4a9b5fd90b2a339e" providerId="LiveId" clId="{5669F0D2-CDFD-4EDE-BEBD-F5C4809A96DF}" dt="2026-03-26T08:52:29.285" v="283" actId="20577"/>
          <ac:spMkLst>
            <pc:docMk/>
            <pc:sldMk cId="0" sldId="256"/>
            <ac:spMk id="17" creationId="{00000000-0000-0000-0000-000000000000}"/>
          </ac:spMkLst>
        </pc:spChg>
      </pc:sldChg>
      <pc:sldChg chg="del">
        <pc:chgData name="Shaikunrani Shaik" userId="4a9b5fd90b2a339e" providerId="LiveId" clId="{5669F0D2-CDFD-4EDE-BEBD-F5C4809A96DF}" dt="2026-03-26T08:38:06.977" v="17" actId="47"/>
        <pc:sldMkLst>
          <pc:docMk/>
          <pc:sldMk cId="0" sldId="260"/>
        </pc:sldMkLst>
      </pc:sldChg>
      <pc:sldChg chg="addSp modSp new mod">
        <pc:chgData name="Shaikunrani Shaik" userId="4a9b5fd90b2a339e" providerId="LiveId" clId="{5669F0D2-CDFD-4EDE-BEBD-F5C4809A96DF}" dt="2026-03-26T08:37:47.038" v="16" actId="14100"/>
        <pc:sldMkLst>
          <pc:docMk/>
          <pc:sldMk cId="2074247087" sldId="277"/>
        </pc:sldMkLst>
        <pc:picChg chg="add mod">
          <ac:chgData name="Shaikunrani Shaik" userId="4a9b5fd90b2a339e" providerId="LiveId" clId="{5669F0D2-CDFD-4EDE-BEBD-F5C4809A96DF}" dt="2026-03-26T08:37:47.038" v="16" actId="14100"/>
          <ac:picMkLst>
            <pc:docMk/>
            <pc:sldMk cId="2074247087" sldId="277"/>
            <ac:picMk id="3" creationId="{2A9F3C43-4139-83C0-03B2-E8329E4CCE4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9816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11151-6A38-64AB-21B6-229B1338632E}"/>
              </a:ext>
            </a:extLst>
          </p:cNvPr>
          <p:cNvSpPr>
            <a:spLocks noGrp="1"/>
          </p:cNvSpPr>
          <p:nvPr>
            <p:ph type="ctrTitle"/>
          </p:nvPr>
        </p:nvSpPr>
        <p:spPr>
          <a:xfrm>
            <a:off x="1828800" y="1346836"/>
            <a:ext cx="10972800" cy="2865120"/>
          </a:xfrm>
        </p:spPr>
        <p:txBody>
          <a:bodyPr anchor="b"/>
          <a:lstStyle>
            <a:lvl1pPr algn="ctr">
              <a:defRPr sz="7200"/>
            </a:lvl1pPr>
          </a:lstStyle>
          <a:p>
            <a:r>
              <a:rPr lang="en-US"/>
              <a:t>Click to edit Master title style</a:t>
            </a:r>
            <a:endParaRPr lang="en-IN"/>
          </a:p>
        </p:txBody>
      </p:sp>
      <p:sp>
        <p:nvSpPr>
          <p:cNvPr id="3" name="Subtitle 2">
            <a:extLst>
              <a:ext uri="{FF2B5EF4-FFF2-40B4-BE49-F238E27FC236}">
                <a16:creationId xmlns:a16="http://schemas.microsoft.com/office/drawing/2014/main" id="{B4871466-4AE9-30BC-C133-1C147F40CB40}"/>
              </a:ext>
            </a:extLst>
          </p:cNvPr>
          <p:cNvSpPr>
            <a:spLocks noGrp="1"/>
          </p:cNvSpPr>
          <p:nvPr>
            <p:ph type="subTitle" idx="1"/>
          </p:nvPr>
        </p:nvSpPr>
        <p:spPr>
          <a:xfrm>
            <a:off x="1828800" y="4322446"/>
            <a:ext cx="10972800" cy="1986914"/>
          </a:xfrm>
        </p:spPr>
        <p:txBody>
          <a:bodyPr/>
          <a:lstStyle>
            <a:lvl1pPr marL="0" indent="0" algn="ctr">
              <a:buNone/>
              <a:defRPr sz="2880"/>
            </a:lvl1pPr>
            <a:lvl2pPr marL="548640" indent="0" algn="ctr">
              <a:buNone/>
              <a:defRPr sz="2400"/>
            </a:lvl2pPr>
            <a:lvl3pPr marL="1097280" indent="0" algn="ctr">
              <a:buNone/>
              <a:defRPr sz="2160"/>
            </a:lvl3pPr>
            <a:lvl4pPr marL="1645920" indent="0" algn="ctr">
              <a:buNone/>
              <a:defRPr sz="1920"/>
            </a:lvl4pPr>
            <a:lvl5pPr marL="2194560" indent="0" algn="ctr">
              <a:buNone/>
              <a:defRPr sz="1920"/>
            </a:lvl5pPr>
            <a:lvl6pPr marL="2743200" indent="0" algn="ctr">
              <a:buNone/>
              <a:defRPr sz="1920"/>
            </a:lvl6pPr>
            <a:lvl7pPr marL="3291840" indent="0" algn="ctr">
              <a:buNone/>
              <a:defRPr sz="1920"/>
            </a:lvl7pPr>
            <a:lvl8pPr marL="3840480" indent="0" algn="ctr">
              <a:buNone/>
              <a:defRPr sz="1920"/>
            </a:lvl8pPr>
            <a:lvl9pPr marL="4389120" indent="0" algn="ctr">
              <a:buNone/>
              <a:defRPr sz="192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D157168-0BEA-C8CB-87EC-BE0C77BE4E86}"/>
              </a:ext>
            </a:extLst>
          </p:cNvPr>
          <p:cNvSpPr>
            <a:spLocks noGrp="1"/>
          </p:cNvSpPr>
          <p:nvPr>
            <p:ph type="dt" sz="half" idx="10"/>
          </p:nvPr>
        </p:nvSpPr>
        <p:spPr/>
        <p:txBody>
          <a:bodyPr/>
          <a:lstStyle/>
          <a:p>
            <a:fld id="{B61BEF0D-F0BB-DE4B-95CE-6DB70DBA9567}" type="datetimeFigureOut">
              <a:rPr lang="en-US" smtClean="0"/>
              <a:pPr/>
              <a:t>3/26/2026</a:t>
            </a:fld>
            <a:endParaRPr lang="en-US" dirty="0"/>
          </a:p>
        </p:txBody>
      </p:sp>
      <p:sp>
        <p:nvSpPr>
          <p:cNvPr id="5" name="Footer Placeholder 4">
            <a:extLst>
              <a:ext uri="{FF2B5EF4-FFF2-40B4-BE49-F238E27FC236}">
                <a16:creationId xmlns:a16="http://schemas.microsoft.com/office/drawing/2014/main" id="{C67FAF8C-93C1-BF7F-5C07-7E1F299C0D4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7611F26-5E88-9030-099E-4E2F8D12C46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7986212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2F7AFA-9975-DC1D-F0C6-5009F22EC92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E30818E-5C0C-8F7C-4187-C931FE2101B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C02CE7E-FEB3-8815-15B3-73EEECC6B2B8}"/>
              </a:ext>
            </a:extLst>
          </p:cNvPr>
          <p:cNvSpPr>
            <a:spLocks noGrp="1"/>
          </p:cNvSpPr>
          <p:nvPr>
            <p:ph type="dt" sz="half" idx="10"/>
          </p:nvPr>
        </p:nvSpPr>
        <p:spPr/>
        <p:txBody>
          <a:bodyPr/>
          <a:lstStyle/>
          <a:p>
            <a:fld id="{B61BEF0D-F0BB-DE4B-95CE-6DB70DBA9567}" type="datetimeFigureOut">
              <a:rPr lang="en-US" smtClean="0"/>
              <a:pPr/>
              <a:t>3/26/2026</a:t>
            </a:fld>
            <a:endParaRPr lang="en-US" dirty="0"/>
          </a:p>
        </p:txBody>
      </p:sp>
      <p:sp>
        <p:nvSpPr>
          <p:cNvPr id="5" name="Footer Placeholder 4">
            <a:extLst>
              <a:ext uri="{FF2B5EF4-FFF2-40B4-BE49-F238E27FC236}">
                <a16:creationId xmlns:a16="http://schemas.microsoft.com/office/drawing/2014/main" id="{3D845FCB-D935-DDD1-9728-DA0979695F8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F59F807-ABAF-9555-75AF-AE7A561FB631}"/>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0515126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0FF64-A7F3-085E-807D-F8301EAF845E}"/>
              </a:ext>
            </a:extLst>
          </p:cNvPr>
          <p:cNvSpPr>
            <a:spLocks noGrp="1"/>
          </p:cNvSpPr>
          <p:nvPr>
            <p:ph type="title"/>
          </p:nvPr>
        </p:nvSpPr>
        <p:spPr>
          <a:xfrm>
            <a:off x="998220" y="2051686"/>
            <a:ext cx="12618720" cy="3423284"/>
          </a:xfrm>
        </p:spPr>
        <p:txBody>
          <a:bodyPr anchor="b"/>
          <a:lstStyle>
            <a:lvl1pPr>
              <a:defRPr sz="72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82F119CE-4A03-BE57-A80A-F8B0589089E2}"/>
              </a:ext>
            </a:extLst>
          </p:cNvPr>
          <p:cNvSpPr>
            <a:spLocks noGrp="1"/>
          </p:cNvSpPr>
          <p:nvPr>
            <p:ph type="body" idx="1"/>
          </p:nvPr>
        </p:nvSpPr>
        <p:spPr>
          <a:xfrm>
            <a:off x="998220" y="5507356"/>
            <a:ext cx="12618720" cy="1800224"/>
          </a:xfrm>
        </p:spPr>
        <p:txBody>
          <a:bodyPr/>
          <a:lstStyle>
            <a:lvl1pPr marL="0" indent="0">
              <a:buNone/>
              <a:defRPr sz="2880">
                <a:solidFill>
                  <a:schemeClr val="tx1">
                    <a:tint val="75000"/>
                  </a:schemeClr>
                </a:solidFill>
              </a:defRPr>
            </a:lvl1pPr>
            <a:lvl2pPr marL="548640" indent="0">
              <a:buNone/>
              <a:defRPr sz="2400">
                <a:solidFill>
                  <a:schemeClr val="tx1">
                    <a:tint val="75000"/>
                  </a:schemeClr>
                </a:solidFill>
              </a:defRPr>
            </a:lvl2pPr>
            <a:lvl3pPr marL="1097280" indent="0">
              <a:buNone/>
              <a:defRPr sz="2160">
                <a:solidFill>
                  <a:schemeClr val="tx1">
                    <a:tint val="75000"/>
                  </a:schemeClr>
                </a:solidFill>
              </a:defRPr>
            </a:lvl3pPr>
            <a:lvl4pPr marL="1645920" indent="0">
              <a:buNone/>
              <a:defRPr sz="1920">
                <a:solidFill>
                  <a:schemeClr val="tx1">
                    <a:tint val="75000"/>
                  </a:schemeClr>
                </a:solidFill>
              </a:defRPr>
            </a:lvl4pPr>
            <a:lvl5pPr marL="2194560" indent="0">
              <a:buNone/>
              <a:defRPr sz="1920">
                <a:solidFill>
                  <a:schemeClr val="tx1">
                    <a:tint val="75000"/>
                  </a:schemeClr>
                </a:solidFill>
              </a:defRPr>
            </a:lvl5pPr>
            <a:lvl6pPr marL="2743200" indent="0">
              <a:buNone/>
              <a:defRPr sz="1920">
                <a:solidFill>
                  <a:schemeClr val="tx1">
                    <a:tint val="75000"/>
                  </a:schemeClr>
                </a:solidFill>
              </a:defRPr>
            </a:lvl6pPr>
            <a:lvl7pPr marL="3291840" indent="0">
              <a:buNone/>
              <a:defRPr sz="1920">
                <a:solidFill>
                  <a:schemeClr val="tx1">
                    <a:tint val="75000"/>
                  </a:schemeClr>
                </a:solidFill>
              </a:defRPr>
            </a:lvl7pPr>
            <a:lvl8pPr marL="3840480" indent="0">
              <a:buNone/>
              <a:defRPr sz="1920">
                <a:solidFill>
                  <a:schemeClr val="tx1">
                    <a:tint val="75000"/>
                  </a:schemeClr>
                </a:solidFill>
              </a:defRPr>
            </a:lvl8pPr>
            <a:lvl9pPr marL="4389120" indent="0">
              <a:buNone/>
              <a:defRPr sz="192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16FF68F-17DE-B516-261C-92FC9D4AD7EC}"/>
              </a:ext>
            </a:extLst>
          </p:cNvPr>
          <p:cNvSpPr>
            <a:spLocks noGrp="1"/>
          </p:cNvSpPr>
          <p:nvPr>
            <p:ph type="dt" sz="half" idx="10"/>
          </p:nvPr>
        </p:nvSpPr>
        <p:spPr/>
        <p:txBody>
          <a:bodyPr/>
          <a:lstStyle/>
          <a:p>
            <a:fld id="{B61BEF0D-F0BB-DE4B-95CE-6DB70DBA9567}" type="datetimeFigureOut">
              <a:rPr lang="en-US" smtClean="0"/>
              <a:pPr/>
              <a:t>3/26/2026</a:t>
            </a:fld>
            <a:endParaRPr lang="en-US" dirty="0"/>
          </a:p>
        </p:txBody>
      </p:sp>
      <p:sp>
        <p:nvSpPr>
          <p:cNvPr id="5" name="Footer Placeholder 4">
            <a:extLst>
              <a:ext uri="{FF2B5EF4-FFF2-40B4-BE49-F238E27FC236}">
                <a16:creationId xmlns:a16="http://schemas.microsoft.com/office/drawing/2014/main" id="{FB94A660-F26E-F255-C87B-8FE8786777A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660E882-80A2-349D-0150-241AF8B03A0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7332393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8826D7-81C1-2379-C294-0197A600028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2C08381-B6A4-94B1-AA82-B350F0D2A46D}"/>
              </a:ext>
            </a:extLst>
          </p:cNvPr>
          <p:cNvSpPr>
            <a:spLocks noGrp="1"/>
          </p:cNvSpPr>
          <p:nvPr>
            <p:ph sz="half" idx="1"/>
          </p:nvPr>
        </p:nvSpPr>
        <p:spPr>
          <a:xfrm>
            <a:off x="1005840" y="2190750"/>
            <a:ext cx="6217920" cy="522160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8565D1E-D4A5-9BE2-77A2-46B1C3DB9A53}"/>
              </a:ext>
            </a:extLst>
          </p:cNvPr>
          <p:cNvSpPr>
            <a:spLocks noGrp="1"/>
          </p:cNvSpPr>
          <p:nvPr>
            <p:ph sz="half" idx="2"/>
          </p:nvPr>
        </p:nvSpPr>
        <p:spPr>
          <a:xfrm>
            <a:off x="7406640" y="2190750"/>
            <a:ext cx="6217920" cy="522160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3F6A42E-2522-8D5B-067D-0DAF268BDA0C}"/>
              </a:ext>
            </a:extLst>
          </p:cNvPr>
          <p:cNvSpPr>
            <a:spLocks noGrp="1"/>
          </p:cNvSpPr>
          <p:nvPr>
            <p:ph type="dt" sz="half" idx="10"/>
          </p:nvPr>
        </p:nvSpPr>
        <p:spPr/>
        <p:txBody>
          <a:bodyPr/>
          <a:lstStyle/>
          <a:p>
            <a:fld id="{EB712588-04B1-427B-82EE-E8DB90309F08}" type="datetimeFigureOut">
              <a:rPr lang="en-US" smtClean="0"/>
              <a:t>3/26/2026</a:t>
            </a:fld>
            <a:endParaRPr lang="en-US" dirty="0"/>
          </a:p>
        </p:txBody>
      </p:sp>
      <p:sp>
        <p:nvSpPr>
          <p:cNvPr id="6" name="Footer Placeholder 5">
            <a:extLst>
              <a:ext uri="{FF2B5EF4-FFF2-40B4-BE49-F238E27FC236}">
                <a16:creationId xmlns:a16="http://schemas.microsoft.com/office/drawing/2014/main" id="{36E83D54-0631-3FAB-5445-9FE5A4A0C53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7EA0C9D6-7B8D-BAA3-2B99-33F4D279CC42}"/>
              </a:ext>
            </a:extLst>
          </p:cNvPr>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310725827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00637-30D0-BAF3-BF39-251470CB9F30}"/>
              </a:ext>
            </a:extLst>
          </p:cNvPr>
          <p:cNvSpPr>
            <a:spLocks noGrp="1"/>
          </p:cNvSpPr>
          <p:nvPr>
            <p:ph type="title"/>
          </p:nvPr>
        </p:nvSpPr>
        <p:spPr>
          <a:xfrm>
            <a:off x="1007746" y="438150"/>
            <a:ext cx="12618720" cy="1590676"/>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53F3861-B44D-8A58-B2EC-9C4ED43D014D}"/>
              </a:ext>
            </a:extLst>
          </p:cNvPr>
          <p:cNvSpPr>
            <a:spLocks noGrp="1"/>
          </p:cNvSpPr>
          <p:nvPr>
            <p:ph type="body" idx="1"/>
          </p:nvPr>
        </p:nvSpPr>
        <p:spPr>
          <a:xfrm>
            <a:off x="1007746" y="2017396"/>
            <a:ext cx="6189344" cy="988694"/>
          </a:xfrm>
        </p:spPr>
        <p:txBody>
          <a:bodyPr anchor="b"/>
          <a:lstStyle>
            <a:lvl1pPr marL="0" indent="0">
              <a:buNone/>
              <a:defRPr sz="2880" b="1"/>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en-US"/>
              <a:t>Click to edit Master text styles</a:t>
            </a:r>
          </a:p>
        </p:txBody>
      </p:sp>
      <p:sp>
        <p:nvSpPr>
          <p:cNvPr id="4" name="Content Placeholder 3">
            <a:extLst>
              <a:ext uri="{FF2B5EF4-FFF2-40B4-BE49-F238E27FC236}">
                <a16:creationId xmlns:a16="http://schemas.microsoft.com/office/drawing/2014/main" id="{683EA2D5-0509-F683-2DE6-66938925B9F8}"/>
              </a:ext>
            </a:extLst>
          </p:cNvPr>
          <p:cNvSpPr>
            <a:spLocks noGrp="1"/>
          </p:cNvSpPr>
          <p:nvPr>
            <p:ph sz="half" idx="2"/>
          </p:nvPr>
        </p:nvSpPr>
        <p:spPr>
          <a:xfrm>
            <a:off x="1007746" y="3006090"/>
            <a:ext cx="6189344" cy="442150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10922CE-F0B4-3F5E-3808-D084235BE512}"/>
              </a:ext>
            </a:extLst>
          </p:cNvPr>
          <p:cNvSpPr>
            <a:spLocks noGrp="1"/>
          </p:cNvSpPr>
          <p:nvPr>
            <p:ph type="body" sz="quarter" idx="3"/>
          </p:nvPr>
        </p:nvSpPr>
        <p:spPr>
          <a:xfrm>
            <a:off x="7406640" y="2017396"/>
            <a:ext cx="6219826" cy="988694"/>
          </a:xfrm>
        </p:spPr>
        <p:txBody>
          <a:bodyPr anchor="b"/>
          <a:lstStyle>
            <a:lvl1pPr marL="0" indent="0">
              <a:buNone/>
              <a:defRPr sz="2880" b="1"/>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en-US"/>
              <a:t>Click to edit Master text styles</a:t>
            </a:r>
          </a:p>
        </p:txBody>
      </p:sp>
      <p:sp>
        <p:nvSpPr>
          <p:cNvPr id="6" name="Content Placeholder 5">
            <a:extLst>
              <a:ext uri="{FF2B5EF4-FFF2-40B4-BE49-F238E27FC236}">
                <a16:creationId xmlns:a16="http://schemas.microsoft.com/office/drawing/2014/main" id="{7D8BF80F-85DA-AA52-655D-576205A34667}"/>
              </a:ext>
            </a:extLst>
          </p:cNvPr>
          <p:cNvSpPr>
            <a:spLocks noGrp="1"/>
          </p:cNvSpPr>
          <p:nvPr>
            <p:ph sz="quarter" idx="4"/>
          </p:nvPr>
        </p:nvSpPr>
        <p:spPr>
          <a:xfrm>
            <a:off x="7406640" y="3006090"/>
            <a:ext cx="6219826" cy="442150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77FA6796-5C0F-B843-E42F-192C25C6DD9B}"/>
              </a:ext>
            </a:extLst>
          </p:cNvPr>
          <p:cNvSpPr>
            <a:spLocks noGrp="1"/>
          </p:cNvSpPr>
          <p:nvPr>
            <p:ph type="dt" sz="half" idx="10"/>
          </p:nvPr>
        </p:nvSpPr>
        <p:spPr/>
        <p:txBody>
          <a:bodyPr/>
          <a:lstStyle/>
          <a:p>
            <a:fld id="{B61BEF0D-F0BB-DE4B-95CE-6DB70DBA9567}" type="datetimeFigureOut">
              <a:rPr lang="en-US" smtClean="0"/>
              <a:pPr/>
              <a:t>3/26/2026</a:t>
            </a:fld>
            <a:endParaRPr lang="en-US" dirty="0"/>
          </a:p>
        </p:txBody>
      </p:sp>
      <p:sp>
        <p:nvSpPr>
          <p:cNvPr id="8" name="Footer Placeholder 7">
            <a:extLst>
              <a:ext uri="{FF2B5EF4-FFF2-40B4-BE49-F238E27FC236}">
                <a16:creationId xmlns:a16="http://schemas.microsoft.com/office/drawing/2014/main" id="{F2D2D2C5-0167-1AC9-2D8C-E826C66F10B4}"/>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241FE9DF-C47D-0424-3A3B-0ABDB024893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356458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7A351-059F-02C1-EA63-8050E757861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5785529-C3E4-588F-9B0D-60F25C258BBB}"/>
              </a:ext>
            </a:extLst>
          </p:cNvPr>
          <p:cNvSpPr>
            <a:spLocks noGrp="1"/>
          </p:cNvSpPr>
          <p:nvPr>
            <p:ph type="dt" sz="half" idx="10"/>
          </p:nvPr>
        </p:nvSpPr>
        <p:spPr/>
        <p:txBody>
          <a:bodyPr/>
          <a:lstStyle/>
          <a:p>
            <a:fld id="{B61BEF0D-F0BB-DE4B-95CE-6DB70DBA9567}" type="datetimeFigureOut">
              <a:rPr lang="en-US" smtClean="0"/>
              <a:pPr/>
              <a:t>3/26/2026</a:t>
            </a:fld>
            <a:endParaRPr lang="en-US" dirty="0"/>
          </a:p>
        </p:txBody>
      </p:sp>
      <p:sp>
        <p:nvSpPr>
          <p:cNvPr id="4" name="Footer Placeholder 3">
            <a:extLst>
              <a:ext uri="{FF2B5EF4-FFF2-40B4-BE49-F238E27FC236}">
                <a16:creationId xmlns:a16="http://schemas.microsoft.com/office/drawing/2014/main" id="{F45216A5-FD63-FF44-90EC-FFFAB432AFA3}"/>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4985620D-C242-19CE-261D-F29511FB8CC4}"/>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872076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7EE1D53-0235-67B9-3D46-244965A65B0B}"/>
              </a:ext>
            </a:extLst>
          </p:cNvPr>
          <p:cNvSpPr>
            <a:spLocks noGrp="1"/>
          </p:cNvSpPr>
          <p:nvPr>
            <p:ph type="dt" sz="half" idx="10"/>
          </p:nvPr>
        </p:nvSpPr>
        <p:spPr/>
        <p:txBody>
          <a:bodyPr/>
          <a:lstStyle/>
          <a:p>
            <a:fld id="{B61BEF0D-F0BB-DE4B-95CE-6DB70DBA9567}" type="datetimeFigureOut">
              <a:rPr lang="en-US" smtClean="0"/>
              <a:pPr/>
              <a:t>3/26/2026</a:t>
            </a:fld>
            <a:endParaRPr lang="en-US" dirty="0"/>
          </a:p>
        </p:txBody>
      </p:sp>
      <p:sp>
        <p:nvSpPr>
          <p:cNvPr id="3" name="Footer Placeholder 2">
            <a:extLst>
              <a:ext uri="{FF2B5EF4-FFF2-40B4-BE49-F238E27FC236}">
                <a16:creationId xmlns:a16="http://schemas.microsoft.com/office/drawing/2014/main" id="{D980859F-9FA4-285D-5373-408B9A23A97D}"/>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C1801DD5-03F7-8809-2911-BC6DD407CA26}"/>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69382149"/>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B0E3A-F2CB-3EE6-4A98-0B42A74AEF41}"/>
              </a:ext>
            </a:extLst>
          </p:cNvPr>
          <p:cNvSpPr>
            <a:spLocks noGrp="1"/>
          </p:cNvSpPr>
          <p:nvPr>
            <p:ph type="title"/>
          </p:nvPr>
        </p:nvSpPr>
        <p:spPr>
          <a:xfrm>
            <a:off x="1007746" y="548640"/>
            <a:ext cx="4718684" cy="1920240"/>
          </a:xfrm>
        </p:spPr>
        <p:txBody>
          <a:bodyPr anchor="b"/>
          <a:lstStyle>
            <a:lvl1pPr>
              <a:defRPr sz="384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0DB7E9A3-9E14-8D53-DF20-73E23439509C}"/>
              </a:ext>
            </a:extLst>
          </p:cNvPr>
          <p:cNvSpPr>
            <a:spLocks noGrp="1"/>
          </p:cNvSpPr>
          <p:nvPr>
            <p:ph idx="1"/>
          </p:nvPr>
        </p:nvSpPr>
        <p:spPr>
          <a:xfrm>
            <a:off x="6219826" y="1184911"/>
            <a:ext cx="7406640" cy="5848350"/>
          </a:xfrm>
        </p:spPr>
        <p:txBody>
          <a:bodyPr/>
          <a:lstStyle>
            <a:lvl1pPr>
              <a:defRPr sz="3840"/>
            </a:lvl1pPr>
            <a:lvl2pPr>
              <a:defRPr sz="3360"/>
            </a:lvl2pPr>
            <a:lvl3pPr>
              <a:defRPr sz="2880"/>
            </a:lvl3pPr>
            <a:lvl4pPr>
              <a:defRPr sz="2400"/>
            </a:lvl4pPr>
            <a:lvl5pPr>
              <a:defRPr sz="24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3E86312-6AE4-26B1-87B4-597BF60B094C}"/>
              </a:ext>
            </a:extLst>
          </p:cNvPr>
          <p:cNvSpPr>
            <a:spLocks noGrp="1"/>
          </p:cNvSpPr>
          <p:nvPr>
            <p:ph type="body" sz="half" idx="2"/>
          </p:nvPr>
        </p:nvSpPr>
        <p:spPr>
          <a:xfrm>
            <a:off x="1007746" y="2468880"/>
            <a:ext cx="4718684" cy="4573906"/>
          </a:xfrm>
        </p:spPr>
        <p:txBody>
          <a:bodyPr/>
          <a:lstStyle>
            <a:lvl1pPr marL="0" indent="0">
              <a:buNone/>
              <a:defRPr sz="1920"/>
            </a:lvl1pPr>
            <a:lvl2pPr marL="548640" indent="0">
              <a:buNone/>
              <a:defRPr sz="1680"/>
            </a:lvl2pPr>
            <a:lvl3pPr marL="1097280" indent="0">
              <a:buNone/>
              <a:defRPr sz="1440"/>
            </a:lvl3pPr>
            <a:lvl4pPr marL="1645920" indent="0">
              <a:buNone/>
              <a:defRPr sz="1200"/>
            </a:lvl4pPr>
            <a:lvl5pPr marL="2194560" indent="0">
              <a:buNone/>
              <a:defRPr sz="1200"/>
            </a:lvl5pPr>
            <a:lvl6pPr marL="2743200" indent="0">
              <a:buNone/>
              <a:defRPr sz="1200"/>
            </a:lvl6pPr>
            <a:lvl7pPr marL="3291840" indent="0">
              <a:buNone/>
              <a:defRPr sz="1200"/>
            </a:lvl7pPr>
            <a:lvl8pPr marL="3840480" indent="0">
              <a:buNone/>
              <a:defRPr sz="1200"/>
            </a:lvl8pPr>
            <a:lvl9pPr marL="4389120" indent="0">
              <a:buNone/>
              <a:defRPr sz="1200"/>
            </a:lvl9pPr>
          </a:lstStyle>
          <a:p>
            <a:pPr lvl="0"/>
            <a:r>
              <a:rPr lang="en-US"/>
              <a:t>Click to edit Master text styles</a:t>
            </a:r>
          </a:p>
        </p:txBody>
      </p:sp>
      <p:sp>
        <p:nvSpPr>
          <p:cNvPr id="5" name="Date Placeholder 4">
            <a:extLst>
              <a:ext uri="{FF2B5EF4-FFF2-40B4-BE49-F238E27FC236}">
                <a16:creationId xmlns:a16="http://schemas.microsoft.com/office/drawing/2014/main" id="{0E675368-A70D-4328-8184-75345CDC7314}"/>
              </a:ext>
            </a:extLst>
          </p:cNvPr>
          <p:cNvSpPr>
            <a:spLocks noGrp="1"/>
          </p:cNvSpPr>
          <p:nvPr>
            <p:ph type="dt" sz="half" idx="10"/>
          </p:nvPr>
        </p:nvSpPr>
        <p:spPr/>
        <p:txBody>
          <a:bodyPr/>
          <a:lstStyle/>
          <a:p>
            <a:fld id="{42A54C80-263E-416B-A8E0-580EDEADCBDC}" type="datetimeFigureOut">
              <a:rPr lang="en-US" smtClean="0"/>
              <a:t>3/26/2026</a:t>
            </a:fld>
            <a:endParaRPr lang="en-US" dirty="0"/>
          </a:p>
        </p:txBody>
      </p:sp>
      <p:sp>
        <p:nvSpPr>
          <p:cNvPr id="6" name="Footer Placeholder 5">
            <a:extLst>
              <a:ext uri="{FF2B5EF4-FFF2-40B4-BE49-F238E27FC236}">
                <a16:creationId xmlns:a16="http://schemas.microsoft.com/office/drawing/2014/main" id="{9A568CD5-988B-3099-C0F2-C2D613A19F0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011B378-79E9-EC2C-7425-E236A8674CA4}"/>
              </a:ext>
            </a:extLst>
          </p:cNvPr>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3698352240"/>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1F5F8B-517D-DB87-CC94-A6350673F7CE}"/>
              </a:ext>
            </a:extLst>
          </p:cNvPr>
          <p:cNvSpPr>
            <a:spLocks noGrp="1"/>
          </p:cNvSpPr>
          <p:nvPr>
            <p:ph type="title"/>
          </p:nvPr>
        </p:nvSpPr>
        <p:spPr>
          <a:xfrm>
            <a:off x="1007746" y="548640"/>
            <a:ext cx="4718684" cy="1920240"/>
          </a:xfrm>
        </p:spPr>
        <p:txBody>
          <a:bodyPr anchor="b"/>
          <a:lstStyle>
            <a:lvl1pPr>
              <a:defRPr sz="384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C32818A-3C1B-94A0-7568-AEBF19C64713}"/>
              </a:ext>
            </a:extLst>
          </p:cNvPr>
          <p:cNvSpPr>
            <a:spLocks noGrp="1"/>
          </p:cNvSpPr>
          <p:nvPr>
            <p:ph type="pic" idx="1"/>
          </p:nvPr>
        </p:nvSpPr>
        <p:spPr>
          <a:xfrm>
            <a:off x="6219826" y="1184911"/>
            <a:ext cx="7406640" cy="5848350"/>
          </a:xfrm>
        </p:spPr>
        <p:txBody>
          <a:bodyPr/>
          <a:lstStyle>
            <a:lvl1pPr marL="0" indent="0">
              <a:buNone/>
              <a:defRPr sz="3840"/>
            </a:lvl1pPr>
            <a:lvl2pPr marL="548640" indent="0">
              <a:buNone/>
              <a:defRPr sz="3360"/>
            </a:lvl2pPr>
            <a:lvl3pPr marL="1097280" indent="0">
              <a:buNone/>
              <a:defRPr sz="2880"/>
            </a:lvl3pPr>
            <a:lvl4pPr marL="1645920" indent="0">
              <a:buNone/>
              <a:defRPr sz="2400"/>
            </a:lvl4pPr>
            <a:lvl5pPr marL="2194560" indent="0">
              <a:buNone/>
              <a:defRPr sz="2400"/>
            </a:lvl5pPr>
            <a:lvl6pPr marL="2743200" indent="0">
              <a:buNone/>
              <a:defRPr sz="2400"/>
            </a:lvl6pPr>
            <a:lvl7pPr marL="3291840" indent="0">
              <a:buNone/>
              <a:defRPr sz="2400"/>
            </a:lvl7pPr>
            <a:lvl8pPr marL="3840480" indent="0">
              <a:buNone/>
              <a:defRPr sz="2400"/>
            </a:lvl8pPr>
            <a:lvl9pPr marL="4389120" indent="0">
              <a:buNone/>
              <a:defRPr sz="2400"/>
            </a:lvl9pPr>
          </a:lstStyle>
          <a:p>
            <a:endParaRPr lang="en-IN"/>
          </a:p>
        </p:txBody>
      </p:sp>
      <p:sp>
        <p:nvSpPr>
          <p:cNvPr id="4" name="Text Placeholder 3">
            <a:extLst>
              <a:ext uri="{FF2B5EF4-FFF2-40B4-BE49-F238E27FC236}">
                <a16:creationId xmlns:a16="http://schemas.microsoft.com/office/drawing/2014/main" id="{423FA325-E567-2FD3-6FFC-72E4A2FF1D9F}"/>
              </a:ext>
            </a:extLst>
          </p:cNvPr>
          <p:cNvSpPr>
            <a:spLocks noGrp="1"/>
          </p:cNvSpPr>
          <p:nvPr>
            <p:ph type="body" sz="half" idx="2"/>
          </p:nvPr>
        </p:nvSpPr>
        <p:spPr>
          <a:xfrm>
            <a:off x="1007746" y="2468880"/>
            <a:ext cx="4718684" cy="4573906"/>
          </a:xfrm>
        </p:spPr>
        <p:txBody>
          <a:bodyPr/>
          <a:lstStyle>
            <a:lvl1pPr marL="0" indent="0">
              <a:buNone/>
              <a:defRPr sz="1920"/>
            </a:lvl1pPr>
            <a:lvl2pPr marL="548640" indent="0">
              <a:buNone/>
              <a:defRPr sz="1680"/>
            </a:lvl2pPr>
            <a:lvl3pPr marL="1097280" indent="0">
              <a:buNone/>
              <a:defRPr sz="1440"/>
            </a:lvl3pPr>
            <a:lvl4pPr marL="1645920" indent="0">
              <a:buNone/>
              <a:defRPr sz="1200"/>
            </a:lvl4pPr>
            <a:lvl5pPr marL="2194560" indent="0">
              <a:buNone/>
              <a:defRPr sz="1200"/>
            </a:lvl5pPr>
            <a:lvl6pPr marL="2743200" indent="0">
              <a:buNone/>
              <a:defRPr sz="1200"/>
            </a:lvl6pPr>
            <a:lvl7pPr marL="3291840" indent="0">
              <a:buNone/>
              <a:defRPr sz="1200"/>
            </a:lvl7pPr>
            <a:lvl8pPr marL="3840480" indent="0">
              <a:buNone/>
              <a:defRPr sz="1200"/>
            </a:lvl8pPr>
            <a:lvl9pPr marL="4389120" indent="0">
              <a:buNone/>
              <a:defRPr sz="1200"/>
            </a:lvl9pPr>
          </a:lstStyle>
          <a:p>
            <a:pPr lvl="0"/>
            <a:r>
              <a:rPr lang="en-US"/>
              <a:t>Click to edit Master text styles</a:t>
            </a:r>
          </a:p>
        </p:txBody>
      </p:sp>
      <p:sp>
        <p:nvSpPr>
          <p:cNvPr id="5" name="Date Placeholder 4">
            <a:extLst>
              <a:ext uri="{FF2B5EF4-FFF2-40B4-BE49-F238E27FC236}">
                <a16:creationId xmlns:a16="http://schemas.microsoft.com/office/drawing/2014/main" id="{869966C4-915C-00DE-D8FA-27B6FB0B05A3}"/>
              </a:ext>
            </a:extLst>
          </p:cNvPr>
          <p:cNvSpPr>
            <a:spLocks noGrp="1"/>
          </p:cNvSpPr>
          <p:nvPr>
            <p:ph type="dt" sz="half" idx="10"/>
          </p:nvPr>
        </p:nvSpPr>
        <p:spPr/>
        <p:txBody>
          <a:bodyPr/>
          <a:lstStyle/>
          <a:p>
            <a:fld id="{B61BEF0D-F0BB-DE4B-95CE-6DB70DBA9567}" type="datetimeFigureOut">
              <a:rPr lang="en-US" smtClean="0"/>
              <a:pPr/>
              <a:t>3/26/2026</a:t>
            </a:fld>
            <a:endParaRPr lang="en-US" dirty="0"/>
          </a:p>
        </p:txBody>
      </p:sp>
      <p:sp>
        <p:nvSpPr>
          <p:cNvPr id="6" name="Footer Placeholder 5">
            <a:extLst>
              <a:ext uri="{FF2B5EF4-FFF2-40B4-BE49-F238E27FC236}">
                <a16:creationId xmlns:a16="http://schemas.microsoft.com/office/drawing/2014/main" id="{759E8AE7-B851-8E86-5359-ABB8D4CEB90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E5DC272-EB0F-FD9F-C6D4-D3FB2D214EFF}"/>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93235383"/>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AFD29-51BE-1F54-EA51-F9A0E15B34AF}"/>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2E6E728-D8A9-28D5-1661-9718F603F32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0828A42-C94B-64A5-47B1-6453A42AF2A0}"/>
              </a:ext>
            </a:extLst>
          </p:cNvPr>
          <p:cNvSpPr>
            <a:spLocks noGrp="1"/>
          </p:cNvSpPr>
          <p:nvPr>
            <p:ph type="dt" sz="half" idx="10"/>
          </p:nvPr>
        </p:nvSpPr>
        <p:spPr/>
        <p:txBody>
          <a:bodyPr/>
          <a:lstStyle/>
          <a:p>
            <a:fld id="{55C6B4A9-1611-4792-9094-5F34BCA07E0B}" type="datetimeFigureOut">
              <a:rPr lang="en-US" smtClean="0"/>
              <a:t>3/26/2026</a:t>
            </a:fld>
            <a:endParaRPr lang="en-US" dirty="0"/>
          </a:p>
        </p:txBody>
      </p:sp>
      <p:sp>
        <p:nvSpPr>
          <p:cNvPr id="5" name="Footer Placeholder 4">
            <a:extLst>
              <a:ext uri="{FF2B5EF4-FFF2-40B4-BE49-F238E27FC236}">
                <a16:creationId xmlns:a16="http://schemas.microsoft.com/office/drawing/2014/main" id="{7BDEFD21-92D9-871D-E098-673190B613E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561F323-AAFF-DF60-F203-43D575D02BC1}"/>
              </a:ext>
            </a:extLst>
          </p:cNvPr>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415007653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4484DA-BAC1-053E-D825-C0458A7CE781}"/>
              </a:ext>
            </a:extLst>
          </p:cNvPr>
          <p:cNvSpPr>
            <a:spLocks noGrp="1"/>
          </p:cNvSpPr>
          <p:nvPr>
            <p:ph type="title" orient="vert"/>
          </p:nvPr>
        </p:nvSpPr>
        <p:spPr>
          <a:xfrm>
            <a:off x="10469880" y="438150"/>
            <a:ext cx="3154680" cy="6974206"/>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96CF871-33C3-3863-E0D9-192C17120E03}"/>
              </a:ext>
            </a:extLst>
          </p:cNvPr>
          <p:cNvSpPr>
            <a:spLocks noGrp="1"/>
          </p:cNvSpPr>
          <p:nvPr>
            <p:ph type="body" orient="vert" idx="1"/>
          </p:nvPr>
        </p:nvSpPr>
        <p:spPr>
          <a:xfrm>
            <a:off x="1005840" y="438150"/>
            <a:ext cx="9281160" cy="697420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054E7B9-C5EA-7217-2832-A7B6BC215367}"/>
              </a:ext>
            </a:extLst>
          </p:cNvPr>
          <p:cNvSpPr>
            <a:spLocks noGrp="1"/>
          </p:cNvSpPr>
          <p:nvPr>
            <p:ph type="dt" sz="half" idx="10"/>
          </p:nvPr>
        </p:nvSpPr>
        <p:spPr/>
        <p:txBody>
          <a:bodyPr/>
          <a:lstStyle/>
          <a:p>
            <a:fld id="{B61BEF0D-F0BB-DE4B-95CE-6DB70DBA9567}" type="datetimeFigureOut">
              <a:rPr lang="en-US" smtClean="0"/>
              <a:pPr/>
              <a:t>3/26/2026</a:t>
            </a:fld>
            <a:endParaRPr lang="en-US" dirty="0"/>
          </a:p>
        </p:txBody>
      </p:sp>
      <p:sp>
        <p:nvSpPr>
          <p:cNvPr id="5" name="Footer Placeholder 4">
            <a:extLst>
              <a:ext uri="{FF2B5EF4-FFF2-40B4-BE49-F238E27FC236}">
                <a16:creationId xmlns:a16="http://schemas.microsoft.com/office/drawing/2014/main" id="{D058EA85-C394-068D-F68C-EC5EE2D671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F10A609-24B1-A693-FB6E-F3AD08CAD341}"/>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938531"/>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1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71740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2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89552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3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62542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Slide 4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4943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Slide 5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34654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Slide 6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00493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Slide 7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73805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Slide 10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36944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lide 8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26083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Slide 9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27199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Slide 11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724693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Slide 12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02116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Slide 13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094234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Slide 14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82730574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Slide 15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2175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8">
            <a:lum/>
          </a:blip>
          <a:srcRect/>
          <a:stretch>
            <a:fillRect t="-9000" b="-9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0AA677-57FF-7562-E21C-B05D76F68185}"/>
              </a:ext>
            </a:extLst>
          </p:cNvPr>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659AAF9-3EDA-086D-11BF-9F7B029DB271}"/>
              </a:ext>
            </a:extLst>
          </p:cNvPr>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1C2CF47-90FC-44F2-0549-4B23B0FE9D16}"/>
              </a:ext>
            </a:extLst>
          </p:cNvPr>
          <p:cNvSpPr>
            <a:spLocks noGrp="1"/>
          </p:cNvSpPr>
          <p:nvPr>
            <p:ph type="dt" sz="half" idx="2"/>
          </p:nvPr>
        </p:nvSpPr>
        <p:spPr>
          <a:xfrm>
            <a:off x="1005840" y="7627621"/>
            <a:ext cx="3291840" cy="438150"/>
          </a:xfrm>
          <a:prstGeom prst="rect">
            <a:avLst/>
          </a:prstGeom>
        </p:spPr>
        <p:txBody>
          <a:bodyPr vert="horz" lIns="91440" tIns="45720" rIns="91440" bIns="45720" rtlCol="0" anchor="ctr"/>
          <a:lstStyle>
            <a:lvl1pPr algn="l">
              <a:defRPr sz="1440">
                <a:solidFill>
                  <a:schemeClr val="tx1">
                    <a:tint val="75000"/>
                  </a:schemeClr>
                </a:solidFill>
              </a:defRPr>
            </a:lvl1pPr>
          </a:lstStyle>
          <a:p>
            <a:fld id="{B61BEF0D-F0BB-DE4B-95CE-6DB70DBA9567}" type="datetimeFigureOut">
              <a:rPr lang="en-US" smtClean="0"/>
              <a:pPr/>
              <a:t>3/26/2026</a:t>
            </a:fld>
            <a:endParaRPr lang="en-US" dirty="0"/>
          </a:p>
        </p:txBody>
      </p:sp>
      <p:sp>
        <p:nvSpPr>
          <p:cNvPr id="5" name="Footer Placeholder 4">
            <a:extLst>
              <a:ext uri="{FF2B5EF4-FFF2-40B4-BE49-F238E27FC236}">
                <a16:creationId xmlns:a16="http://schemas.microsoft.com/office/drawing/2014/main" id="{09690515-F003-70F5-91B4-ABB334C68D33}"/>
              </a:ext>
            </a:extLst>
          </p:cNvPr>
          <p:cNvSpPr>
            <a:spLocks noGrp="1"/>
          </p:cNvSpPr>
          <p:nvPr>
            <p:ph type="ftr" sz="quarter" idx="3"/>
          </p:nvPr>
        </p:nvSpPr>
        <p:spPr>
          <a:xfrm>
            <a:off x="4846320" y="7627621"/>
            <a:ext cx="4937760" cy="438150"/>
          </a:xfrm>
          <a:prstGeom prst="rect">
            <a:avLst/>
          </a:prstGeom>
        </p:spPr>
        <p:txBody>
          <a:bodyPr vert="horz" lIns="91440" tIns="45720" rIns="91440" bIns="45720" rtlCol="0" anchor="ctr"/>
          <a:lstStyle>
            <a:lvl1pPr algn="ctr">
              <a:defRPr sz="144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D1A8D946-B94E-2620-0751-08BF5D1FDA95}"/>
              </a:ext>
            </a:extLst>
          </p:cNvPr>
          <p:cNvSpPr>
            <a:spLocks noGrp="1"/>
          </p:cNvSpPr>
          <p:nvPr>
            <p:ph type="sldNum" sz="quarter" idx="4"/>
          </p:nvPr>
        </p:nvSpPr>
        <p:spPr>
          <a:xfrm>
            <a:off x="10332720" y="7627621"/>
            <a:ext cx="3291840" cy="438150"/>
          </a:xfrm>
          <a:prstGeom prst="rect">
            <a:avLst/>
          </a:prstGeom>
        </p:spPr>
        <p:txBody>
          <a:bodyPr vert="horz" lIns="91440" tIns="45720" rIns="91440" bIns="45720" rtlCol="0" anchor="ctr"/>
          <a:lstStyle>
            <a:lvl1pPr algn="r">
              <a:defRPr sz="144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28822934"/>
      </p:ext>
    </p:extLst>
  </p:cSld>
  <p:clrMap bg1="lt1" tx1="dk1" bg2="lt2" tx2="dk2" accent1="accent1" accent2="accent2" accent3="accent3" accent4="accent4" accent5="accent5" accent6="accent6" hlink="hlink" folHlink="folHlink"/>
  <p:sldLayoutIdLst>
    <p:sldLayoutId id="2147483730" r:id="rId1"/>
    <p:sldLayoutId id="2147483731" r:id="rId2"/>
    <p:sldLayoutId id="2147483732" r:id="rId3"/>
    <p:sldLayoutId id="2147483733" r:id="rId4"/>
    <p:sldLayoutId id="2147483734" r:id="rId5"/>
    <p:sldLayoutId id="2147483735" r:id="rId6"/>
    <p:sldLayoutId id="2147483736" r:id="rId7"/>
    <p:sldLayoutId id="2147483737" r:id="rId8"/>
    <p:sldLayoutId id="2147483738" r:id="rId9"/>
    <p:sldLayoutId id="2147483739" r:id="rId10"/>
    <p:sldLayoutId id="2147483740" r:id="rId11"/>
    <p:sldLayoutId id="2147483741" r:id="rId12"/>
    <p:sldLayoutId id="2147483742" r:id="rId13"/>
    <p:sldLayoutId id="2147483743" r:id="rId14"/>
    <p:sldLayoutId id="2147483744" r:id="rId15"/>
    <p:sldLayoutId id="2147483745" r:id="rId16"/>
    <p:sldLayoutId id="2147483746" r:id="rId17"/>
    <p:sldLayoutId id="2147483747" r:id="rId18"/>
    <p:sldLayoutId id="2147483748" r:id="rId19"/>
    <p:sldLayoutId id="2147483749" r:id="rId20"/>
    <p:sldLayoutId id="2147483750" r:id="rId21"/>
    <p:sldLayoutId id="2147483751" r:id="rId22"/>
    <p:sldLayoutId id="2147483752" r:id="rId23"/>
    <p:sldLayoutId id="2147483753" r:id="rId24"/>
    <p:sldLayoutId id="2147483754" r:id="rId25"/>
    <p:sldLayoutId id="2147483755" r:id="rId26"/>
  </p:sldLayoutIdLst>
  <p:hf sldNum="0" hdr="0" ftr="0" dt="0"/>
  <p:txStyles>
    <p:titleStyle>
      <a:lvl1pPr algn="l" defTabSz="1097280" rtl="0" eaLnBrk="1" latinLnBrk="0" hangingPunct="1">
        <a:lnSpc>
          <a:spcPct val="90000"/>
        </a:lnSpc>
        <a:spcBef>
          <a:spcPct val="0"/>
        </a:spcBef>
        <a:buNone/>
        <a:defRPr sz="5280" kern="1200">
          <a:solidFill>
            <a:schemeClr val="tx1"/>
          </a:solidFill>
          <a:latin typeface="+mj-lt"/>
          <a:ea typeface="+mj-ea"/>
          <a:cs typeface="+mj-cs"/>
        </a:defRPr>
      </a:lvl1pPr>
    </p:titleStyle>
    <p:bodyStyle>
      <a:lvl1pPr marL="274320" indent="-274320" algn="l" defTabSz="1097280" rtl="0" eaLnBrk="1" latinLnBrk="0" hangingPunct="1">
        <a:lnSpc>
          <a:spcPct val="90000"/>
        </a:lnSpc>
        <a:spcBef>
          <a:spcPts val="1200"/>
        </a:spcBef>
        <a:buFont typeface="Arial" panose="020B0604020202020204" pitchFamily="34" charset="0"/>
        <a:buChar char="•"/>
        <a:defRPr sz="3360" kern="1200">
          <a:solidFill>
            <a:schemeClr val="tx1"/>
          </a:solidFill>
          <a:latin typeface="+mn-lt"/>
          <a:ea typeface="+mn-ea"/>
          <a:cs typeface="+mn-cs"/>
        </a:defRPr>
      </a:lvl1pPr>
      <a:lvl2pPr marL="822960" indent="-274320" algn="l" defTabSz="1097280" rtl="0" eaLnBrk="1" latinLnBrk="0" hangingPunct="1">
        <a:lnSpc>
          <a:spcPct val="90000"/>
        </a:lnSpc>
        <a:spcBef>
          <a:spcPts val="600"/>
        </a:spcBef>
        <a:buFont typeface="Arial" panose="020B0604020202020204" pitchFamily="34" charset="0"/>
        <a:buChar char="•"/>
        <a:defRPr sz="2880" kern="1200">
          <a:solidFill>
            <a:schemeClr val="tx1"/>
          </a:solidFill>
          <a:latin typeface="+mn-lt"/>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chemeClr val="tx1"/>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svg"/><Relationship Id="rId2" Type="http://schemas.openxmlformats.org/officeDocument/2006/relationships/notesSlide" Target="../notesSlides/notesSlide5.xml"/><Relationship Id="rId16" Type="http://schemas.openxmlformats.org/officeDocument/2006/relationships/image" Target="../media/image18.svg"/><Relationship Id="rId1" Type="http://schemas.openxmlformats.org/officeDocument/2006/relationships/slideLayout" Target="../slideLayouts/slideLayout17.xml"/><Relationship Id="rId6" Type="http://schemas.openxmlformats.org/officeDocument/2006/relationships/image" Target="../media/image8.sv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8.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8" Type="http://schemas.openxmlformats.org/officeDocument/2006/relationships/image" Target="../media/image26.svg"/><Relationship Id="rId13" Type="http://schemas.openxmlformats.org/officeDocument/2006/relationships/image" Target="../media/image31.png"/><Relationship Id="rId3" Type="http://schemas.openxmlformats.org/officeDocument/2006/relationships/image" Target="../media/image21.png"/><Relationship Id="rId7" Type="http://schemas.openxmlformats.org/officeDocument/2006/relationships/image" Target="../media/image25.png"/><Relationship Id="rId12" Type="http://schemas.openxmlformats.org/officeDocument/2006/relationships/image" Target="../media/image30.svg"/><Relationship Id="rId2" Type="http://schemas.openxmlformats.org/officeDocument/2006/relationships/notesSlide" Target="../notesSlides/notesSlide7.xml"/><Relationship Id="rId16" Type="http://schemas.openxmlformats.org/officeDocument/2006/relationships/image" Target="../media/image34.svg"/><Relationship Id="rId1" Type="http://schemas.openxmlformats.org/officeDocument/2006/relationships/slideLayout" Target="../slideLayouts/slideLayout19.xml"/><Relationship Id="rId6" Type="http://schemas.openxmlformats.org/officeDocument/2006/relationships/image" Target="../media/image24.svg"/><Relationship Id="rId11" Type="http://schemas.openxmlformats.org/officeDocument/2006/relationships/image" Target="../media/image29.png"/><Relationship Id="rId5" Type="http://schemas.openxmlformats.org/officeDocument/2006/relationships/image" Target="../media/image23.png"/><Relationship Id="rId15" Type="http://schemas.openxmlformats.org/officeDocument/2006/relationships/image" Target="../media/image33.png"/><Relationship Id="rId10" Type="http://schemas.openxmlformats.org/officeDocument/2006/relationships/image" Target="../media/image28.svg"/><Relationship Id="rId4" Type="http://schemas.openxmlformats.org/officeDocument/2006/relationships/image" Target="../media/image22.svg"/><Relationship Id="rId9" Type="http://schemas.openxmlformats.org/officeDocument/2006/relationships/image" Target="../media/image27.png"/><Relationship Id="rId14" Type="http://schemas.openxmlformats.org/officeDocument/2006/relationships/image" Target="../media/image32.svg"/></Relationships>
</file>

<file path=ppt/slides/_rels/slide9.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8" Type="http://schemas.openxmlformats.org/officeDocument/2006/relationships/image" Target="../media/image42.svg"/><Relationship Id="rId13" Type="http://schemas.openxmlformats.org/officeDocument/2006/relationships/image" Target="../media/image47.png"/><Relationship Id="rId18" Type="http://schemas.openxmlformats.org/officeDocument/2006/relationships/image" Target="../media/image52.png"/><Relationship Id="rId3" Type="http://schemas.openxmlformats.org/officeDocument/2006/relationships/image" Target="../media/image37.png"/><Relationship Id="rId7" Type="http://schemas.openxmlformats.org/officeDocument/2006/relationships/image" Target="../media/image41.png"/><Relationship Id="rId12" Type="http://schemas.openxmlformats.org/officeDocument/2006/relationships/image" Target="../media/image46.png"/><Relationship Id="rId17" Type="http://schemas.openxmlformats.org/officeDocument/2006/relationships/image" Target="../media/image51.svg"/><Relationship Id="rId2" Type="http://schemas.openxmlformats.org/officeDocument/2006/relationships/notesSlide" Target="../notesSlides/notesSlide8.xml"/><Relationship Id="rId16" Type="http://schemas.openxmlformats.org/officeDocument/2006/relationships/image" Target="../media/image50.png"/><Relationship Id="rId20" Type="http://schemas.openxmlformats.org/officeDocument/2006/relationships/image" Target="../media/image54.svg"/><Relationship Id="rId1" Type="http://schemas.openxmlformats.org/officeDocument/2006/relationships/slideLayout" Target="../slideLayouts/slideLayout20.xml"/><Relationship Id="rId6" Type="http://schemas.openxmlformats.org/officeDocument/2006/relationships/image" Target="../media/image40.png"/><Relationship Id="rId11" Type="http://schemas.openxmlformats.org/officeDocument/2006/relationships/image" Target="../media/image45.svg"/><Relationship Id="rId5" Type="http://schemas.openxmlformats.org/officeDocument/2006/relationships/image" Target="../media/image39.svg"/><Relationship Id="rId15" Type="http://schemas.openxmlformats.org/officeDocument/2006/relationships/image" Target="../media/image49.png"/><Relationship Id="rId10" Type="http://schemas.openxmlformats.org/officeDocument/2006/relationships/image" Target="../media/image44.png"/><Relationship Id="rId19" Type="http://schemas.openxmlformats.org/officeDocument/2006/relationships/image" Target="../media/image53.png"/><Relationship Id="rId4" Type="http://schemas.openxmlformats.org/officeDocument/2006/relationships/image" Target="../media/image38.png"/><Relationship Id="rId9" Type="http://schemas.openxmlformats.org/officeDocument/2006/relationships/image" Target="../media/image43.png"/><Relationship Id="rId14" Type="http://schemas.openxmlformats.org/officeDocument/2006/relationships/image" Target="../media/image48.svg"/></Relationships>
</file>

<file path=ppt/slides/_rels/slide1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0.xml"/><Relationship Id="rId4" Type="http://schemas.openxmlformats.org/officeDocument/2006/relationships/image" Target="../media/image58.png"/></Relationships>
</file>

<file path=ppt/slides/_rels/slide14.xml.rels><?xml version="1.0" encoding="UTF-8" standalone="yes"?>
<Relationships xmlns="http://schemas.openxmlformats.org/package/2006/relationships"><Relationship Id="rId8" Type="http://schemas.openxmlformats.org/officeDocument/2006/relationships/image" Target="../media/image64.svg"/><Relationship Id="rId13" Type="http://schemas.openxmlformats.org/officeDocument/2006/relationships/image" Target="../media/image69.png"/><Relationship Id="rId18" Type="http://schemas.openxmlformats.org/officeDocument/2006/relationships/image" Target="../media/image74.png"/><Relationship Id="rId3" Type="http://schemas.openxmlformats.org/officeDocument/2006/relationships/image" Target="../media/image59.png"/><Relationship Id="rId7" Type="http://schemas.openxmlformats.org/officeDocument/2006/relationships/image" Target="../media/image63.png"/><Relationship Id="rId12" Type="http://schemas.openxmlformats.org/officeDocument/2006/relationships/image" Target="../media/image68.png"/><Relationship Id="rId17" Type="http://schemas.openxmlformats.org/officeDocument/2006/relationships/image" Target="../media/image73.svg"/><Relationship Id="rId2" Type="http://schemas.openxmlformats.org/officeDocument/2006/relationships/notesSlide" Target="../notesSlides/notesSlide9.xml"/><Relationship Id="rId16" Type="http://schemas.openxmlformats.org/officeDocument/2006/relationships/image" Target="../media/image72.png"/><Relationship Id="rId20" Type="http://schemas.openxmlformats.org/officeDocument/2006/relationships/image" Target="../media/image76.svg"/><Relationship Id="rId1" Type="http://schemas.openxmlformats.org/officeDocument/2006/relationships/slideLayout" Target="../slideLayouts/slideLayout21.xml"/><Relationship Id="rId6" Type="http://schemas.openxmlformats.org/officeDocument/2006/relationships/image" Target="../media/image62.png"/><Relationship Id="rId11" Type="http://schemas.openxmlformats.org/officeDocument/2006/relationships/image" Target="../media/image67.svg"/><Relationship Id="rId5" Type="http://schemas.openxmlformats.org/officeDocument/2006/relationships/image" Target="../media/image61.svg"/><Relationship Id="rId15" Type="http://schemas.openxmlformats.org/officeDocument/2006/relationships/image" Target="../media/image71.png"/><Relationship Id="rId10" Type="http://schemas.openxmlformats.org/officeDocument/2006/relationships/image" Target="../media/image66.png"/><Relationship Id="rId19" Type="http://schemas.openxmlformats.org/officeDocument/2006/relationships/image" Target="../media/image75.png"/><Relationship Id="rId4" Type="http://schemas.openxmlformats.org/officeDocument/2006/relationships/image" Target="../media/image60.png"/><Relationship Id="rId9" Type="http://schemas.openxmlformats.org/officeDocument/2006/relationships/image" Target="../media/image65.png"/><Relationship Id="rId14" Type="http://schemas.openxmlformats.org/officeDocument/2006/relationships/image" Target="../media/image70.svg"/></Relationships>
</file>

<file path=ppt/slides/_rels/slide15.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jpeg"/><Relationship Id="rId1" Type="http://schemas.openxmlformats.org/officeDocument/2006/relationships/slideLayout" Target="../slideLayouts/slideLayout21.xml"/><Relationship Id="rId4" Type="http://schemas.openxmlformats.org/officeDocument/2006/relationships/image" Target="../media/image80.png"/></Relationships>
</file>

<file path=ppt/slides/_rels/slide17.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81.png"/><Relationship Id="rId7"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2.xml"/><Relationship Id="rId6" Type="http://schemas.openxmlformats.org/officeDocument/2006/relationships/image" Target="../media/image84.svg"/><Relationship Id="rId5" Type="http://schemas.openxmlformats.org/officeDocument/2006/relationships/image" Target="../media/image83.png"/><Relationship Id="rId10" Type="http://schemas.openxmlformats.org/officeDocument/2006/relationships/image" Target="../media/image28.svg"/><Relationship Id="rId4" Type="http://schemas.openxmlformats.org/officeDocument/2006/relationships/image" Target="../media/image82.svg"/><Relationship Id="rId9" Type="http://schemas.openxmlformats.org/officeDocument/2006/relationships/image" Target="../media/image27.png"/></Relationships>
</file>

<file path=ppt/slides/_rels/slide18.xml.rels><?xml version="1.0" encoding="UTF-8" standalone="yes"?>
<Relationships xmlns="http://schemas.openxmlformats.org/package/2006/relationships"><Relationship Id="rId8" Type="http://schemas.openxmlformats.org/officeDocument/2006/relationships/image" Target="../media/image90.svg"/><Relationship Id="rId3" Type="http://schemas.openxmlformats.org/officeDocument/2006/relationships/image" Target="../media/image85.png"/><Relationship Id="rId7" Type="http://schemas.openxmlformats.org/officeDocument/2006/relationships/image" Target="../media/image89.png"/><Relationship Id="rId2" Type="http://schemas.openxmlformats.org/officeDocument/2006/relationships/notesSlide" Target="../notesSlides/notesSlide11.xml"/><Relationship Id="rId1" Type="http://schemas.openxmlformats.org/officeDocument/2006/relationships/slideLayout" Target="../slideLayouts/slideLayout23.xml"/><Relationship Id="rId6" Type="http://schemas.openxmlformats.org/officeDocument/2006/relationships/image" Target="../media/image88.svg"/><Relationship Id="rId5" Type="http://schemas.openxmlformats.org/officeDocument/2006/relationships/image" Target="../media/image87.png"/><Relationship Id="rId4" Type="http://schemas.openxmlformats.org/officeDocument/2006/relationships/image" Target="../media/image86.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793790" y="884277"/>
            <a:ext cx="7825502" cy="978218"/>
          </a:xfrm>
          <a:prstGeom prst="rect">
            <a:avLst/>
          </a:prstGeom>
          <a:noFill/>
          <a:ln/>
        </p:spPr>
        <p:txBody>
          <a:bodyPr wrap="none" lIns="0" tIns="0" rIns="0" bIns="0" rtlCol="0" anchor="t"/>
          <a:lstStyle/>
          <a:p>
            <a:pPr marL="0" indent="0" algn="l">
              <a:lnSpc>
                <a:spcPts val="7700"/>
              </a:lnSpc>
              <a:buNone/>
            </a:pPr>
            <a:r>
              <a:rPr lang="en-US" sz="6150" dirty="0">
                <a:solidFill>
                  <a:srgbClr val="003366"/>
                </a:solidFill>
                <a:latin typeface="Libre Baskerville" pitchFamily="34" charset="0"/>
                <a:ea typeface="Libre Baskerville" pitchFamily="34" charset="-122"/>
                <a:cs typeface="Libre Baskerville" pitchFamily="34" charset="-120"/>
              </a:rPr>
              <a:t>MedLink</a:t>
            </a:r>
            <a:endParaRPr lang="en-US" sz="6150" dirty="0">
              <a:solidFill>
                <a:srgbClr val="003366"/>
              </a:solidFill>
            </a:endParaRPr>
          </a:p>
        </p:txBody>
      </p:sp>
      <p:sp>
        <p:nvSpPr>
          <p:cNvPr id="3" name="Text 1"/>
          <p:cNvSpPr/>
          <p:nvPr/>
        </p:nvSpPr>
        <p:spPr>
          <a:xfrm>
            <a:off x="763310" y="2239507"/>
            <a:ext cx="4788294" cy="453509"/>
          </a:xfrm>
          <a:prstGeom prst="rect">
            <a:avLst/>
          </a:prstGeom>
          <a:noFill/>
          <a:ln/>
        </p:spPr>
        <p:txBody>
          <a:bodyPr wrap="none" lIns="0" tIns="0" rIns="0" bIns="0" rtlCol="0" anchor="t"/>
          <a:lstStyle/>
          <a:p>
            <a:pPr marL="0" indent="0">
              <a:lnSpc>
                <a:spcPts val="3550"/>
              </a:lnSpc>
              <a:buNone/>
            </a:pPr>
            <a:r>
              <a:rPr lang="en-US" sz="2400" b="1" dirty="0">
                <a:solidFill>
                  <a:schemeClr val="tx1">
                    <a:lumMod val="95000"/>
                    <a:lumOff val="5000"/>
                  </a:schemeClr>
                </a:solidFill>
                <a:latin typeface="Open Sans" pitchFamily="34" charset="0"/>
                <a:ea typeface="Open Sans" pitchFamily="34" charset="-122"/>
                <a:cs typeface="Open Sans" pitchFamily="34" charset="-120"/>
              </a:rPr>
              <a:t>Project Presentation</a:t>
            </a:r>
            <a:endParaRPr lang="en-US" sz="2400" b="1" dirty="0">
              <a:solidFill>
                <a:schemeClr val="tx1">
                  <a:lumMod val="95000"/>
                  <a:lumOff val="5000"/>
                </a:schemeClr>
              </a:solidFill>
            </a:endParaRPr>
          </a:p>
        </p:txBody>
      </p:sp>
      <p:sp>
        <p:nvSpPr>
          <p:cNvPr id="4" name="Text 2"/>
          <p:cNvSpPr/>
          <p:nvPr/>
        </p:nvSpPr>
        <p:spPr>
          <a:xfrm>
            <a:off x="763310" y="2911316"/>
            <a:ext cx="13042821" cy="362903"/>
          </a:xfrm>
          <a:prstGeom prst="rect">
            <a:avLst/>
          </a:prstGeom>
          <a:noFill/>
          <a:ln/>
        </p:spPr>
        <p:txBody>
          <a:bodyPr wrap="non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Developed as part of the Infosys Springboard Internship 6.0</a:t>
            </a:r>
            <a:endParaRPr lang="en-US" sz="1750" dirty="0">
              <a:solidFill>
                <a:schemeClr val="tx1">
                  <a:lumMod val="95000"/>
                  <a:lumOff val="5000"/>
                </a:schemeClr>
              </a:solidFill>
            </a:endParaRPr>
          </a:p>
        </p:txBody>
      </p:sp>
      <p:sp>
        <p:nvSpPr>
          <p:cNvPr id="5" name="Text 3"/>
          <p:cNvSpPr/>
          <p:nvPr/>
        </p:nvSpPr>
        <p:spPr>
          <a:xfrm>
            <a:off x="793790" y="3529370"/>
            <a:ext cx="13042821" cy="362903"/>
          </a:xfrm>
          <a:prstGeom prst="rect">
            <a:avLst/>
          </a:prstGeom>
          <a:noFill/>
          <a:ln/>
        </p:spPr>
        <p:txBody>
          <a:bodyPr wrap="none" lIns="0" tIns="0" rIns="0" bIns="0" rtlCol="0" anchor="t"/>
          <a:lstStyle/>
          <a:p>
            <a:pPr marL="0" indent="0" algn="l">
              <a:lnSpc>
                <a:spcPts val="2850"/>
              </a:lnSpc>
              <a:buNone/>
            </a:pPr>
            <a:r>
              <a:rPr lang="en-US" sz="2000" b="1" dirty="0">
                <a:solidFill>
                  <a:schemeClr val="tx1">
                    <a:lumMod val="95000"/>
                    <a:lumOff val="5000"/>
                  </a:schemeClr>
                </a:solidFill>
                <a:latin typeface="Open Sans" pitchFamily="34" charset="0"/>
                <a:ea typeface="Open Sans" pitchFamily="34" charset="-122"/>
                <a:cs typeface="Open Sans" pitchFamily="34" charset="-120"/>
              </a:rPr>
              <a:t>Presented by:</a:t>
            </a:r>
            <a:endParaRPr lang="en-US" sz="2000" b="1" dirty="0">
              <a:solidFill>
                <a:schemeClr val="tx1">
                  <a:lumMod val="95000"/>
                  <a:lumOff val="5000"/>
                </a:schemeClr>
              </a:solidFill>
            </a:endParaRPr>
          </a:p>
        </p:txBody>
      </p:sp>
      <p:pic>
        <p:nvPicPr>
          <p:cNvPr id="6" name="Image 0" descr="preencoded.png"/>
          <p:cNvPicPr>
            <a:picLocks noChangeAspect="1"/>
          </p:cNvPicPr>
          <p:nvPr/>
        </p:nvPicPr>
        <p:blipFill>
          <a:blip r:embed="rId3"/>
          <a:stretch>
            <a:fillRect/>
          </a:stretch>
        </p:blipFill>
        <p:spPr>
          <a:xfrm>
            <a:off x="763310" y="4116943"/>
            <a:ext cx="60960" cy="415290"/>
          </a:xfrm>
          <a:prstGeom prst="rect">
            <a:avLst/>
          </a:prstGeom>
        </p:spPr>
      </p:pic>
      <p:sp>
        <p:nvSpPr>
          <p:cNvPr id="7" name="Text 4"/>
          <p:cNvSpPr/>
          <p:nvPr/>
        </p:nvSpPr>
        <p:spPr>
          <a:xfrm>
            <a:off x="1081564" y="4147423"/>
            <a:ext cx="2835235" cy="354330"/>
          </a:xfrm>
          <a:prstGeom prst="rect">
            <a:avLst/>
          </a:prstGeom>
          <a:noFill/>
          <a:ln/>
        </p:spPr>
        <p:txBody>
          <a:bodyPr wrap="none" lIns="0" tIns="0" rIns="0" bIns="0" rtlCol="0" anchor="t"/>
          <a:lstStyle/>
          <a:p>
            <a:pPr marL="0" indent="0" algn="l">
              <a:lnSpc>
                <a:spcPts val="2750"/>
              </a:lnSpc>
              <a:buNone/>
            </a:pPr>
            <a:r>
              <a:rPr lang="en-US" sz="2200" dirty="0">
                <a:solidFill>
                  <a:schemeClr val="tx1">
                    <a:lumMod val="95000"/>
                    <a:lumOff val="5000"/>
                  </a:schemeClr>
                </a:solidFill>
                <a:latin typeface="Libre Baskerville" pitchFamily="34" charset="0"/>
              </a:rPr>
              <a:t>Shai Shalini</a:t>
            </a:r>
            <a:endParaRPr lang="en-US" sz="2200" dirty="0">
              <a:solidFill>
                <a:schemeClr val="tx1">
                  <a:lumMod val="95000"/>
                  <a:lumOff val="5000"/>
                </a:schemeClr>
              </a:solidFill>
            </a:endParaRPr>
          </a:p>
        </p:txBody>
      </p:sp>
      <p:pic>
        <p:nvPicPr>
          <p:cNvPr id="8" name="Image 1" descr="preencoded.png"/>
          <p:cNvPicPr>
            <a:picLocks noChangeAspect="1"/>
          </p:cNvPicPr>
          <p:nvPr/>
        </p:nvPicPr>
        <p:blipFill>
          <a:blip r:embed="rId3"/>
          <a:stretch>
            <a:fillRect/>
          </a:stretch>
        </p:blipFill>
        <p:spPr>
          <a:xfrm>
            <a:off x="7426404" y="4116943"/>
            <a:ext cx="60960" cy="415290"/>
          </a:xfrm>
          <a:prstGeom prst="rect">
            <a:avLst/>
          </a:prstGeom>
        </p:spPr>
      </p:pic>
      <p:sp>
        <p:nvSpPr>
          <p:cNvPr id="9" name="Text 5"/>
          <p:cNvSpPr/>
          <p:nvPr/>
        </p:nvSpPr>
        <p:spPr>
          <a:xfrm>
            <a:off x="7744658" y="4147423"/>
            <a:ext cx="2835235" cy="354330"/>
          </a:xfrm>
          <a:prstGeom prst="rect">
            <a:avLst/>
          </a:prstGeom>
          <a:noFill/>
          <a:ln/>
        </p:spPr>
        <p:txBody>
          <a:bodyPr wrap="none" lIns="0" tIns="0" rIns="0" bIns="0" rtlCol="0" anchor="t"/>
          <a:lstStyle/>
          <a:p>
            <a:pPr marL="0" indent="0" algn="l">
              <a:lnSpc>
                <a:spcPts val="2750"/>
              </a:lnSpc>
              <a:buNone/>
            </a:pPr>
            <a:r>
              <a:rPr lang="en-US" sz="2200" dirty="0">
                <a:solidFill>
                  <a:schemeClr val="tx1">
                    <a:lumMod val="95000"/>
                    <a:lumOff val="5000"/>
                  </a:schemeClr>
                </a:solidFill>
                <a:latin typeface="Libre Baskerville" pitchFamily="34" charset="0"/>
              </a:rPr>
              <a:t>Aman Nagar</a:t>
            </a:r>
            <a:endParaRPr lang="en-US" sz="2200" dirty="0">
              <a:solidFill>
                <a:schemeClr val="tx1">
                  <a:lumMod val="95000"/>
                  <a:lumOff val="5000"/>
                </a:schemeClr>
              </a:solidFill>
            </a:endParaRPr>
          </a:p>
        </p:txBody>
      </p:sp>
      <p:pic>
        <p:nvPicPr>
          <p:cNvPr id="10" name="Image 2" descr="preencoded.png"/>
          <p:cNvPicPr>
            <a:picLocks noChangeAspect="1"/>
          </p:cNvPicPr>
          <p:nvPr/>
        </p:nvPicPr>
        <p:blipFill>
          <a:blip r:embed="rId3"/>
          <a:stretch>
            <a:fillRect/>
          </a:stretch>
        </p:blipFill>
        <p:spPr>
          <a:xfrm>
            <a:off x="763310" y="4924901"/>
            <a:ext cx="60960" cy="415290"/>
          </a:xfrm>
          <a:prstGeom prst="rect">
            <a:avLst/>
          </a:prstGeom>
        </p:spPr>
      </p:pic>
      <p:sp>
        <p:nvSpPr>
          <p:cNvPr id="11" name="Text 6"/>
          <p:cNvSpPr/>
          <p:nvPr/>
        </p:nvSpPr>
        <p:spPr>
          <a:xfrm>
            <a:off x="1081564" y="4955381"/>
            <a:ext cx="2835235" cy="354330"/>
          </a:xfrm>
          <a:prstGeom prst="rect">
            <a:avLst/>
          </a:prstGeom>
          <a:noFill/>
          <a:ln/>
        </p:spPr>
        <p:txBody>
          <a:bodyPr wrap="none" lIns="0" tIns="0" rIns="0" bIns="0" rtlCol="0" anchor="t"/>
          <a:lstStyle/>
          <a:p>
            <a:pPr marL="0" indent="0" algn="l">
              <a:lnSpc>
                <a:spcPts val="2750"/>
              </a:lnSpc>
              <a:buNone/>
            </a:pPr>
            <a:r>
              <a:rPr lang="en-US" sz="2200" dirty="0">
                <a:solidFill>
                  <a:schemeClr val="tx1">
                    <a:lumMod val="95000"/>
                    <a:lumOff val="5000"/>
                  </a:schemeClr>
                </a:solidFill>
                <a:latin typeface="Libre Baskerville" pitchFamily="34" charset="0"/>
              </a:rPr>
              <a:t>Sanjana</a:t>
            </a:r>
            <a:endParaRPr lang="en-US" sz="2200" dirty="0">
              <a:solidFill>
                <a:schemeClr val="tx1">
                  <a:lumMod val="95000"/>
                  <a:lumOff val="5000"/>
                </a:schemeClr>
              </a:solidFill>
            </a:endParaRPr>
          </a:p>
        </p:txBody>
      </p:sp>
      <p:pic>
        <p:nvPicPr>
          <p:cNvPr id="12" name="Image 3" descr="preencoded.png"/>
          <p:cNvPicPr>
            <a:picLocks noChangeAspect="1"/>
          </p:cNvPicPr>
          <p:nvPr/>
        </p:nvPicPr>
        <p:blipFill>
          <a:blip r:embed="rId3"/>
          <a:stretch>
            <a:fillRect/>
          </a:stretch>
        </p:blipFill>
        <p:spPr>
          <a:xfrm>
            <a:off x="7426404" y="4924901"/>
            <a:ext cx="60960" cy="415290"/>
          </a:xfrm>
          <a:prstGeom prst="rect">
            <a:avLst/>
          </a:prstGeom>
        </p:spPr>
      </p:pic>
      <p:sp>
        <p:nvSpPr>
          <p:cNvPr id="13" name="Text 7"/>
          <p:cNvSpPr/>
          <p:nvPr/>
        </p:nvSpPr>
        <p:spPr>
          <a:xfrm>
            <a:off x="7744658" y="4924901"/>
            <a:ext cx="2835235" cy="354330"/>
          </a:xfrm>
          <a:prstGeom prst="rect">
            <a:avLst/>
          </a:prstGeom>
          <a:noFill/>
          <a:ln/>
        </p:spPr>
        <p:txBody>
          <a:bodyPr wrap="none" lIns="0" tIns="0" rIns="0" bIns="0" rtlCol="0" anchor="t"/>
          <a:lstStyle/>
          <a:p>
            <a:pPr marL="0" indent="0" algn="l">
              <a:lnSpc>
                <a:spcPts val="2750"/>
              </a:lnSpc>
              <a:buNone/>
            </a:pPr>
            <a:r>
              <a:rPr lang="en-US" sz="2200" dirty="0">
                <a:solidFill>
                  <a:schemeClr val="tx1">
                    <a:lumMod val="95000"/>
                    <a:lumOff val="5000"/>
                  </a:schemeClr>
                </a:solidFill>
                <a:latin typeface="Libre Baskerville" pitchFamily="34" charset="0"/>
              </a:rPr>
              <a:t>Shaikun Rani</a:t>
            </a:r>
            <a:endParaRPr lang="en-US" sz="2200" dirty="0">
              <a:solidFill>
                <a:schemeClr val="tx1">
                  <a:lumMod val="95000"/>
                  <a:lumOff val="5000"/>
                </a:schemeClr>
              </a:solidFill>
            </a:endParaRPr>
          </a:p>
        </p:txBody>
      </p:sp>
      <p:pic>
        <p:nvPicPr>
          <p:cNvPr id="14" name="Image 4" descr="preencoded.png"/>
          <p:cNvPicPr>
            <a:picLocks noChangeAspect="1"/>
          </p:cNvPicPr>
          <p:nvPr/>
        </p:nvPicPr>
        <p:blipFill>
          <a:blip r:embed="rId3"/>
          <a:stretch>
            <a:fillRect/>
          </a:stretch>
        </p:blipFill>
        <p:spPr>
          <a:xfrm>
            <a:off x="763310" y="5732859"/>
            <a:ext cx="60960" cy="415290"/>
          </a:xfrm>
          <a:prstGeom prst="rect">
            <a:avLst/>
          </a:prstGeom>
        </p:spPr>
      </p:pic>
      <p:sp>
        <p:nvSpPr>
          <p:cNvPr id="15" name="Text 8"/>
          <p:cNvSpPr/>
          <p:nvPr/>
        </p:nvSpPr>
        <p:spPr>
          <a:xfrm>
            <a:off x="1081562" y="5763339"/>
            <a:ext cx="2835235" cy="354330"/>
          </a:xfrm>
          <a:prstGeom prst="rect">
            <a:avLst/>
          </a:prstGeom>
          <a:noFill/>
          <a:ln/>
        </p:spPr>
        <p:txBody>
          <a:bodyPr wrap="none" lIns="0" tIns="0" rIns="0" bIns="0" rtlCol="0" anchor="t"/>
          <a:lstStyle/>
          <a:p>
            <a:pPr marL="0" indent="0" algn="l">
              <a:lnSpc>
                <a:spcPts val="2750"/>
              </a:lnSpc>
              <a:buNone/>
            </a:pPr>
            <a:r>
              <a:rPr lang="en-US" sz="2200" dirty="0">
                <a:solidFill>
                  <a:schemeClr val="tx1">
                    <a:lumMod val="95000"/>
                    <a:lumOff val="5000"/>
                  </a:schemeClr>
                </a:solidFill>
                <a:latin typeface="Libre Baskerville" panose="02000000000000000000" pitchFamily="2" charset="0"/>
              </a:rPr>
              <a:t>Sruthi</a:t>
            </a:r>
          </a:p>
        </p:txBody>
      </p:sp>
      <p:pic>
        <p:nvPicPr>
          <p:cNvPr id="16" name="Image 5" descr="preencoded.png"/>
          <p:cNvPicPr>
            <a:picLocks noChangeAspect="1"/>
          </p:cNvPicPr>
          <p:nvPr/>
        </p:nvPicPr>
        <p:blipFill>
          <a:blip r:embed="rId3"/>
          <a:stretch>
            <a:fillRect/>
          </a:stretch>
        </p:blipFill>
        <p:spPr>
          <a:xfrm>
            <a:off x="7426404" y="5732859"/>
            <a:ext cx="60960" cy="415290"/>
          </a:xfrm>
          <a:prstGeom prst="rect">
            <a:avLst/>
          </a:prstGeom>
        </p:spPr>
      </p:pic>
      <p:sp>
        <p:nvSpPr>
          <p:cNvPr id="17" name="Text 9"/>
          <p:cNvSpPr/>
          <p:nvPr/>
        </p:nvSpPr>
        <p:spPr>
          <a:xfrm>
            <a:off x="7744658" y="5770274"/>
            <a:ext cx="2835235" cy="354330"/>
          </a:xfrm>
          <a:prstGeom prst="rect">
            <a:avLst/>
          </a:prstGeom>
          <a:noFill/>
          <a:ln/>
        </p:spPr>
        <p:txBody>
          <a:bodyPr wrap="none" lIns="0" tIns="0" rIns="0" bIns="0" rtlCol="0" anchor="t"/>
          <a:lstStyle/>
          <a:p>
            <a:pPr marL="0" indent="0" algn="l">
              <a:lnSpc>
                <a:spcPts val="2750"/>
              </a:lnSpc>
              <a:buNone/>
            </a:pPr>
            <a:r>
              <a:rPr lang="en-US" sz="2200" dirty="0">
                <a:solidFill>
                  <a:schemeClr val="tx1">
                    <a:lumMod val="95000"/>
                    <a:lumOff val="5000"/>
                  </a:schemeClr>
                </a:solidFill>
                <a:latin typeface="Libre Baskerville" pitchFamily="34" charset="0"/>
              </a:rPr>
              <a:t>Nilvana </a:t>
            </a:r>
            <a:endParaRPr lang="en-US" sz="2200" dirty="0">
              <a:solidFill>
                <a:schemeClr val="tx1">
                  <a:lumMod val="95000"/>
                  <a:lumOff val="5000"/>
                </a:schemeClr>
              </a:solidFill>
            </a:endParaRPr>
          </a:p>
        </p:txBody>
      </p:sp>
      <p:sp>
        <p:nvSpPr>
          <p:cNvPr id="18" name="Text 10"/>
          <p:cNvSpPr/>
          <p:nvPr/>
        </p:nvSpPr>
        <p:spPr>
          <a:xfrm>
            <a:off x="793790" y="6372820"/>
            <a:ext cx="13042821" cy="362903"/>
          </a:xfrm>
          <a:prstGeom prst="rect">
            <a:avLst/>
          </a:prstGeom>
          <a:noFill/>
          <a:ln/>
        </p:spPr>
        <p:txBody>
          <a:bodyPr wrap="none" lIns="0" tIns="0" rIns="0" bIns="0" rtlCol="0" anchor="t"/>
          <a:lstStyle/>
          <a:p>
            <a:pPr marL="0" indent="0" algn="l">
              <a:lnSpc>
                <a:spcPts val="2850"/>
              </a:lnSpc>
              <a:buNone/>
            </a:pPr>
            <a:r>
              <a:rPr lang="en-US" sz="2000" b="1" dirty="0">
                <a:solidFill>
                  <a:schemeClr val="tx1">
                    <a:lumMod val="95000"/>
                    <a:lumOff val="5000"/>
                  </a:schemeClr>
                </a:solidFill>
                <a:latin typeface="Open Sans" pitchFamily="34" charset="0"/>
                <a:ea typeface="Open Sans" pitchFamily="34" charset="-122"/>
                <a:cs typeface="Open Sans" pitchFamily="34" charset="-120"/>
              </a:rPr>
              <a:t>Mentor:</a:t>
            </a:r>
            <a:endParaRPr lang="en-US" sz="2000" b="1" dirty="0">
              <a:solidFill>
                <a:schemeClr val="tx1">
                  <a:lumMod val="95000"/>
                  <a:lumOff val="5000"/>
                </a:schemeClr>
              </a:solidFill>
            </a:endParaRPr>
          </a:p>
        </p:txBody>
      </p:sp>
      <p:pic>
        <p:nvPicPr>
          <p:cNvPr id="19" name="Image 6" descr="preencoded.png"/>
          <p:cNvPicPr>
            <a:picLocks noChangeAspect="1"/>
          </p:cNvPicPr>
          <p:nvPr/>
        </p:nvPicPr>
        <p:blipFill>
          <a:blip r:embed="rId3"/>
          <a:stretch>
            <a:fillRect/>
          </a:stretch>
        </p:blipFill>
        <p:spPr>
          <a:xfrm>
            <a:off x="763310" y="6960394"/>
            <a:ext cx="60960" cy="415290"/>
          </a:xfrm>
          <a:prstGeom prst="rect">
            <a:avLst/>
          </a:prstGeom>
        </p:spPr>
      </p:pic>
      <p:sp>
        <p:nvSpPr>
          <p:cNvPr id="20" name="Text 11"/>
          <p:cNvSpPr/>
          <p:nvPr/>
        </p:nvSpPr>
        <p:spPr>
          <a:xfrm>
            <a:off x="1081563" y="7021354"/>
            <a:ext cx="2835235" cy="354330"/>
          </a:xfrm>
          <a:prstGeom prst="rect">
            <a:avLst/>
          </a:prstGeom>
          <a:noFill/>
          <a:ln/>
        </p:spPr>
        <p:txBody>
          <a:bodyPr wrap="none" lIns="0" tIns="0" rIns="0" bIns="0" rtlCol="0" anchor="t"/>
          <a:lstStyle/>
          <a:p>
            <a:pPr marL="0" indent="0" algn="l">
              <a:lnSpc>
                <a:spcPts val="2750"/>
              </a:lnSpc>
              <a:buNone/>
            </a:pPr>
            <a:r>
              <a:rPr lang="en-US" sz="2200" dirty="0">
                <a:solidFill>
                  <a:schemeClr val="tx1">
                    <a:lumMod val="95000"/>
                    <a:lumOff val="5000"/>
                  </a:schemeClr>
                </a:solidFill>
                <a:latin typeface="Libre Baskerville" pitchFamily="34" charset="0"/>
                <a:ea typeface="Libre Baskerville" pitchFamily="34" charset="-122"/>
                <a:cs typeface="Libre Baskerville" pitchFamily="34" charset="-120"/>
              </a:rPr>
              <a:t>Vinay Prashant sir</a:t>
            </a:r>
            <a:endParaRPr lang="en-US" sz="2200" dirty="0">
              <a:solidFill>
                <a:schemeClr val="tx1">
                  <a:lumMod val="95000"/>
                  <a:lumOff val="5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2018372"/>
            <a:ext cx="5670590" cy="1061538"/>
          </a:xfrm>
          <a:prstGeom prst="rect">
            <a:avLst/>
          </a:prstGeom>
          <a:noFill/>
          <a:ln/>
        </p:spPr>
        <p:txBody>
          <a:bodyPr wrap="none" lIns="0" tIns="0" rIns="0" bIns="0" rtlCol="0" anchor="t"/>
          <a:lstStyle/>
          <a:p>
            <a:pPr marL="0" indent="0" algn="l">
              <a:lnSpc>
                <a:spcPts val="5550"/>
              </a:lnSpc>
              <a:buNone/>
            </a:pPr>
            <a:r>
              <a:rPr lang="en-US" sz="4450" dirty="0">
                <a:solidFill>
                  <a:srgbClr val="194178"/>
                </a:solidFill>
                <a:latin typeface="Libre Baskerville" pitchFamily="34" charset="0"/>
                <a:ea typeface="Libre Baskerville" pitchFamily="34" charset="-122"/>
                <a:cs typeface="Libre Baskerville" pitchFamily="34" charset="-120"/>
              </a:rPr>
              <a:t>MedLink</a:t>
            </a:r>
            <a:endParaRPr lang="en-US" sz="4450" dirty="0">
              <a:solidFill>
                <a:srgbClr val="194178"/>
              </a:solidFill>
            </a:endParaRPr>
          </a:p>
        </p:txBody>
      </p:sp>
      <p:sp>
        <p:nvSpPr>
          <p:cNvPr id="3" name="Text 1"/>
          <p:cNvSpPr/>
          <p:nvPr/>
        </p:nvSpPr>
        <p:spPr>
          <a:xfrm>
            <a:off x="793790" y="3079911"/>
            <a:ext cx="13042821" cy="533084"/>
          </a:xfrm>
          <a:prstGeom prst="rect">
            <a:avLst/>
          </a:prstGeom>
          <a:noFill/>
          <a:ln/>
        </p:spPr>
        <p:txBody>
          <a:bodyPr wrap="none" lIns="0" tIns="0" rIns="0" bIns="0" rtlCol="0" anchor="t"/>
          <a:lstStyle/>
          <a:p>
            <a:pPr marL="0" indent="0" algn="l">
              <a:lnSpc>
                <a:spcPts val="2850"/>
              </a:lnSpc>
              <a:buNone/>
            </a:pPr>
            <a:r>
              <a:rPr lang="en-US" sz="2000" b="1" dirty="0">
                <a:solidFill>
                  <a:schemeClr val="tx1">
                    <a:lumMod val="95000"/>
                    <a:lumOff val="5000"/>
                  </a:schemeClr>
                </a:solidFill>
                <a:latin typeface="Open Sans" pitchFamily="34" charset="0"/>
                <a:ea typeface="Open Sans" pitchFamily="34" charset="-122"/>
                <a:cs typeface="Open Sans" pitchFamily="34" charset="-120"/>
              </a:rPr>
              <a:t>Online Prescription and Medication Tracker</a:t>
            </a:r>
            <a:endParaRPr lang="en-US" sz="2000" b="1" dirty="0">
              <a:solidFill>
                <a:schemeClr val="tx1">
                  <a:lumMod val="95000"/>
                  <a:lumOff val="5000"/>
                </a:schemeClr>
              </a:solidFill>
            </a:endParaRPr>
          </a:p>
        </p:txBody>
      </p:sp>
      <p:sp>
        <p:nvSpPr>
          <p:cNvPr id="4" name="Text 2"/>
          <p:cNvSpPr/>
          <p:nvPr/>
        </p:nvSpPr>
        <p:spPr>
          <a:xfrm>
            <a:off x="793790" y="3769112"/>
            <a:ext cx="13042821" cy="1471186"/>
          </a:xfrm>
          <a:prstGeom prst="rect">
            <a:avLst/>
          </a:prstGeom>
          <a:noFill/>
          <a:ln/>
        </p:spPr>
        <p:txBody>
          <a:bodyPr wrap="square" lIns="0" tIns="0" rIns="0" bIns="0" rtlCol="0" anchor="t"/>
          <a:lstStyle/>
          <a:p>
            <a:pPr marL="0" indent="0" algn="l">
              <a:lnSpc>
                <a:spcPts val="2850"/>
              </a:lnSpc>
              <a:buNone/>
            </a:pPr>
            <a:r>
              <a:rPr lang="en-US" sz="1750" dirty="0">
                <a:solidFill>
                  <a:schemeClr val="bg2">
                    <a:lumMod val="10000"/>
                  </a:schemeClr>
                </a:solidFill>
                <a:latin typeface="Open Sans" pitchFamily="34" charset="0"/>
                <a:ea typeface="Open Sans" pitchFamily="34" charset="-122"/>
                <a:cs typeface="Open Sans" pitchFamily="34" charset="-120"/>
              </a:rPr>
              <a:t>MedLink is a role-based healthcare management application where patients can track medications, reminders, vitals, and profile data, and doctors can manage patients, monitor summaries, and create prescriptions. The system is built with React Native on the frontend, Spring Boot on the backend, and MongoDB as the database.</a:t>
            </a:r>
            <a:endParaRPr lang="en-US" sz="1750" dirty="0">
              <a:solidFill>
                <a:schemeClr val="bg2">
                  <a:lumMod val="10000"/>
                </a:schemeClr>
              </a:solidFill>
            </a:endParaRPr>
          </a:p>
        </p:txBody>
      </p:sp>
      <p:sp>
        <p:nvSpPr>
          <p:cNvPr id="5" name="Text 3"/>
          <p:cNvSpPr/>
          <p:nvPr/>
        </p:nvSpPr>
        <p:spPr>
          <a:xfrm>
            <a:off x="793790" y="5495449"/>
            <a:ext cx="13042821" cy="362903"/>
          </a:xfrm>
          <a:prstGeom prst="rect">
            <a:avLst/>
          </a:prstGeom>
          <a:noFill/>
          <a:ln/>
        </p:spPr>
        <p:txBody>
          <a:bodyPr wrap="none" lIns="0" tIns="0" rIns="0" bIns="0" rtlCol="0" anchor="t"/>
          <a:lstStyle/>
          <a:p>
            <a:pPr marL="0" indent="0" algn="l">
              <a:lnSpc>
                <a:spcPts val="2850"/>
              </a:lnSpc>
              <a:buNone/>
            </a:pP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1214557"/>
            <a:ext cx="5670590" cy="708779"/>
          </a:xfrm>
          <a:prstGeom prst="rect">
            <a:avLst/>
          </a:prstGeom>
          <a:noFill/>
          <a:ln/>
        </p:spPr>
        <p:txBody>
          <a:bodyPr wrap="none" lIns="0" tIns="0" rIns="0" bIns="0" rtlCol="0" anchor="t"/>
          <a:lstStyle/>
          <a:p>
            <a:pPr marL="0" indent="0" algn="l">
              <a:lnSpc>
                <a:spcPts val="5550"/>
              </a:lnSpc>
              <a:buNone/>
            </a:pPr>
            <a:r>
              <a:rPr lang="en-US" sz="4450" dirty="0">
                <a:solidFill>
                  <a:srgbClr val="194178"/>
                </a:solidFill>
                <a:latin typeface="Libre Baskerville" pitchFamily="34" charset="0"/>
                <a:ea typeface="Libre Baskerville" pitchFamily="34" charset="-122"/>
                <a:cs typeface="Libre Baskerville" pitchFamily="34" charset="-120"/>
              </a:rPr>
              <a:t>Project Overview</a:t>
            </a:r>
            <a:endParaRPr lang="en-US" sz="4450" dirty="0">
              <a:solidFill>
                <a:srgbClr val="194178"/>
              </a:solidFill>
            </a:endParaRPr>
          </a:p>
        </p:txBody>
      </p:sp>
      <p:sp>
        <p:nvSpPr>
          <p:cNvPr id="3" name="Text 1"/>
          <p:cNvSpPr/>
          <p:nvPr/>
        </p:nvSpPr>
        <p:spPr>
          <a:xfrm>
            <a:off x="793790" y="2535674"/>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The Vision</a:t>
            </a:r>
            <a:endParaRPr lang="en-US" sz="2200" dirty="0">
              <a:solidFill>
                <a:srgbClr val="006699"/>
              </a:solidFill>
            </a:endParaRPr>
          </a:p>
        </p:txBody>
      </p:sp>
      <p:sp>
        <p:nvSpPr>
          <p:cNvPr id="4" name="Text 2"/>
          <p:cNvSpPr/>
          <p:nvPr/>
        </p:nvSpPr>
        <p:spPr>
          <a:xfrm>
            <a:off x="793790" y="3071455"/>
            <a:ext cx="6244709" cy="1451610"/>
          </a:xfrm>
          <a:prstGeom prst="rect">
            <a:avLst/>
          </a:prstGeom>
          <a:noFill/>
          <a:ln/>
        </p:spPr>
        <p:txBody>
          <a:bodyPr wrap="squar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MedLink is a role-based healthcare management application designed to streamline patient care and medication adherence whilst enabling efficient doctor-patient coordination.</a:t>
            </a:r>
            <a:endParaRPr lang="en-US" sz="1750" dirty="0">
              <a:solidFill>
                <a:schemeClr val="tx1">
                  <a:lumMod val="95000"/>
                  <a:lumOff val="5000"/>
                </a:schemeClr>
              </a:solidFill>
            </a:endParaRPr>
          </a:p>
        </p:txBody>
      </p:sp>
      <p:sp>
        <p:nvSpPr>
          <p:cNvPr id="5" name="Text 3"/>
          <p:cNvSpPr/>
          <p:nvPr/>
        </p:nvSpPr>
        <p:spPr>
          <a:xfrm>
            <a:off x="7599521" y="2490311"/>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Core Value</a:t>
            </a:r>
            <a:endParaRPr lang="en-US" sz="2200" dirty="0">
              <a:solidFill>
                <a:srgbClr val="006699"/>
              </a:solidFill>
            </a:endParaRPr>
          </a:p>
        </p:txBody>
      </p:sp>
      <p:sp>
        <p:nvSpPr>
          <p:cNvPr id="6" name="Text 4"/>
          <p:cNvSpPr/>
          <p:nvPr/>
        </p:nvSpPr>
        <p:spPr>
          <a:xfrm>
            <a:off x="7599521" y="3071455"/>
            <a:ext cx="6244709" cy="1451610"/>
          </a:xfrm>
          <a:prstGeom prst="rect">
            <a:avLst/>
          </a:prstGeom>
          <a:noFill/>
          <a:ln/>
        </p:spPr>
        <p:txBody>
          <a:bodyPr wrap="squar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Patients manage medications, reminders, vitals, and profiles. Doctors manage patients, monitor summaries, and create prescriptions—all within one secure, integrated system.</a:t>
            </a:r>
            <a:endParaRPr lang="en-US" sz="1750" dirty="0">
              <a:solidFill>
                <a:schemeClr val="tx1">
                  <a:lumMod val="95000"/>
                  <a:lumOff val="5000"/>
                </a:schemeClr>
              </a:solidFill>
            </a:endParaRPr>
          </a:p>
        </p:txBody>
      </p:sp>
      <p:sp>
        <p:nvSpPr>
          <p:cNvPr id="7" name="Shape 5"/>
          <p:cNvSpPr/>
          <p:nvPr/>
        </p:nvSpPr>
        <p:spPr>
          <a:xfrm>
            <a:off x="793790" y="4982289"/>
            <a:ext cx="4196358" cy="2032754"/>
          </a:xfrm>
          <a:prstGeom prst="roundRect">
            <a:avLst>
              <a:gd name="adj" fmla="val 1674"/>
            </a:avLst>
          </a:prstGeom>
          <a:solidFill>
            <a:srgbClr val="EAE8F3"/>
          </a:solidFill>
          <a:ln/>
        </p:spPr>
        <p:txBody>
          <a:bodyPr/>
          <a:lstStyle/>
          <a:p>
            <a:endParaRPr lang="en-IN"/>
          </a:p>
        </p:txBody>
      </p:sp>
      <p:sp>
        <p:nvSpPr>
          <p:cNvPr id="8" name="Text 6"/>
          <p:cNvSpPr/>
          <p:nvPr/>
        </p:nvSpPr>
        <p:spPr>
          <a:xfrm>
            <a:off x="1020604" y="5209103"/>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Patient Portal</a:t>
            </a:r>
            <a:endParaRPr lang="en-US" sz="2200" dirty="0">
              <a:solidFill>
                <a:srgbClr val="006699"/>
              </a:solidFill>
            </a:endParaRPr>
          </a:p>
        </p:txBody>
      </p:sp>
      <p:sp>
        <p:nvSpPr>
          <p:cNvPr id="9" name="Text 7"/>
          <p:cNvSpPr/>
          <p:nvPr/>
        </p:nvSpPr>
        <p:spPr>
          <a:xfrm>
            <a:off x="1020604" y="5699522"/>
            <a:ext cx="3742730" cy="1088708"/>
          </a:xfrm>
          <a:prstGeom prst="rect">
            <a:avLst/>
          </a:prstGeom>
          <a:noFill/>
          <a:ln/>
        </p:spPr>
        <p:txBody>
          <a:bodyPr wrap="squar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Medication tracking, adherence monitoring, vitals logging, and profile management</a:t>
            </a:r>
            <a:endParaRPr lang="en-US" sz="1750" dirty="0">
              <a:solidFill>
                <a:schemeClr val="tx1">
                  <a:lumMod val="95000"/>
                  <a:lumOff val="5000"/>
                </a:schemeClr>
              </a:solidFill>
            </a:endParaRPr>
          </a:p>
        </p:txBody>
      </p:sp>
      <p:sp>
        <p:nvSpPr>
          <p:cNvPr id="10" name="Shape 8"/>
          <p:cNvSpPr/>
          <p:nvPr/>
        </p:nvSpPr>
        <p:spPr>
          <a:xfrm>
            <a:off x="5216962" y="4982289"/>
            <a:ext cx="4196358" cy="2032754"/>
          </a:xfrm>
          <a:prstGeom prst="roundRect">
            <a:avLst>
              <a:gd name="adj" fmla="val 1674"/>
            </a:avLst>
          </a:prstGeom>
          <a:solidFill>
            <a:srgbClr val="EAE8F3"/>
          </a:solidFill>
          <a:ln/>
        </p:spPr>
        <p:txBody>
          <a:bodyPr/>
          <a:lstStyle/>
          <a:p>
            <a:endParaRPr lang="en-IN"/>
          </a:p>
        </p:txBody>
      </p:sp>
      <p:sp>
        <p:nvSpPr>
          <p:cNvPr id="11" name="Text 9"/>
          <p:cNvSpPr/>
          <p:nvPr/>
        </p:nvSpPr>
        <p:spPr>
          <a:xfrm>
            <a:off x="5443776" y="5209103"/>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Doctor Dashboard</a:t>
            </a:r>
            <a:endParaRPr lang="en-US" sz="2200" dirty="0">
              <a:solidFill>
                <a:srgbClr val="006699"/>
              </a:solidFill>
            </a:endParaRPr>
          </a:p>
        </p:txBody>
      </p:sp>
      <p:sp>
        <p:nvSpPr>
          <p:cNvPr id="12" name="Text 10"/>
          <p:cNvSpPr/>
          <p:nvPr/>
        </p:nvSpPr>
        <p:spPr>
          <a:xfrm>
            <a:off x="5443776" y="5699522"/>
            <a:ext cx="3742730" cy="1088708"/>
          </a:xfrm>
          <a:prstGeom prst="rect">
            <a:avLst/>
          </a:prstGeom>
          <a:noFill/>
          <a:ln/>
        </p:spPr>
        <p:txBody>
          <a:bodyPr wrap="squar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Patient management, prescription creation, and health summary monitoring</a:t>
            </a:r>
            <a:endParaRPr lang="en-US" sz="1750" dirty="0">
              <a:solidFill>
                <a:schemeClr val="tx1">
                  <a:lumMod val="95000"/>
                  <a:lumOff val="5000"/>
                </a:schemeClr>
              </a:solidFill>
            </a:endParaRPr>
          </a:p>
        </p:txBody>
      </p:sp>
      <p:sp>
        <p:nvSpPr>
          <p:cNvPr id="13" name="Shape 11"/>
          <p:cNvSpPr/>
          <p:nvPr/>
        </p:nvSpPr>
        <p:spPr>
          <a:xfrm>
            <a:off x="9640133" y="4982289"/>
            <a:ext cx="4196358" cy="2032754"/>
          </a:xfrm>
          <a:prstGeom prst="roundRect">
            <a:avLst>
              <a:gd name="adj" fmla="val 1674"/>
            </a:avLst>
          </a:prstGeom>
          <a:solidFill>
            <a:srgbClr val="EAE8F3"/>
          </a:solidFill>
          <a:ln/>
        </p:spPr>
        <p:txBody>
          <a:bodyPr/>
          <a:lstStyle/>
          <a:p>
            <a:endParaRPr lang="en-IN"/>
          </a:p>
        </p:txBody>
      </p:sp>
      <p:sp>
        <p:nvSpPr>
          <p:cNvPr id="14" name="Text 12"/>
          <p:cNvSpPr/>
          <p:nvPr/>
        </p:nvSpPr>
        <p:spPr>
          <a:xfrm>
            <a:off x="9866948" y="5209103"/>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Secure Backend</a:t>
            </a:r>
            <a:endParaRPr lang="en-US" sz="2200" dirty="0">
              <a:solidFill>
                <a:srgbClr val="006699"/>
              </a:solidFill>
            </a:endParaRPr>
          </a:p>
        </p:txBody>
      </p:sp>
      <p:sp>
        <p:nvSpPr>
          <p:cNvPr id="15" name="Text 13"/>
          <p:cNvSpPr/>
          <p:nvPr/>
        </p:nvSpPr>
        <p:spPr>
          <a:xfrm>
            <a:off x="9866948" y="5699522"/>
            <a:ext cx="3742730" cy="1088708"/>
          </a:xfrm>
          <a:prstGeom prst="rect">
            <a:avLst/>
          </a:prstGeom>
          <a:noFill/>
          <a:ln/>
        </p:spPr>
        <p:txBody>
          <a:bodyPr wrap="squar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Role-based access control with JWT authentication and MongoDB persistence</a:t>
            </a:r>
            <a:endParaRPr lang="en-US" sz="1750" dirty="0">
              <a:solidFill>
                <a:schemeClr val="tx1">
                  <a:lumMod val="95000"/>
                  <a:lumOff val="5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1814751"/>
            <a:ext cx="5670590" cy="708779"/>
          </a:xfrm>
          <a:prstGeom prst="rect">
            <a:avLst/>
          </a:prstGeom>
          <a:noFill/>
          <a:ln/>
        </p:spPr>
        <p:txBody>
          <a:bodyPr wrap="none" lIns="0" tIns="0" rIns="0" bIns="0" rtlCol="0" anchor="t"/>
          <a:lstStyle/>
          <a:p>
            <a:pPr marL="0" indent="0" algn="l">
              <a:lnSpc>
                <a:spcPts val="5550"/>
              </a:lnSpc>
              <a:buNone/>
            </a:pPr>
            <a:r>
              <a:rPr lang="en-US" sz="4450" dirty="0">
                <a:solidFill>
                  <a:srgbClr val="194178"/>
                </a:solidFill>
                <a:latin typeface="Libre Baskerville" pitchFamily="34" charset="0"/>
                <a:ea typeface="Libre Baskerville" pitchFamily="34" charset="-122"/>
                <a:cs typeface="Libre Baskerville" pitchFamily="34" charset="-120"/>
              </a:rPr>
              <a:t>Why MedLink</a:t>
            </a:r>
            <a:endParaRPr lang="en-US" sz="4450" dirty="0">
              <a:solidFill>
                <a:srgbClr val="194178"/>
              </a:solidFill>
            </a:endParaRPr>
          </a:p>
        </p:txBody>
      </p:sp>
      <p:sp>
        <p:nvSpPr>
          <p:cNvPr id="3" name="Shape 1"/>
          <p:cNvSpPr/>
          <p:nvPr/>
        </p:nvSpPr>
        <p:spPr>
          <a:xfrm>
            <a:off x="793790" y="2977158"/>
            <a:ext cx="4196358" cy="2456617"/>
          </a:xfrm>
          <a:prstGeom prst="roundRect">
            <a:avLst>
              <a:gd name="adj" fmla="val 5956"/>
            </a:avLst>
          </a:prstGeom>
          <a:solidFill>
            <a:srgbClr val="FBFAFF"/>
          </a:solidFill>
          <a:ln w="30480">
            <a:solidFill>
              <a:srgbClr val="D0CED9"/>
            </a:solidFill>
            <a:prstDash val="solid"/>
          </a:ln>
        </p:spPr>
        <p:txBody>
          <a:bodyPr/>
          <a:lstStyle/>
          <a:p>
            <a:endParaRPr lang="en-IN"/>
          </a:p>
        </p:txBody>
      </p:sp>
      <p:pic>
        <p:nvPicPr>
          <p:cNvPr id="4" name="Image 0" descr="preencoded.png"/>
          <p:cNvPicPr>
            <a:picLocks noChangeAspect="1"/>
          </p:cNvPicPr>
          <p:nvPr/>
        </p:nvPicPr>
        <p:blipFill>
          <a:blip r:embed="rId3"/>
          <a:stretch>
            <a:fillRect/>
          </a:stretch>
        </p:blipFill>
        <p:spPr>
          <a:xfrm>
            <a:off x="763310" y="2977158"/>
            <a:ext cx="121920" cy="2456617"/>
          </a:xfrm>
          <a:prstGeom prst="rect">
            <a:avLst/>
          </a:prstGeom>
        </p:spPr>
      </p:pic>
      <p:sp>
        <p:nvSpPr>
          <p:cNvPr id="5" name="Text 2"/>
          <p:cNvSpPr/>
          <p:nvPr/>
        </p:nvSpPr>
        <p:spPr>
          <a:xfrm>
            <a:off x="1142524" y="3234452"/>
            <a:ext cx="3131582"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Fragmented Tracking</a:t>
            </a:r>
            <a:endParaRPr lang="en-US" sz="2200" dirty="0">
              <a:solidFill>
                <a:srgbClr val="006699"/>
              </a:solidFill>
            </a:endParaRPr>
          </a:p>
        </p:txBody>
      </p:sp>
      <p:sp>
        <p:nvSpPr>
          <p:cNvPr id="6" name="Text 3"/>
          <p:cNvSpPr/>
          <p:nvPr/>
        </p:nvSpPr>
        <p:spPr>
          <a:xfrm>
            <a:off x="1142524" y="3724870"/>
            <a:ext cx="3590330" cy="1451610"/>
          </a:xfrm>
          <a:prstGeom prst="rect">
            <a:avLst/>
          </a:prstGeom>
          <a:noFill/>
          <a:ln/>
        </p:spPr>
        <p:txBody>
          <a:bodyPr wrap="squar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Patients forget medications and struggle with manual tracking of daily health metrics across multiple sources</a:t>
            </a:r>
            <a:endParaRPr lang="en-US" sz="1750" dirty="0">
              <a:solidFill>
                <a:schemeClr val="tx1">
                  <a:lumMod val="95000"/>
                  <a:lumOff val="5000"/>
                </a:schemeClr>
              </a:solidFill>
            </a:endParaRPr>
          </a:p>
        </p:txBody>
      </p:sp>
      <p:sp>
        <p:nvSpPr>
          <p:cNvPr id="7" name="Shape 4"/>
          <p:cNvSpPr/>
          <p:nvPr/>
        </p:nvSpPr>
        <p:spPr>
          <a:xfrm>
            <a:off x="5216962" y="2977158"/>
            <a:ext cx="4196358" cy="2456617"/>
          </a:xfrm>
          <a:prstGeom prst="roundRect">
            <a:avLst>
              <a:gd name="adj" fmla="val 5956"/>
            </a:avLst>
          </a:prstGeom>
          <a:solidFill>
            <a:srgbClr val="FBFAFF"/>
          </a:solidFill>
          <a:ln w="30480">
            <a:solidFill>
              <a:srgbClr val="D0CED9"/>
            </a:solidFill>
            <a:prstDash val="solid"/>
          </a:ln>
        </p:spPr>
        <p:txBody>
          <a:bodyPr/>
          <a:lstStyle/>
          <a:p>
            <a:endParaRPr lang="en-IN"/>
          </a:p>
        </p:txBody>
      </p:sp>
      <p:pic>
        <p:nvPicPr>
          <p:cNvPr id="8" name="Image 1" descr="preencoded.png"/>
          <p:cNvPicPr>
            <a:picLocks noChangeAspect="1"/>
          </p:cNvPicPr>
          <p:nvPr/>
        </p:nvPicPr>
        <p:blipFill>
          <a:blip r:embed="rId3"/>
          <a:stretch>
            <a:fillRect/>
          </a:stretch>
        </p:blipFill>
        <p:spPr>
          <a:xfrm>
            <a:off x="5186482" y="2977158"/>
            <a:ext cx="121920" cy="2456617"/>
          </a:xfrm>
          <a:prstGeom prst="rect">
            <a:avLst/>
          </a:prstGeom>
        </p:spPr>
      </p:pic>
      <p:sp>
        <p:nvSpPr>
          <p:cNvPr id="9" name="Text 5"/>
          <p:cNvSpPr/>
          <p:nvPr/>
        </p:nvSpPr>
        <p:spPr>
          <a:xfrm>
            <a:off x="5565696" y="3234452"/>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Data Management</a:t>
            </a:r>
            <a:endParaRPr lang="en-US" sz="2200" dirty="0">
              <a:solidFill>
                <a:srgbClr val="006699"/>
              </a:solidFill>
            </a:endParaRPr>
          </a:p>
        </p:txBody>
      </p:sp>
      <p:sp>
        <p:nvSpPr>
          <p:cNvPr id="10" name="Text 6"/>
          <p:cNvSpPr/>
          <p:nvPr/>
        </p:nvSpPr>
        <p:spPr>
          <a:xfrm>
            <a:off x="5565696" y="3724870"/>
            <a:ext cx="3590330" cy="1451610"/>
          </a:xfrm>
          <a:prstGeom prst="rect">
            <a:avLst/>
          </a:prstGeom>
          <a:noFill/>
          <a:ln/>
        </p:spPr>
        <p:txBody>
          <a:bodyPr wrap="squar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Doctors need cleaner ways to manage patient data, prescriptions, and treatment plans efficiently</a:t>
            </a:r>
            <a:endParaRPr lang="en-US" sz="1750" dirty="0">
              <a:solidFill>
                <a:schemeClr val="tx1">
                  <a:lumMod val="95000"/>
                  <a:lumOff val="5000"/>
                </a:schemeClr>
              </a:solidFill>
            </a:endParaRPr>
          </a:p>
        </p:txBody>
      </p:sp>
      <p:sp>
        <p:nvSpPr>
          <p:cNvPr id="11" name="Shape 7"/>
          <p:cNvSpPr/>
          <p:nvPr/>
        </p:nvSpPr>
        <p:spPr>
          <a:xfrm>
            <a:off x="9640133" y="2977158"/>
            <a:ext cx="4196358" cy="2456617"/>
          </a:xfrm>
          <a:prstGeom prst="roundRect">
            <a:avLst>
              <a:gd name="adj" fmla="val 5956"/>
            </a:avLst>
          </a:prstGeom>
          <a:solidFill>
            <a:srgbClr val="FBFAFF"/>
          </a:solidFill>
          <a:ln w="30480">
            <a:solidFill>
              <a:srgbClr val="D0CED9"/>
            </a:solidFill>
            <a:prstDash val="solid"/>
          </a:ln>
        </p:spPr>
        <p:txBody>
          <a:bodyPr/>
          <a:lstStyle/>
          <a:p>
            <a:endParaRPr lang="en-IN"/>
          </a:p>
        </p:txBody>
      </p:sp>
      <p:pic>
        <p:nvPicPr>
          <p:cNvPr id="12" name="Image 2" descr="preencoded.png"/>
          <p:cNvPicPr>
            <a:picLocks noChangeAspect="1"/>
          </p:cNvPicPr>
          <p:nvPr/>
        </p:nvPicPr>
        <p:blipFill>
          <a:blip r:embed="rId3"/>
          <a:stretch>
            <a:fillRect/>
          </a:stretch>
        </p:blipFill>
        <p:spPr>
          <a:xfrm>
            <a:off x="9609653" y="2977158"/>
            <a:ext cx="121920" cy="2456617"/>
          </a:xfrm>
          <a:prstGeom prst="rect">
            <a:avLst/>
          </a:prstGeom>
        </p:spPr>
      </p:pic>
      <p:sp>
        <p:nvSpPr>
          <p:cNvPr id="13" name="Text 8"/>
          <p:cNvSpPr/>
          <p:nvPr/>
        </p:nvSpPr>
        <p:spPr>
          <a:xfrm>
            <a:off x="9988868" y="3234452"/>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Real-Time Gaps</a:t>
            </a:r>
            <a:endParaRPr lang="en-US" sz="2200" dirty="0">
              <a:solidFill>
                <a:srgbClr val="006699"/>
              </a:solidFill>
            </a:endParaRPr>
          </a:p>
        </p:txBody>
      </p:sp>
      <p:sp>
        <p:nvSpPr>
          <p:cNvPr id="14" name="Text 9"/>
          <p:cNvSpPr/>
          <p:nvPr/>
        </p:nvSpPr>
        <p:spPr>
          <a:xfrm>
            <a:off x="9988868" y="3724870"/>
            <a:ext cx="3590330" cy="1451610"/>
          </a:xfrm>
          <a:prstGeom prst="rect">
            <a:avLst/>
          </a:prstGeom>
          <a:noFill/>
          <a:ln/>
        </p:spPr>
        <p:txBody>
          <a:bodyPr wrap="squar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Manual processes lack real-time updates and centralised visibility into patient medication adherence</a:t>
            </a:r>
            <a:endParaRPr lang="en-US" sz="1750" dirty="0">
              <a:solidFill>
                <a:schemeClr val="tx1">
                  <a:lumMod val="95000"/>
                  <a:lumOff val="5000"/>
                </a:schemeClr>
              </a:solidFill>
            </a:endParaRPr>
          </a:p>
        </p:txBody>
      </p:sp>
      <p:sp>
        <p:nvSpPr>
          <p:cNvPr id="15" name="Text 10"/>
          <p:cNvSpPr/>
          <p:nvPr/>
        </p:nvSpPr>
        <p:spPr>
          <a:xfrm>
            <a:off x="793790" y="5688925"/>
            <a:ext cx="13042821" cy="725805"/>
          </a:xfrm>
          <a:prstGeom prst="rect">
            <a:avLst/>
          </a:prstGeom>
          <a:noFill/>
          <a:ln/>
        </p:spPr>
        <p:txBody>
          <a:bodyPr wrap="square" lIns="0" tIns="0" rIns="0" bIns="0" rtlCol="0" anchor="t"/>
          <a:lstStyle/>
          <a:p>
            <a:pPr marL="0" indent="0" algn="l">
              <a:lnSpc>
                <a:spcPts val="2850"/>
              </a:lnSpc>
              <a:buNone/>
            </a:pPr>
            <a:r>
              <a:rPr lang="en-US" sz="1750" dirty="0">
                <a:solidFill>
                  <a:schemeClr val="tx1">
                    <a:lumMod val="95000"/>
                    <a:lumOff val="5000"/>
                  </a:schemeClr>
                </a:solidFill>
                <a:latin typeface="Open Sans" pitchFamily="34" charset="0"/>
                <a:ea typeface="Open Sans" pitchFamily="34" charset="-122"/>
                <a:cs typeface="Open Sans" pitchFamily="34" charset="-120"/>
              </a:rPr>
              <a:t>MedLink solves this by centralising medications, vitals, reminders, and prescriptions in one role-based application with automated adherence tracking and secure data sharing.</a:t>
            </a:r>
            <a:endParaRPr lang="en-US" sz="1750" dirty="0">
              <a:solidFill>
                <a:schemeClr val="tx1">
                  <a:lumMod val="95000"/>
                  <a:lumOff val="5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9F3C43-4139-83C0-03B2-E8329E4CCE46}"/>
              </a:ext>
            </a:extLst>
          </p:cNvPr>
          <p:cNvPicPr>
            <a:picLocks noChangeAspect="1"/>
          </p:cNvPicPr>
          <p:nvPr/>
        </p:nvPicPr>
        <p:blipFill>
          <a:blip r:embed="rId2"/>
          <a:stretch>
            <a:fillRect/>
          </a:stretch>
        </p:blipFill>
        <p:spPr>
          <a:xfrm>
            <a:off x="1650380" y="356839"/>
            <a:ext cx="7337504" cy="7538223"/>
          </a:xfrm>
          <a:prstGeom prst="rect">
            <a:avLst/>
          </a:prstGeom>
        </p:spPr>
      </p:pic>
    </p:spTree>
    <p:extLst>
      <p:ext uri="{BB962C8B-B14F-4D97-AF65-F5344CB8AC3E}">
        <p14:creationId xmlns:p14="http://schemas.microsoft.com/office/powerpoint/2010/main" val="2074247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95325" y="937870"/>
            <a:ext cx="5272088" cy="620911"/>
          </a:xfrm>
          <a:prstGeom prst="rect">
            <a:avLst/>
          </a:prstGeom>
          <a:noFill/>
          <a:ln/>
        </p:spPr>
        <p:txBody>
          <a:bodyPr wrap="none" lIns="0" tIns="0" rIns="0" bIns="0" rtlCol="0" anchor="t"/>
          <a:lstStyle/>
          <a:p>
            <a:pPr marL="0" indent="0" algn="l">
              <a:lnSpc>
                <a:spcPts val="4850"/>
              </a:lnSpc>
              <a:buNone/>
            </a:pPr>
            <a:r>
              <a:rPr lang="en-US" sz="3900" dirty="0">
                <a:solidFill>
                  <a:srgbClr val="194178"/>
                </a:solidFill>
                <a:latin typeface="Libre Baskerville" pitchFamily="34" charset="0"/>
                <a:ea typeface="Libre Baskerville" pitchFamily="34" charset="-122"/>
                <a:cs typeface="Libre Baskerville" pitchFamily="34" charset="-120"/>
              </a:rPr>
              <a:t>Database Collections</a:t>
            </a:r>
            <a:endParaRPr lang="en-US" sz="3900" dirty="0">
              <a:solidFill>
                <a:srgbClr val="194178"/>
              </a:solidFill>
            </a:endParaRPr>
          </a:p>
        </p:txBody>
      </p:sp>
      <p:sp>
        <p:nvSpPr>
          <p:cNvPr id="3" name="Text 1"/>
          <p:cNvSpPr/>
          <p:nvPr/>
        </p:nvSpPr>
        <p:spPr>
          <a:xfrm>
            <a:off x="695325" y="1717834"/>
            <a:ext cx="13239750" cy="496611"/>
          </a:xfrm>
          <a:prstGeom prst="rect">
            <a:avLst/>
          </a:prstGeom>
          <a:noFill/>
          <a:ln/>
        </p:spPr>
        <p:txBody>
          <a:bodyPr wrap="none" lIns="0" tIns="0" rIns="0" bIns="0" rtlCol="0" anchor="t"/>
          <a:lstStyle/>
          <a:p>
            <a:pPr marL="0" indent="0" algn="l">
              <a:lnSpc>
                <a:spcPts val="2300"/>
              </a:lnSpc>
              <a:buNone/>
            </a:pPr>
            <a:r>
              <a:rPr lang="en-US" sz="1600" dirty="0">
                <a:solidFill>
                  <a:schemeClr val="tx1">
                    <a:lumMod val="95000"/>
                    <a:lumOff val="5000"/>
                  </a:schemeClr>
                </a:solidFill>
                <a:latin typeface="Open Sans" pitchFamily="34" charset="0"/>
                <a:ea typeface="Open Sans" pitchFamily="34" charset="-122"/>
                <a:cs typeface="Open Sans" pitchFamily="34" charset="-120"/>
              </a:rPr>
              <a:t>MongoDB document-based schema stores all user data, medical profiles, medication schedules, and health metrics.</a:t>
            </a:r>
            <a:endParaRPr lang="en-US" sz="1600" dirty="0">
              <a:solidFill>
                <a:schemeClr val="tx1">
                  <a:lumMod val="95000"/>
                  <a:lumOff val="5000"/>
                </a:schemeClr>
              </a:solidFill>
            </a:endParaRPr>
          </a:p>
        </p:txBody>
      </p:sp>
      <p:pic>
        <p:nvPicPr>
          <p:cNvPr id="4"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5325" y="2534483"/>
            <a:ext cx="496610" cy="496610"/>
          </a:xfrm>
          <a:prstGeom prst="rect">
            <a:avLst/>
          </a:prstGeom>
        </p:spPr>
      </p:pic>
      <p:sp>
        <p:nvSpPr>
          <p:cNvPr id="5" name="Text 2"/>
          <p:cNvSpPr/>
          <p:nvPr/>
        </p:nvSpPr>
        <p:spPr>
          <a:xfrm>
            <a:off x="1409462" y="2534483"/>
            <a:ext cx="2483406" cy="310396"/>
          </a:xfrm>
          <a:prstGeom prst="rect">
            <a:avLst/>
          </a:prstGeom>
          <a:noFill/>
          <a:ln/>
        </p:spPr>
        <p:txBody>
          <a:bodyPr wrap="none" lIns="0" tIns="0" rIns="0" bIns="0" rtlCol="0" anchor="t"/>
          <a:lstStyle/>
          <a:p>
            <a:pPr marL="0" indent="0" algn="l">
              <a:lnSpc>
                <a:spcPts val="2400"/>
              </a:lnSpc>
              <a:buNone/>
            </a:pPr>
            <a:r>
              <a:rPr lang="en-US" sz="1950" dirty="0">
                <a:solidFill>
                  <a:srgbClr val="006699"/>
                </a:solidFill>
                <a:latin typeface="Libre Baskerville" pitchFamily="34" charset="0"/>
                <a:ea typeface="Libre Baskerville" pitchFamily="34" charset="-122"/>
                <a:cs typeface="Libre Baskerville" pitchFamily="34" charset="-120"/>
              </a:rPr>
              <a:t>Users</a:t>
            </a:r>
            <a:endParaRPr lang="en-US" sz="1950" dirty="0">
              <a:solidFill>
                <a:srgbClr val="006699"/>
              </a:solidFill>
            </a:endParaRPr>
          </a:p>
        </p:txBody>
      </p:sp>
      <p:sp>
        <p:nvSpPr>
          <p:cNvPr id="6" name="Text 3"/>
          <p:cNvSpPr/>
          <p:nvPr/>
        </p:nvSpPr>
        <p:spPr>
          <a:xfrm>
            <a:off x="1409462" y="2949178"/>
            <a:ext cx="3554016" cy="596265"/>
          </a:xfrm>
          <a:prstGeom prst="rect">
            <a:avLst/>
          </a:prstGeom>
          <a:noFill/>
          <a:ln/>
        </p:spPr>
        <p:txBody>
          <a:bodyPr wrap="square" lIns="0" tIns="0" rIns="0" bIns="0" rtlCol="0" anchor="t"/>
          <a:lstStyle/>
          <a:p>
            <a:pPr marL="0" indent="0" algn="l">
              <a:lnSpc>
                <a:spcPts val="230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Authentication identity with role, email, password, and phone number</a:t>
            </a:r>
            <a:endParaRPr lang="en-US" sz="1550" dirty="0">
              <a:solidFill>
                <a:schemeClr val="tx1">
                  <a:lumMod val="95000"/>
                  <a:lumOff val="5000"/>
                </a:schemeClr>
              </a:solidFill>
            </a:endParaRPr>
          </a:p>
        </p:txBody>
      </p:sp>
      <p:pic>
        <p:nvPicPr>
          <p:cNvPr id="7"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181005" y="2534483"/>
            <a:ext cx="496610" cy="496610"/>
          </a:xfrm>
          <a:prstGeom prst="rect">
            <a:avLst/>
          </a:prstGeom>
        </p:spPr>
      </p:pic>
      <p:sp>
        <p:nvSpPr>
          <p:cNvPr id="8" name="Text 4"/>
          <p:cNvSpPr/>
          <p:nvPr/>
        </p:nvSpPr>
        <p:spPr>
          <a:xfrm>
            <a:off x="5895142" y="2534483"/>
            <a:ext cx="2483406" cy="310396"/>
          </a:xfrm>
          <a:prstGeom prst="rect">
            <a:avLst/>
          </a:prstGeom>
          <a:noFill/>
          <a:ln/>
        </p:spPr>
        <p:txBody>
          <a:bodyPr wrap="none" lIns="0" tIns="0" rIns="0" bIns="0" rtlCol="0" anchor="t"/>
          <a:lstStyle/>
          <a:p>
            <a:pPr marL="0" indent="0" algn="l">
              <a:lnSpc>
                <a:spcPts val="2400"/>
              </a:lnSpc>
              <a:buNone/>
            </a:pPr>
            <a:r>
              <a:rPr lang="en-US" sz="1950" dirty="0">
                <a:solidFill>
                  <a:srgbClr val="006699"/>
                </a:solidFill>
                <a:latin typeface="Libre Baskerville" pitchFamily="34" charset="0"/>
                <a:ea typeface="Libre Baskerville" pitchFamily="34" charset="-122"/>
                <a:cs typeface="Libre Baskerville" pitchFamily="34" charset="-120"/>
              </a:rPr>
              <a:t>Patients</a:t>
            </a:r>
            <a:endParaRPr lang="en-US" sz="1950" dirty="0">
              <a:solidFill>
                <a:srgbClr val="006699"/>
              </a:solidFill>
            </a:endParaRPr>
          </a:p>
        </p:txBody>
      </p:sp>
      <p:sp>
        <p:nvSpPr>
          <p:cNvPr id="9" name="Text 5"/>
          <p:cNvSpPr/>
          <p:nvPr/>
        </p:nvSpPr>
        <p:spPr>
          <a:xfrm>
            <a:off x="5895142" y="2949178"/>
            <a:ext cx="3554135" cy="894398"/>
          </a:xfrm>
          <a:prstGeom prst="rect">
            <a:avLst/>
          </a:prstGeom>
          <a:noFill/>
          <a:ln/>
        </p:spPr>
        <p:txBody>
          <a:bodyPr wrap="square" lIns="0" tIns="0" rIns="0" bIns="0" rtlCol="0" anchor="t"/>
          <a:lstStyle/>
          <a:p>
            <a:pPr marL="0" indent="0" algn="l">
              <a:lnSpc>
                <a:spcPts val="230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Medical profiles including age, blood group, allergies, emergency contacts, and assigned doctor</a:t>
            </a:r>
            <a:endParaRPr lang="en-US" sz="1550" dirty="0">
              <a:solidFill>
                <a:schemeClr val="tx1">
                  <a:lumMod val="95000"/>
                  <a:lumOff val="5000"/>
                </a:schemeClr>
              </a:solidFill>
            </a:endParaRPr>
          </a:p>
        </p:txBody>
      </p:sp>
      <p:pic>
        <p:nvPicPr>
          <p:cNvPr id="10"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666803" y="2534483"/>
            <a:ext cx="496610" cy="496610"/>
          </a:xfrm>
          <a:prstGeom prst="rect">
            <a:avLst/>
          </a:prstGeom>
        </p:spPr>
      </p:pic>
      <p:sp>
        <p:nvSpPr>
          <p:cNvPr id="11" name="Text 6"/>
          <p:cNvSpPr/>
          <p:nvPr/>
        </p:nvSpPr>
        <p:spPr>
          <a:xfrm>
            <a:off x="10380940" y="2534483"/>
            <a:ext cx="2483406" cy="310396"/>
          </a:xfrm>
          <a:prstGeom prst="rect">
            <a:avLst/>
          </a:prstGeom>
          <a:noFill/>
          <a:ln/>
        </p:spPr>
        <p:txBody>
          <a:bodyPr wrap="none" lIns="0" tIns="0" rIns="0" bIns="0" rtlCol="0" anchor="t"/>
          <a:lstStyle/>
          <a:p>
            <a:pPr marL="0" indent="0" algn="l">
              <a:lnSpc>
                <a:spcPts val="2400"/>
              </a:lnSpc>
              <a:buNone/>
            </a:pPr>
            <a:r>
              <a:rPr lang="en-US" sz="1950" dirty="0">
                <a:solidFill>
                  <a:srgbClr val="006699"/>
                </a:solidFill>
                <a:latin typeface="Libre Baskerville" pitchFamily="34" charset="0"/>
                <a:ea typeface="Libre Baskerville" pitchFamily="34" charset="-122"/>
                <a:cs typeface="Libre Baskerville" pitchFamily="34" charset="-120"/>
              </a:rPr>
              <a:t>Doctors</a:t>
            </a:r>
            <a:endParaRPr lang="en-US" sz="1950" dirty="0">
              <a:solidFill>
                <a:srgbClr val="006699"/>
              </a:solidFill>
            </a:endParaRPr>
          </a:p>
        </p:txBody>
      </p:sp>
      <p:sp>
        <p:nvSpPr>
          <p:cNvPr id="12" name="Text 7"/>
          <p:cNvSpPr/>
          <p:nvPr/>
        </p:nvSpPr>
        <p:spPr>
          <a:xfrm>
            <a:off x="10380940" y="2949178"/>
            <a:ext cx="3554135" cy="894398"/>
          </a:xfrm>
          <a:prstGeom prst="rect">
            <a:avLst/>
          </a:prstGeom>
          <a:noFill/>
          <a:ln/>
        </p:spPr>
        <p:txBody>
          <a:bodyPr wrap="square" lIns="0" tIns="0" rIns="0" bIns="0" rtlCol="0" anchor="t"/>
          <a:lstStyle/>
          <a:p>
            <a:pPr marL="0" indent="0" algn="l">
              <a:lnSpc>
                <a:spcPts val="230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Professional details such as specialization, hospital, experience, availability, and patient lists</a:t>
            </a:r>
            <a:endParaRPr lang="en-US" sz="1550" dirty="0">
              <a:solidFill>
                <a:schemeClr val="tx1">
                  <a:lumMod val="95000"/>
                  <a:lumOff val="5000"/>
                </a:schemeClr>
              </a:solidFill>
            </a:endParaRPr>
          </a:p>
        </p:txBody>
      </p:sp>
      <p:pic>
        <p:nvPicPr>
          <p:cNvPr id="13"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95325" y="4191595"/>
            <a:ext cx="496610" cy="496610"/>
          </a:xfrm>
          <a:prstGeom prst="rect">
            <a:avLst/>
          </a:prstGeom>
        </p:spPr>
      </p:pic>
      <p:sp>
        <p:nvSpPr>
          <p:cNvPr id="14" name="Text 8"/>
          <p:cNvSpPr/>
          <p:nvPr/>
        </p:nvSpPr>
        <p:spPr>
          <a:xfrm>
            <a:off x="1409462" y="4191595"/>
            <a:ext cx="2788325" cy="310396"/>
          </a:xfrm>
          <a:prstGeom prst="rect">
            <a:avLst/>
          </a:prstGeom>
          <a:noFill/>
          <a:ln/>
        </p:spPr>
        <p:txBody>
          <a:bodyPr wrap="none" lIns="0" tIns="0" rIns="0" bIns="0" rtlCol="0" anchor="t"/>
          <a:lstStyle/>
          <a:p>
            <a:pPr marL="0" indent="0" algn="l">
              <a:lnSpc>
                <a:spcPts val="2400"/>
              </a:lnSpc>
              <a:buNone/>
            </a:pPr>
            <a:r>
              <a:rPr lang="en-US" sz="1950" dirty="0">
                <a:solidFill>
                  <a:srgbClr val="006699"/>
                </a:solidFill>
                <a:latin typeface="Libre Baskerville" pitchFamily="34" charset="0"/>
                <a:ea typeface="Libre Baskerville" pitchFamily="34" charset="-122"/>
                <a:cs typeface="Libre Baskerville" pitchFamily="34" charset="-120"/>
              </a:rPr>
              <a:t>Medication Schedules</a:t>
            </a:r>
            <a:endParaRPr lang="en-US" sz="1950" dirty="0">
              <a:solidFill>
                <a:srgbClr val="006699"/>
              </a:solidFill>
            </a:endParaRPr>
          </a:p>
        </p:txBody>
      </p:sp>
      <p:sp>
        <p:nvSpPr>
          <p:cNvPr id="15" name="Text 9"/>
          <p:cNvSpPr/>
          <p:nvPr/>
        </p:nvSpPr>
        <p:spPr>
          <a:xfrm>
            <a:off x="1409462" y="4606290"/>
            <a:ext cx="3554016" cy="596265"/>
          </a:xfrm>
          <a:prstGeom prst="rect">
            <a:avLst/>
          </a:prstGeom>
          <a:noFill/>
          <a:ln/>
        </p:spPr>
        <p:txBody>
          <a:bodyPr wrap="square" lIns="0" tIns="0" rIns="0" bIns="0" rtlCol="0" anchor="t"/>
          <a:lstStyle/>
          <a:p>
            <a:pPr marL="0" indent="0" algn="l">
              <a:lnSpc>
                <a:spcPts val="230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Medication names, dosage, frequency, times, and start/end dates</a:t>
            </a:r>
            <a:endParaRPr lang="en-US" sz="1550" dirty="0">
              <a:solidFill>
                <a:schemeClr val="tx1">
                  <a:lumMod val="95000"/>
                  <a:lumOff val="5000"/>
                </a:schemeClr>
              </a:solidFill>
            </a:endParaRPr>
          </a:p>
        </p:txBody>
      </p:sp>
      <p:pic>
        <p:nvPicPr>
          <p:cNvPr id="16" name="Image 4"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181005" y="4191595"/>
            <a:ext cx="496610" cy="496610"/>
          </a:xfrm>
          <a:prstGeom prst="rect">
            <a:avLst/>
          </a:prstGeom>
        </p:spPr>
      </p:pic>
      <p:sp>
        <p:nvSpPr>
          <p:cNvPr id="17" name="Text 10"/>
          <p:cNvSpPr/>
          <p:nvPr/>
        </p:nvSpPr>
        <p:spPr>
          <a:xfrm>
            <a:off x="5895142" y="4191595"/>
            <a:ext cx="2483406" cy="310396"/>
          </a:xfrm>
          <a:prstGeom prst="rect">
            <a:avLst/>
          </a:prstGeom>
          <a:noFill/>
          <a:ln/>
        </p:spPr>
        <p:txBody>
          <a:bodyPr wrap="none" lIns="0" tIns="0" rIns="0" bIns="0" rtlCol="0" anchor="t"/>
          <a:lstStyle/>
          <a:p>
            <a:pPr marL="0" indent="0" algn="l">
              <a:lnSpc>
                <a:spcPts val="2400"/>
              </a:lnSpc>
              <a:buNone/>
            </a:pPr>
            <a:r>
              <a:rPr lang="en-US" sz="1950" dirty="0">
                <a:solidFill>
                  <a:srgbClr val="006699"/>
                </a:solidFill>
                <a:latin typeface="Libre Baskerville" pitchFamily="34" charset="0"/>
                <a:ea typeface="Libre Baskerville" pitchFamily="34" charset="-122"/>
                <a:cs typeface="Libre Baskerville" pitchFamily="34" charset="-120"/>
              </a:rPr>
              <a:t>Intake Logs</a:t>
            </a:r>
            <a:endParaRPr lang="en-US" sz="1950" dirty="0">
              <a:solidFill>
                <a:srgbClr val="006699"/>
              </a:solidFill>
            </a:endParaRPr>
          </a:p>
        </p:txBody>
      </p:sp>
      <p:sp>
        <p:nvSpPr>
          <p:cNvPr id="18" name="Text 11"/>
          <p:cNvSpPr/>
          <p:nvPr/>
        </p:nvSpPr>
        <p:spPr>
          <a:xfrm>
            <a:off x="5895142" y="4606290"/>
            <a:ext cx="3554135" cy="894398"/>
          </a:xfrm>
          <a:prstGeom prst="rect">
            <a:avLst/>
          </a:prstGeom>
          <a:noFill/>
          <a:ln/>
        </p:spPr>
        <p:txBody>
          <a:bodyPr wrap="square" lIns="0" tIns="0" rIns="0" bIns="0" rtlCol="0" anchor="t"/>
          <a:lstStyle/>
          <a:p>
            <a:pPr marL="0" indent="0" algn="l">
              <a:lnSpc>
                <a:spcPts val="230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Scheduled date/time with status tracking: taken, missed, skipped, or pending</a:t>
            </a:r>
            <a:endParaRPr lang="en-US" sz="1550" dirty="0">
              <a:solidFill>
                <a:schemeClr val="tx1">
                  <a:lumMod val="95000"/>
                  <a:lumOff val="5000"/>
                </a:schemeClr>
              </a:solidFill>
            </a:endParaRPr>
          </a:p>
        </p:txBody>
      </p:sp>
      <p:pic>
        <p:nvPicPr>
          <p:cNvPr id="19" name="Image 5"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666803" y="4191595"/>
            <a:ext cx="496610" cy="496610"/>
          </a:xfrm>
          <a:prstGeom prst="rect">
            <a:avLst/>
          </a:prstGeom>
        </p:spPr>
      </p:pic>
      <p:sp>
        <p:nvSpPr>
          <p:cNvPr id="20" name="Text 12"/>
          <p:cNvSpPr/>
          <p:nvPr/>
        </p:nvSpPr>
        <p:spPr>
          <a:xfrm>
            <a:off x="10380940" y="4191595"/>
            <a:ext cx="2483406" cy="310396"/>
          </a:xfrm>
          <a:prstGeom prst="rect">
            <a:avLst/>
          </a:prstGeom>
          <a:noFill/>
          <a:ln/>
        </p:spPr>
        <p:txBody>
          <a:bodyPr wrap="none" lIns="0" tIns="0" rIns="0" bIns="0" rtlCol="0" anchor="t"/>
          <a:lstStyle/>
          <a:p>
            <a:pPr marL="0" indent="0" algn="l">
              <a:lnSpc>
                <a:spcPts val="2400"/>
              </a:lnSpc>
              <a:buNone/>
            </a:pPr>
            <a:r>
              <a:rPr lang="en-US" sz="1950" dirty="0">
                <a:solidFill>
                  <a:srgbClr val="006699"/>
                </a:solidFill>
                <a:latin typeface="Libre Baskerville" pitchFamily="34" charset="0"/>
                <a:ea typeface="Libre Baskerville" pitchFamily="34" charset="-122"/>
                <a:cs typeface="Libre Baskerville" pitchFamily="34" charset="-120"/>
              </a:rPr>
              <a:t>Prescriptions</a:t>
            </a:r>
            <a:endParaRPr lang="en-US" sz="1950" dirty="0">
              <a:solidFill>
                <a:srgbClr val="006699"/>
              </a:solidFill>
            </a:endParaRPr>
          </a:p>
        </p:txBody>
      </p:sp>
      <p:sp>
        <p:nvSpPr>
          <p:cNvPr id="21" name="Text 13"/>
          <p:cNvSpPr/>
          <p:nvPr/>
        </p:nvSpPr>
        <p:spPr>
          <a:xfrm>
            <a:off x="10380940" y="4606290"/>
            <a:ext cx="3554135" cy="596265"/>
          </a:xfrm>
          <a:prstGeom prst="rect">
            <a:avLst/>
          </a:prstGeom>
          <a:noFill/>
          <a:ln/>
        </p:spPr>
        <p:txBody>
          <a:bodyPr wrap="square" lIns="0" tIns="0" rIns="0" bIns="0" rtlCol="0" anchor="t"/>
          <a:lstStyle/>
          <a:p>
            <a:pPr marL="0" indent="0" algn="l">
              <a:lnSpc>
                <a:spcPts val="230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Doctor-patient prescription details with medication lists and instructions</a:t>
            </a:r>
            <a:endParaRPr lang="en-US" sz="1550" dirty="0">
              <a:solidFill>
                <a:schemeClr val="tx1">
                  <a:lumMod val="95000"/>
                  <a:lumOff val="5000"/>
                </a:schemeClr>
              </a:solidFill>
            </a:endParaRPr>
          </a:p>
        </p:txBody>
      </p:sp>
      <p:pic>
        <p:nvPicPr>
          <p:cNvPr id="22" name="Image 6"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695325" y="5848707"/>
            <a:ext cx="496610" cy="496610"/>
          </a:xfrm>
          <a:prstGeom prst="rect">
            <a:avLst/>
          </a:prstGeom>
        </p:spPr>
      </p:pic>
      <p:sp>
        <p:nvSpPr>
          <p:cNvPr id="23" name="Text 14"/>
          <p:cNvSpPr/>
          <p:nvPr/>
        </p:nvSpPr>
        <p:spPr>
          <a:xfrm>
            <a:off x="1409462" y="5848707"/>
            <a:ext cx="2483406" cy="310396"/>
          </a:xfrm>
          <a:prstGeom prst="rect">
            <a:avLst/>
          </a:prstGeom>
          <a:noFill/>
          <a:ln/>
        </p:spPr>
        <p:txBody>
          <a:bodyPr wrap="none" lIns="0" tIns="0" rIns="0" bIns="0" rtlCol="0" anchor="t"/>
          <a:lstStyle/>
          <a:p>
            <a:pPr marL="0" indent="0" algn="l">
              <a:lnSpc>
                <a:spcPts val="2400"/>
              </a:lnSpc>
              <a:buNone/>
            </a:pPr>
            <a:r>
              <a:rPr lang="en-US" sz="1950" dirty="0">
                <a:solidFill>
                  <a:srgbClr val="006699"/>
                </a:solidFill>
                <a:latin typeface="Libre Baskerville" pitchFamily="34" charset="0"/>
                <a:ea typeface="Libre Baskerville" pitchFamily="34" charset="-122"/>
                <a:cs typeface="Libre Baskerville" pitchFamily="34" charset="-120"/>
              </a:rPr>
              <a:t>Vital Signs</a:t>
            </a:r>
            <a:endParaRPr lang="en-US" sz="1950" dirty="0">
              <a:solidFill>
                <a:srgbClr val="006699"/>
              </a:solidFill>
            </a:endParaRPr>
          </a:p>
        </p:txBody>
      </p:sp>
      <p:sp>
        <p:nvSpPr>
          <p:cNvPr id="24" name="Text 15"/>
          <p:cNvSpPr/>
          <p:nvPr/>
        </p:nvSpPr>
        <p:spPr>
          <a:xfrm>
            <a:off x="1409462" y="6263402"/>
            <a:ext cx="3554016" cy="894398"/>
          </a:xfrm>
          <a:prstGeom prst="rect">
            <a:avLst/>
          </a:prstGeom>
          <a:noFill/>
          <a:ln/>
        </p:spPr>
        <p:txBody>
          <a:bodyPr wrap="square" lIns="0" tIns="0" rIns="0" bIns="0" rtlCol="0" anchor="t"/>
          <a:lstStyle/>
          <a:p>
            <a:pPr marL="0" indent="0" algn="l">
              <a:lnSpc>
                <a:spcPts val="230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Blood pressure, heart rate, glucose, temperature, stress, oxygen, and weight measurements</a:t>
            </a:r>
            <a:endParaRPr lang="en-US" sz="1550" dirty="0">
              <a:solidFill>
                <a:schemeClr val="tx1">
                  <a:lumMod val="95000"/>
                  <a:lumOff val="5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03898" y="882253"/>
            <a:ext cx="6705362" cy="628412"/>
          </a:xfrm>
          <a:prstGeom prst="rect">
            <a:avLst/>
          </a:prstGeom>
          <a:noFill/>
          <a:ln/>
        </p:spPr>
        <p:txBody>
          <a:bodyPr wrap="none" lIns="0" tIns="0" rIns="0" bIns="0" rtlCol="0" anchor="t"/>
          <a:lstStyle/>
          <a:p>
            <a:pPr marL="0" indent="0" algn="l">
              <a:lnSpc>
                <a:spcPts val="4900"/>
              </a:lnSpc>
              <a:buNone/>
            </a:pPr>
            <a:r>
              <a:rPr lang="en-US" sz="3950" dirty="0">
                <a:solidFill>
                  <a:srgbClr val="403CCF"/>
                </a:solidFill>
                <a:latin typeface="Libre Baskerville" pitchFamily="34" charset="0"/>
                <a:ea typeface="Libre Baskerville" pitchFamily="34" charset="-122"/>
                <a:cs typeface="Libre Baskerville" pitchFamily="34" charset="-120"/>
              </a:rPr>
              <a:t>Authentication &amp; Security</a:t>
            </a:r>
            <a:endParaRPr lang="en-US" sz="3950" dirty="0"/>
          </a:p>
        </p:txBody>
      </p:sp>
      <p:sp>
        <p:nvSpPr>
          <p:cNvPr id="3" name="Text 1"/>
          <p:cNvSpPr/>
          <p:nvPr/>
        </p:nvSpPr>
        <p:spPr>
          <a:xfrm>
            <a:off x="703898" y="1956316"/>
            <a:ext cx="4589264" cy="314325"/>
          </a:xfrm>
          <a:prstGeom prst="rect">
            <a:avLst/>
          </a:prstGeom>
          <a:noFill/>
          <a:ln/>
        </p:spPr>
        <p:txBody>
          <a:bodyPr wrap="none" lIns="0" tIns="0" rIns="0" bIns="0" rtlCol="0" anchor="t"/>
          <a:lstStyle/>
          <a:p>
            <a:pPr marL="0" indent="0" algn="l">
              <a:lnSpc>
                <a:spcPts val="2450"/>
              </a:lnSpc>
              <a:buNone/>
            </a:pPr>
            <a:r>
              <a:rPr lang="en-US" sz="1950" dirty="0">
                <a:solidFill>
                  <a:srgbClr val="006699"/>
                </a:solidFill>
                <a:latin typeface="Libre Baskerville" pitchFamily="34" charset="0"/>
                <a:ea typeface="Libre Baskerville" pitchFamily="34" charset="-122"/>
                <a:cs typeface="Libre Baskerville" pitchFamily="34" charset="-120"/>
              </a:rPr>
              <a:t>JWT-Based Stateless Authentication</a:t>
            </a:r>
            <a:endParaRPr lang="en-US" sz="1950" dirty="0">
              <a:solidFill>
                <a:srgbClr val="006699"/>
              </a:solidFill>
            </a:endParaRPr>
          </a:p>
        </p:txBody>
      </p:sp>
      <p:sp>
        <p:nvSpPr>
          <p:cNvPr id="4" name="Text 2"/>
          <p:cNvSpPr/>
          <p:nvPr/>
        </p:nvSpPr>
        <p:spPr>
          <a:xfrm>
            <a:off x="703898" y="2448878"/>
            <a:ext cx="8422958" cy="606981"/>
          </a:xfrm>
          <a:prstGeom prst="rect">
            <a:avLst/>
          </a:prstGeom>
          <a:noFill/>
          <a:ln/>
        </p:spPr>
        <p:txBody>
          <a:bodyPr wrap="square" lIns="0" tIns="0" rIns="0" bIns="0" rtlCol="0" anchor="t"/>
          <a:lstStyle/>
          <a:p>
            <a:pPr marL="0" indent="0" algn="l">
              <a:lnSpc>
                <a:spcPts val="235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Registration and login endpoints handle user credentials with BCrypt password encryption. Successful authentication generates JWT tokens for secure API access.</a:t>
            </a:r>
            <a:endParaRPr lang="en-US" sz="1550" dirty="0">
              <a:solidFill>
                <a:schemeClr val="tx1">
                  <a:lumMod val="95000"/>
                  <a:lumOff val="5000"/>
                </a:schemeClr>
              </a:solidFill>
            </a:endParaRPr>
          </a:p>
        </p:txBody>
      </p:sp>
      <p:sp>
        <p:nvSpPr>
          <p:cNvPr id="5" name="Text 3"/>
          <p:cNvSpPr/>
          <p:nvPr/>
        </p:nvSpPr>
        <p:spPr>
          <a:xfrm>
            <a:off x="703898" y="3216354"/>
            <a:ext cx="8422958" cy="606981"/>
          </a:xfrm>
          <a:prstGeom prst="rect">
            <a:avLst/>
          </a:prstGeom>
          <a:noFill/>
          <a:ln/>
        </p:spPr>
        <p:txBody>
          <a:bodyPr wrap="square" lIns="0" tIns="0" rIns="0" bIns="0" rtlCol="0" anchor="t"/>
          <a:lstStyle/>
          <a:p>
            <a:pPr marL="0" indent="0" algn="l">
              <a:lnSpc>
                <a:spcPts val="235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Backend APIs are protected based on user roles—doctor endpoints restricted to doctors, patient endpoints to patients, with selective cross-access routes.</a:t>
            </a:r>
            <a:endParaRPr lang="en-US" sz="1550" dirty="0">
              <a:solidFill>
                <a:schemeClr val="tx1">
                  <a:lumMod val="95000"/>
                  <a:lumOff val="5000"/>
                </a:schemeClr>
              </a:solidFill>
            </a:endParaRPr>
          </a:p>
        </p:txBody>
      </p:sp>
      <p:sp>
        <p:nvSpPr>
          <p:cNvPr id="6" name="Text 4"/>
          <p:cNvSpPr/>
          <p:nvPr/>
        </p:nvSpPr>
        <p:spPr>
          <a:xfrm>
            <a:off x="9625013" y="1956316"/>
            <a:ext cx="2514005" cy="314325"/>
          </a:xfrm>
          <a:prstGeom prst="rect">
            <a:avLst/>
          </a:prstGeom>
          <a:noFill/>
          <a:ln/>
        </p:spPr>
        <p:txBody>
          <a:bodyPr wrap="none" lIns="0" tIns="0" rIns="0" bIns="0" rtlCol="0" anchor="t"/>
          <a:lstStyle/>
          <a:p>
            <a:pPr marL="0" indent="0" algn="l">
              <a:lnSpc>
                <a:spcPts val="2450"/>
              </a:lnSpc>
              <a:buNone/>
            </a:pPr>
            <a:r>
              <a:rPr lang="en-US" sz="1950" dirty="0">
                <a:solidFill>
                  <a:srgbClr val="006699"/>
                </a:solidFill>
                <a:latin typeface="Libre Baskerville" pitchFamily="34" charset="0"/>
                <a:ea typeface="Libre Baskerville" pitchFamily="34" charset="-122"/>
                <a:cs typeface="Libre Baskerville" pitchFamily="34" charset="-120"/>
              </a:rPr>
              <a:t>Security Features</a:t>
            </a:r>
            <a:endParaRPr lang="en-US" sz="1950" dirty="0">
              <a:solidFill>
                <a:srgbClr val="006699"/>
              </a:solidFill>
            </a:endParaRPr>
          </a:p>
        </p:txBody>
      </p:sp>
      <p:sp>
        <p:nvSpPr>
          <p:cNvPr id="7" name="Text 5"/>
          <p:cNvSpPr/>
          <p:nvPr/>
        </p:nvSpPr>
        <p:spPr>
          <a:xfrm>
            <a:off x="9625013" y="2448878"/>
            <a:ext cx="4308991" cy="1401128"/>
          </a:xfrm>
          <a:prstGeom prst="rect">
            <a:avLst/>
          </a:prstGeom>
          <a:noFill/>
          <a:ln/>
        </p:spPr>
        <p:txBody>
          <a:bodyPr wrap="square" lIns="0" tIns="0" rIns="0" bIns="0" rtlCol="0" anchor="t"/>
          <a:lstStyle/>
          <a:p>
            <a:pPr marL="342900" indent="-342900" algn="l">
              <a:lnSpc>
                <a:spcPts val="2350"/>
              </a:lnSpc>
              <a:buSzPct val="100000"/>
              <a:buChar char="•"/>
            </a:pPr>
            <a:r>
              <a:rPr lang="en-US" sz="1550" dirty="0">
                <a:solidFill>
                  <a:schemeClr val="tx1">
                    <a:lumMod val="95000"/>
                    <a:lumOff val="5000"/>
                  </a:schemeClr>
                </a:solidFill>
                <a:latin typeface="Open Sans" pitchFamily="34" charset="0"/>
                <a:ea typeface="Open Sans" pitchFamily="34" charset="-122"/>
                <a:cs typeface="Open Sans" pitchFamily="34" charset="-120"/>
              </a:rPr>
              <a:t>BCrypt password encryption</a:t>
            </a:r>
            <a:endParaRPr lang="en-US" sz="1550" dirty="0">
              <a:solidFill>
                <a:schemeClr val="tx1">
                  <a:lumMod val="95000"/>
                  <a:lumOff val="5000"/>
                </a:schemeClr>
              </a:solidFill>
            </a:endParaRPr>
          </a:p>
          <a:p>
            <a:pPr marL="342900" indent="-342900" algn="l">
              <a:lnSpc>
                <a:spcPts val="2350"/>
              </a:lnSpc>
              <a:buSzPct val="100000"/>
              <a:buChar char="•"/>
            </a:pPr>
            <a:r>
              <a:rPr lang="en-US" sz="1550" dirty="0">
                <a:solidFill>
                  <a:schemeClr val="tx1">
                    <a:lumMod val="95000"/>
                    <a:lumOff val="5000"/>
                  </a:schemeClr>
                </a:solidFill>
                <a:latin typeface="Open Sans" pitchFamily="34" charset="0"/>
                <a:ea typeface="Open Sans" pitchFamily="34" charset="-122"/>
                <a:cs typeface="Open Sans" pitchFamily="34" charset="-120"/>
              </a:rPr>
              <a:t>Bearer token authorization</a:t>
            </a:r>
            <a:endParaRPr lang="en-US" sz="1550" dirty="0">
              <a:solidFill>
                <a:schemeClr val="tx1">
                  <a:lumMod val="95000"/>
                  <a:lumOff val="5000"/>
                </a:schemeClr>
              </a:solidFill>
            </a:endParaRPr>
          </a:p>
          <a:p>
            <a:pPr marL="342900" indent="-342900" algn="l">
              <a:lnSpc>
                <a:spcPts val="2350"/>
              </a:lnSpc>
              <a:buSzPct val="100000"/>
              <a:buChar char="•"/>
            </a:pPr>
            <a:r>
              <a:rPr lang="en-US" sz="1550" dirty="0">
                <a:solidFill>
                  <a:schemeClr val="tx1">
                    <a:lumMod val="95000"/>
                    <a:lumOff val="5000"/>
                  </a:schemeClr>
                </a:solidFill>
                <a:latin typeface="Open Sans" pitchFamily="34" charset="0"/>
                <a:ea typeface="Open Sans" pitchFamily="34" charset="-122"/>
                <a:cs typeface="Open Sans" pitchFamily="34" charset="-120"/>
              </a:rPr>
              <a:t>Role-based route protection</a:t>
            </a:r>
            <a:endParaRPr lang="en-US" sz="1550" dirty="0">
              <a:solidFill>
                <a:schemeClr val="tx1">
                  <a:lumMod val="95000"/>
                  <a:lumOff val="5000"/>
                </a:schemeClr>
              </a:solidFill>
            </a:endParaRPr>
          </a:p>
          <a:p>
            <a:pPr marL="342900" indent="-342900" algn="l">
              <a:lnSpc>
                <a:spcPts val="2350"/>
              </a:lnSpc>
              <a:buSzPct val="100000"/>
              <a:buChar char="•"/>
            </a:pPr>
            <a:r>
              <a:rPr lang="en-US" sz="1550" dirty="0">
                <a:solidFill>
                  <a:schemeClr val="tx1">
                    <a:lumMod val="95000"/>
                    <a:lumOff val="5000"/>
                  </a:schemeClr>
                </a:solidFill>
                <a:latin typeface="Open Sans" pitchFamily="34" charset="0"/>
                <a:ea typeface="Open Sans" pitchFamily="34" charset="-122"/>
                <a:cs typeface="Open Sans" pitchFamily="34" charset="-120"/>
              </a:rPr>
              <a:t>Stateless session management</a:t>
            </a:r>
            <a:endParaRPr lang="en-US" sz="1550" dirty="0">
              <a:solidFill>
                <a:schemeClr val="tx1">
                  <a:lumMod val="95000"/>
                  <a:lumOff val="5000"/>
                </a:schemeClr>
              </a:solidFill>
            </a:endParaRPr>
          </a:p>
        </p:txBody>
      </p:sp>
      <p:sp>
        <p:nvSpPr>
          <p:cNvPr id="8" name="Text 6"/>
          <p:cNvSpPr/>
          <p:nvPr/>
        </p:nvSpPr>
        <p:spPr>
          <a:xfrm>
            <a:off x="703898" y="4184452"/>
            <a:ext cx="201097" cy="251341"/>
          </a:xfrm>
          <a:prstGeom prst="rect">
            <a:avLst/>
          </a:prstGeom>
          <a:noFill/>
          <a:ln/>
        </p:spPr>
        <p:txBody>
          <a:bodyPr wrap="none" lIns="0" tIns="0" rIns="0" bIns="0" rtlCol="0" anchor="t"/>
          <a:lstStyle/>
          <a:p>
            <a:pPr marL="0" indent="0" algn="l">
              <a:lnSpc>
                <a:spcPts val="2350"/>
              </a:lnSpc>
              <a:buNone/>
            </a:pPr>
            <a:r>
              <a:rPr lang="en-US" sz="1550" dirty="0">
                <a:solidFill>
                  <a:srgbClr val="49495A"/>
                </a:solidFill>
                <a:latin typeface="Libre Baskerville Light" pitchFamily="34" charset="0"/>
                <a:ea typeface="Libre Baskerville Light" pitchFamily="34" charset="-122"/>
                <a:cs typeface="Libre Baskerville Light" pitchFamily="34" charset="-120"/>
              </a:rPr>
              <a:t>01</a:t>
            </a:r>
            <a:endParaRPr lang="en-US" sz="1550" dirty="0"/>
          </a:p>
        </p:txBody>
      </p:sp>
      <p:pic>
        <p:nvPicPr>
          <p:cNvPr id="9" name="Image 0" descr="preencoded.png"/>
          <p:cNvPicPr>
            <a:picLocks noChangeAspect="1"/>
          </p:cNvPicPr>
          <p:nvPr/>
        </p:nvPicPr>
        <p:blipFill>
          <a:blip r:embed="rId3"/>
          <a:stretch>
            <a:fillRect/>
          </a:stretch>
        </p:blipFill>
        <p:spPr>
          <a:xfrm>
            <a:off x="703898" y="4503301"/>
            <a:ext cx="4288631" cy="22860"/>
          </a:xfrm>
          <a:prstGeom prst="rect">
            <a:avLst/>
          </a:prstGeom>
        </p:spPr>
      </p:pic>
      <p:sp>
        <p:nvSpPr>
          <p:cNvPr id="10" name="Text 7"/>
          <p:cNvSpPr/>
          <p:nvPr/>
        </p:nvSpPr>
        <p:spPr>
          <a:xfrm>
            <a:off x="703898" y="4649510"/>
            <a:ext cx="2514005" cy="314325"/>
          </a:xfrm>
          <a:prstGeom prst="rect">
            <a:avLst/>
          </a:prstGeom>
          <a:noFill/>
          <a:ln/>
        </p:spPr>
        <p:txBody>
          <a:bodyPr wrap="none" lIns="0" tIns="0" rIns="0" bIns="0" rtlCol="0" anchor="t"/>
          <a:lstStyle/>
          <a:p>
            <a:pPr marL="0" indent="0" algn="l">
              <a:lnSpc>
                <a:spcPts val="2450"/>
              </a:lnSpc>
              <a:buNone/>
            </a:pPr>
            <a:r>
              <a:rPr lang="en-US" sz="1950" dirty="0">
                <a:solidFill>
                  <a:srgbClr val="006699"/>
                </a:solidFill>
                <a:latin typeface="Libre Baskerville" pitchFamily="34" charset="0"/>
                <a:ea typeface="Libre Baskerville" pitchFamily="34" charset="-122"/>
                <a:cs typeface="Libre Baskerville" pitchFamily="34" charset="-120"/>
              </a:rPr>
              <a:t>Registration</a:t>
            </a:r>
            <a:endParaRPr lang="en-US" sz="1950" dirty="0">
              <a:solidFill>
                <a:srgbClr val="006699"/>
              </a:solidFill>
            </a:endParaRPr>
          </a:p>
        </p:txBody>
      </p:sp>
      <p:sp>
        <p:nvSpPr>
          <p:cNvPr id="11" name="Text 8"/>
          <p:cNvSpPr/>
          <p:nvPr/>
        </p:nvSpPr>
        <p:spPr>
          <a:xfrm>
            <a:off x="703898" y="5070753"/>
            <a:ext cx="4288631" cy="606981"/>
          </a:xfrm>
          <a:prstGeom prst="rect">
            <a:avLst/>
          </a:prstGeom>
          <a:noFill/>
          <a:ln/>
        </p:spPr>
        <p:txBody>
          <a:bodyPr wrap="square" lIns="0" tIns="0" rIns="0" bIns="0" rtlCol="0" anchor="t"/>
          <a:lstStyle/>
          <a:p>
            <a:pPr marL="0" indent="0" algn="l">
              <a:lnSpc>
                <a:spcPts val="235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User creates account with email and password</a:t>
            </a:r>
            <a:endParaRPr lang="en-US" sz="1550" dirty="0">
              <a:solidFill>
                <a:schemeClr val="tx1">
                  <a:lumMod val="95000"/>
                  <a:lumOff val="5000"/>
                </a:schemeClr>
              </a:solidFill>
            </a:endParaRPr>
          </a:p>
        </p:txBody>
      </p:sp>
      <p:sp>
        <p:nvSpPr>
          <p:cNvPr id="12" name="Text 9"/>
          <p:cNvSpPr/>
          <p:nvPr/>
        </p:nvSpPr>
        <p:spPr>
          <a:xfrm>
            <a:off x="5170765" y="4184452"/>
            <a:ext cx="201097" cy="251341"/>
          </a:xfrm>
          <a:prstGeom prst="rect">
            <a:avLst/>
          </a:prstGeom>
          <a:noFill/>
          <a:ln/>
        </p:spPr>
        <p:txBody>
          <a:bodyPr wrap="none" lIns="0" tIns="0" rIns="0" bIns="0" rtlCol="0" anchor="t"/>
          <a:lstStyle/>
          <a:p>
            <a:pPr marL="0" indent="0" algn="l">
              <a:lnSpc>
                <a:spcPts val="2350"/>
              </a:lnSpc>
              <a:buNone/>
            </a:pPr>
            <a:r>
              <a:rPr lang="en-US" sz="1550" dirty="0">
                <a:solidFill>
                  <a:srgbClr val="49495A"/>
                </a:solidFill>
                <a:latin typeface="Libre Baskerville Light" pitchFamily="34" charset="0"/>
                <a:ea typeface="Libre Baskerville Light" pitchFamily="34" charset="-122"/>
                <a:cs typeface="Libre Baskerville Light" pitchFamily="34" charset="-120"/>
              </a:rPr>
              <a:t>02</a:t>
            </a:r>
            <a:endParaRPr lang="en-US" sz="1550" dirty="0"/>
          </a:p>
        </p:txBody>
      </p:sp>
      <p:pic>
        <p:nvPicPr>
          <p:cNvPr id="13" name="Image 1" descr="preencoded.png"/>
          <p:cNvPicPr>
            <a:picLocks noChangeAspect="1"/>
          </p:cNvPicPr>
          <p:nvPr/>
        </p:nvPicPr>
        <p:blipFill>
          <a:blip r:embed="rId3"/>
          <a:stretch>
            <a:fillRect/>
          </a:stretch>
        </p:blipFill>
        <p:spPr>
          <a:xfrm>
            <a:off x="5170765" y="4523423"/>
            <a:ext cx="4288750" cy="22860"/>
          </a:xfrm>
          <a:prstGeom prst="rect">
            <a:avLst/>
          </a:prstGeom>
        </p:spPr>
      </p:pic>
      <p:sp>
        <p:nvSpPr>
          <p:cNvPr id="14" name="Text 10"/>
          <p:cNvSpPr/>
          <p:nvPr/>
        </p:nvSpPr>
        <p:spPr>
          <a:xfrm>
            <a:off x="5170765" y="4649510"/>
            <a:ext cx="2514005" cy="314325"/>
          </a:xfrm>
          <a:prstGeom prst="rect">
            <a:avLst/>
          </a:prstGeom>
          <a:noFill/>
          <a:ln/>
        </p:spPr>
        <p:txBody>
          <a:bodyPr wrap="none" lIns="0" tIns="0" rIns="0" bIns="0" rtlCol="0" anchor="t"/>
          <a:lstStyle/>
          <a:p>
            <a:pPr marL="0" indent="0" algn="l">
              <a:lnSpc>
                <a:spcPts val="2450"/>
              </a:lnSpc>
              <a:buNone/>
            </a:pPr>
            <a:r>
              <a:rPr lang="en-US" sz="1950" dirty="0">
                <a:solidFill>
                  <a:srgbClr val="006699"/>
                </a:solidFill>
                <a:latin typeface="Libre Baskerville" pitchFamily="34" charset="0"/>
                <a:ea typeface="Libre Baskerville" pitchFamily="34" charset="-122"/>
                <a:cs typeface="Libre Baskerville" pitchFamily="34" charset="-120"/>
              </a:rPr>
              <a:t>BCrypt Hashing</a:t>
            </a:r>
            <a:endParaRPr lang="en-US" sz="1950" dirty="0">
              <a:solidFill>
                <a:srgbClr val="006699"/>
              </a:solidFill>
            </a:endParaRPr>
          </a:p>
        </p:txBody>
      </p:sp>
      <p:sp>
        <p:nvSpPr>
          <p:cNvPr id="15" name="Text 11"/>
          <p:cNvSpPr/>
          <p:nvPr/>
        </p:nvSpPr>
        <p:spPr>
          <a:xfrm>
            <a:off x="5170765" y="5070753"/>
            <a:ext cx="4288750" cy="303490"/>
          </a:xfrm>
          <a:prstGeom prst="rect">
            <a:avLst/>
          </a:prstGeom>
          <a:noFill/>
          <a:ln/>
        </p:spPr>
        <p:txBody>
          <a:bodyPr wrap="none" lIns="0" tIns="0" rIns="0" bIns="0" rtlCol="0" anchor="t"/>
          <a:lstStyle/>
          <a:p>
            <a:pPr marL="0" indent="0" algn="l">
              <a:lnSpc>
                <a:spcPts val="235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Password encrypted before storage</a:t>
            </a:r>
            <a:endParaRPr lang="en-US" sz="1550" dirty="0">
              <a:solidFill>
                <a:schemeClr val="tx1">
                  <a:lumMod val="95000"/>
                  <a:lumOff val="5000"/>
                </a:schemeClr>
              </a:solidFill>
            </a:endParaRPr>
          </a:p>
        </p:txBody>
      </p:sp>
      <p:sp>
        <p:nvSpPr>
          <p:cNvPr id="16" name="Text 12"/>
          <p:cNvSpPr/>
          <p:nvPr/>
        </p:nvSpPr>
        <p:spPr>
          <a:xfrm>
            <a:off x="9637752" y="4184452"/>
            <a:ext cx="201097" cy="251341"/>
          </a:xfrm>
          <a:prstGeom prst="rect">
            <a:avLst/>
          </a:prstGeom>
          <a:noFill/>
          <a:ln/>
        </p:spPr>
        <p:txBody>
          <a:bodyPr wrap="none" lIns="0" tIns="0" rIns="0" bIns="0" rtlCol="0" anchor="t"/>
          <a:lstStyle/>
          <a:p>
            <a:pPr marL="0" indent="0" algn="l">
              <a:lnSpc>
                <a:spcPts val="2350"/>
              </a:lnSpc>
              <a:buNone/>
            </a:pPr>
            <a:r>
              <a:rPr lang="en-US" sz="1550" dirty="0">
                <a:solidFill>
                  <a:srgbClr val="49495A"/>
                </a:solidFill>
                <a:latin typeface="Libre Baskerville Light" pitchFamily="34" charset="0"/>
                <a:ea typeface="Libre Baskerville Light" pitchFamily="34" charset="-122"/>
                <a:cs typeface="Libre Baskerville Light" pitchFamily="34" charset="-120"/>
              </a:rPr>
              <a:t>03</a:t>
            </a:r>
            <a:endParaRPr lang="en-US" sz="1550" dirty="0"/>
          </a:p>
        </p:txBody>
      </p:sp>
      <p:pic>
        <p:nvPicPr>
          <p:cNvPr id="17" name="Image 2" descr="preencoded.png"/>
          <p:cNvPicPr>
            <a:picLocks noChangeAspect="1"/>
          </p:cNvPicPr>
          <p:nvPr/>
        </p:nvPicPr>
        <p:blipFill>
          <a:blip r:embed="rId3"/>
          <a:stretch>
            <a:fillRect/>
          </a:stretch>
        </p:blipFill>
        <p:spPr>
          <a:xfrm>
            <a:off x="9637752" y="4523423"/>
            <a:ext cx="4288631" cy="22860"/>
          </a:xfrm>
          <a:prstGeom prst="rect">
            <a:avLst/>
          </a:prstGeom>
        </p:spPr>
      </p:pic>
      <p:sp>
        <p:nvSpPr>
          <p:cNvPr id="18" name="Text 13"/>
          <p:cNvSpPr/>
          <p:nvPr/>
        </p:nvSpPr>
        <p:spPr>
          <a:xfrm>
            <a:off x="9637752" y="4649510"/>
            <a:ext cx="2514005" cy="314325"/>
          </a:xfrm>
          <a:prstGeom prst="rect">
            <a:avLst/>
          </a:prstGeom>
          <a:noFill/>
          <a:ln/>
        </p:spPr>
        <p:txBody>
          <a:bodyPr wrap="none" lIns="0" tIns="0" rIns="0" bIns="0" rtlCol="0" anchor="t"/>
          <a:lstStyle/>
          <a:p>
            <a:pPr marL="0" indent="0" algn="l">
              <a:lnSpc>
                <a:spcPts val="2450"/>
              </a:lnSpc>
              <a:buNone/>
            </a:pPr>
            <a:r>
              <a:rPr lang="en-US" sz="1950" dirty="0">
                <a:solidFill>
                  <a:srgbClr val="006699"/>
                </a:solidFill>
                <a:latin typeface="Libre Baskerville" pitchFamily="34" charset="0"/>
                <a:ea typeface="Libre Baskerville" pitchFamily="34" charset="-122"/>
                <a:cs typeface="Libre Baskerville" pitchFamily="34" charset="-120"/>
              </a:rPr>
              <a:t>JWT Generation</a:t>
            </a:r>
            <a:endParaRPr lang="en-US" sz="1950" dirty="0">
              <a:solidFill>
                <a:srgbClr val="006699"/>
              </a:solidFill>
            </a:endParaRPr>
          </a:p>
        </p:txBody>
      </p:sp>
      <p:sp>
        <p:nvSpPr>
          <p:cNvPr id="19" name="Text 14"/>
          <p:cNvSpPr/>
          <p:nvPr/>
        </p:nvSpPr>
        <p:spPr>
          <a:xfrm>
            <a:off x="9637752" y="5070753"/>
            <a:ext cx="4288631" cy="303490"/>
          </a:xfrm>
          <a:prstGeom prst="rect">
            <a:avLst/>
          </a:prstGeom>
          <a:noFill/>
          <a:ln/>
        </p:spPr>
        <p:txBody>
          <a:bodyPr wrap="none" lIns="0" tIns="0" rIns="0" bIns="0" rtlCol="0" anchor="t"/>
          <a:lstStyle/>
          <a:p>
            <a:pPr marL="0" indent="0" algn="l">
              <a:lnSpc>
                <a:spcPts val="235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Token created after successful login</a:t>
            </a:r>
            <a:endParaRPr lang="en-US" sz="1550" dirty="0">
              <a:solidFill>
                <a:schemeClr val="tx1">
                  <a:lumMod val="95000"/>
                  <a:lumOff val="5000"/>
                </a:schemeClr>
              </a:solidFill>
            </a:endParaRPr>
          </a:p>
        </p:txBody>
      </p:sp>
      <p:sp>
        <p:nvSpPr>
          <p:cNvPr id="20" name="Text 15"/>
          <p:cNvSpPr/>
          <p:nvPr/>
        </p:nvSpPr>
        <p:spPr>
          <a:xfrm>
            <a:off x="703898" y="6006703"/>
            <a:ext cx="201097" cy="251341"/>
          </a:xfrm>
          <a:prstGeom prst="rect">
            <a:avLst/>
          </a:prstGeom>
          <a:noFill/>
          <a:ln/>
        </p:spPr>
        <p:txBody>
          <a:bodyPr wrap="none" lIns="0" tIns="0" rIns="0" bIns="0" rtlCol="0" anchor="t"/>
          <a:lstStyle/>
          <a:p>
            <a:pPr marL="0" indent="0" algn="l">
              <a:lnSpc>
                <a:spcPts val="2350"/>
              </a:lnSpc>
              <a:buNone/>
            </a:pPr>
            <a:r>
              <a:rPr lang="en-US" sz="1550" dirty="0">
                <a:solidFill>
                  <a:schemeClr val="tx1">
                    <a:lumMod val="95000"/>
                    <a:lumOff val="5000"/>
                  </a:schemeClr>
                </a:solidFill>
                <a:latin typeface="Libre Baskerville Light" pitchFamily="34" charset="0"/>
                <a:ea typeface="Libre Baskerville Light" pitchFamily="34" charset="-122"/>
                <a:cs typeface="Libre Baskerville Light" pitchFamily="34" charset="-120"/>
              </a:rPr>
              <a:t>04</a:t>
            </a:r>
            <a:endParaRPr lang="en-US" sz="1550" dirty="0">
              <a:solidFill>
                <a:schemeClr val="tx1">
                  <a:lumMod val="95000"/>
                  <a:lumOff val="5000"/>
                </a:schemeClr>
              </a:solidFill>
            </a:endParaRPr>
          </a:p>
        </p:txBody>
      </p:sp>
      <p:pic>
        <p:nvPicPr>
          <p:cNvPr id="21" name="Image 3" descr="preencoded.png"/>
          <p:cNvPicPr>
            <a:picLocks noChangeAspect="1"/>
          </p:cNvPicPr>
          <p:nvPr/>
        </p:nvPicPr>
        <p:blipFill>
          <a:blip r:embed="rId4"/>
          <a:stretch>
            <a:fillRect/>
          </a:stretch>
        </p:blipFill>
        <p:spPr>
          <a:xfrm>
            <a:off x="703898" y="6305550"/>
            <a:ext cx="6522125" cy="22860"/>
          </a:xfrm>
          <a:prstGeom prst="rect">
            <a:avLst/>
          </a:prstGeom>
        </p:spPr>
      </p:pic>
      <p:sp>
        <p:nvSpPr>
          <p:cNvPr id="22" name="Text 16"/>
          <p:cNvSpPr/>
          <p:nvPr/>
        </p:nvSpPr>
        <p:spPr>
          <a:xfrm>
            <a:off x="703898" y="6471761"/>
            <a:ext cx="2514005" cy="314325"/>
          </a:xfrm>
          <a:prstGeom prst="rect">
            <a:avLst/>
          </a:prstGeom>
          <a:noFill/>
          <a:ln/>
        </p:spPr>
        <p:txBody>
          <a:bodyPr wrap="none" lIns="0" tIns="0" rIns="0" bIns="0" rtlCol="0" anchor="t"/>
          <a:lstStyle/>
          <a:p>
            <a:pPr marL="0" indent="0" algn="l">
              <a:lnSpc>
                <a:spcPts val="2450"/>
              </a:lnSpc>
              <a:buNone/>
            </a:pPr>
            <a:r>
              <a:rPr lang="en-US" sz="1950" dirty="0">
                <a:solidFill>
                  <a:srgbClr val="006699"/>
                </a:solidFill>
                <a:latin typeface="Libre Baskerville" pitchFamily="34" charset="0"/>
                <a:ea typeface="Libre Baskerville" pitchFamily="34" charset="-122"/>
                <a:cs typeface="Libre Baskerville" pitchFamily="34" charset="-120"/>
              </a:rPr>
              <a:t>API Access</a:t>
            </a:r>
            <a:endParaRPr lang="en-US" sz="1950" dirty="0">
              <a:solidFill>
                <a:srgbClr val="006699"/>
              </a:solidFill>
            </a:endParaRPr>
          </a:p>
        </p:txBody>
      </p:sp>
      <p:sp>
        <p:nvSpPr>
          <p:cNvPr id="23" name="Text 17"/>
          <p:cNvSpPr/>
          <p:nvPr/>
        </p:nvSpPr>
        <p:spPr>
          <a:xfrm>
            <a:off x="703898" y="6893004"/>
            <a:ext cx="6522125" cy="303490"/>
          </a:xfrm>
          <a:prstGeom prst="rect">
            <a:avLst/>
          </a:prstGeom>
          <a:noFill/>
          <a:ln/>
        </p:spPr>
        <p:txBody>
          <a:bodyPr wrap="none" lIns="0" tIns="0" rIns="0" bIns="0" rtlCol="0" anchor="t"/>
          <a:lstStyle/>
          <a:p>
            <a:pPr marL="0" indent="0" algn="l">
              <a:lnSpc>
                <a:spcPts val="235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Bearer token sent with each request</a:t>
            </a:r>
            <a:endParaRPr lang="en-US" sz="1550" dirty="0">
              <a:solidFill>
                <a:schemeClr val="tx1">
                  <a:lumMod val="95000"/>
                  <a:lumOff val="5000"/>
                </a:schemeClr>
              </a:solidFill>
            </a:endParaRPr>
          </a:p>
        </p:txBody>
      </p:sp>
      <p:sp>
        <p:nvSpPr>
          <p:cNvPr id="24" name="Text 18"/>
          <p:cNvSpPr/>
          <p:nvPr/>
        </p:nvSpPr>
        <p:spPr>
          <a:xfrm>
            <a:off x="7404259" y="6006703"/>
            <a:ext cx="201097" cy="251341"/>
          </a:xfrm>
          <a:prstGeom prst="rect">
            <a:avLst/>
          </a:prstGeom>
          <a:noFill/>
          <a:ln/>
        </p:spPr>
        <p:txBody>
          <a:bodyPr wrap="none" lIns="0" tIns="0" rIns="0" bIns="0" rtlCol="0" anchor="t"/>
          <a:lstStyle/>
          <a:p>
            <a:pPr marL="0" indent="0" algn="l">
              <a:lnSpc>
                <a:spcPts val="2350"/>
              </a:lnSpc>
              <a:buNone/>
            </a:pPr>
            <a:r>
              <a:rPr lang="en-US" sz="1550" dirty="0">
                <a:solidFill>
                  <a:schemeClr val="tx1">
                    <a:lumMod val="95000"/>
                    <a:lumOff val="5000"/>
                  </a:schemeClr>
                </a:solidFill>
                <a:latin typeface="Libre Baskerville Light" pitchFamily="34" charset="0"/>
                <a:ea typeface="Libre Baskerville Light" pitchFamily="34" charset="-122"/>
                <a:cs typeface="Libre Baskerville Light" pitchFamily="34" charset="-120"/>
              </a:rPr>
              <a:t>05</a:t>
            </a:r>
            <a:endParaRPr lang="en-US" sz="1550" dirty="0">
              <a:solidFill>
                <a:schemeClr val="tx1">
                  <a:lumMod val="95000"/>
                  <a:lumOff val="5000"/>
                </a:schemeClr>
              </a:solidFill>
            </a:endParaRPr>
          </a:p>
        </p:txBody>
      </p:sp>
      <p:pic>
        <p:nvPicPr>
          <p:cNvPr id="25" name="Image 4" descr="preencoded.png"/>
          <p:cNvPicPr>
            <a:picLocks noChangeAspect="1"/>
          </p:cNvPicPr>
          <p:nvPr/>
        </p:nvPicPr>
        <p:blipFill>
          <a:blip r:embed="rId4"/>
          <a:stretch>
            <a:fillRect/>
          </a:stretch>
        </p:blipFill>
        <p:spPr>
          <a:xfrm>
            <a:off x="7404259" y="6305550"/>
            <a:ext cx="6522125" cy="22860"/>
          </a:xfrm>
          <a:prstGeom prst="rect">
            <a:avLst/>
          </a:prstGeom>
        </p:spPr>
      </p:pic>
      <p:sp>
        <p:nvSpPr>
          <p:cNvPr id="26" name="Text 19"/>
          <p:cNvSpPr/>
          <p:nvPr/>
        </p:nvSpPr>
        <p:spPr>
          <a:xfrm>
            <a:off x="7404259" y="6471761"/>
            <a:ext cx="2514005" cy="314325"/>
          </a:xfrm>
          <a:prstGeom prst="rect">
            <a:avLst/>
          </a:prstGeom>
          <a:noFill/>
          <a:ln/>
        </p:spPr>
        <p:txBody>
          <a:bodyPr wrap="none" lIns="0" tIns="0" rIns="0" bIns="0" rtlCol="0" anchor="t"/>
          <a:lstStyle/>
          <a:p>
            <a:pPr marL="0" indent="0" algn="l">
              <a:lnSpc>
                <a:spcPts val="2450"/>
              </a:lnSpc>
              <a:buNone/>
            </a:pPr>
            <a:r>
              <a:rPr lang="en-US" sz="1950" dirty="0">
                <a:solidFill>
                  <a:srgbClr val="006699"/>
                </a:solidFill>
                <a:latin typeface="Libre Baskerville" pitchFamily="34" charset="0"/>
                <a:ea typeface="Libre Baskerville" pitchFamily="34" charset="-122"/>
                <a:cs typeface="Libre Baskerville" pitchFamily="34" charset="-120"/>
              </a:rPr>
              <a:t>Role Validation</a:t>
            </a:r>
            <a:endParaRPr lang="en-US" sz="1950" dirty="0">
              <a:solidFill>
                <a:srgbClr val="006699"/>
              </a:solidFill>
            </a:endParaRPr>
          </a:p>
        </p:txBody>
      </p:sp>
      <p:sp>
        <p:nvSpPr>
          <p:cNvPr id="27" name="Text 20"/>
          <p:cNvSpPr/>
          <p:nvPr/>
        </p:nvSpPr>
        <p:spPr>
          <a:xfrm>
            <a:off x="7404259" y="6893004"/>
            <a:ext cx="6522125" cy="303490"/>
          </a:xfrm>
          <a:prstGeom prst="rect">
            <a:avLst/>
          </a:prstGeom>
          <a:noFill/>
          <a:ln/>
        </p:spPr>
        <p:txBody>
          <a:bodyPr wrap="none" lIns="0" tIns="0" rIns="0" bIns="0" rtlCol="0" anchor="t"/>
          <a:lstStyle/>
          <a:p>
            <a:pPr marL="0" indent="0" algn="l">
              <a:lnSpc>
                <a:spcPts val="2350"/>
              </a:lnSpc>
              <a:buNone/>
            </a:pPr>
            <a:r>
              <a:rPr lang="en-US" sz="1550" dirty="0">
                <a:solidFill>
                  <a:schemeClr val="tx1">
                    <a:lumMod val="95000"/>
                    <a:lumOff val="5000"/>
                  </a:schemeClr>
                </a:solidFill>
                <a:latin typeface="Open Sans" pitchFamily="34" charset="0"/>
                <a:ea typeface="Open Sans" pitchFamily="34" charset="-122"/>
                <a:cs typeface="Open Sans" pitchFamily="34" charset="-120"/>
              </a:rPr>
              <a:t>Spring Security checks permissions</a:t>
            </a:r>
            <a:endParaRPr lang="en-US" sz="1550" dirty="0">
              <a:solidFill>
                <a:schemeClr val="tx1">
                  <a:lumMod val="95000"/>
                  <a:lumOff val="5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3402449" y="662702"/>
            <a:ext cx="4134683" cy="354330"/>
          </a:xfrm>
          <a:prstGeom prst="rect">
            <a:avLst/>
          </a:prstGeom>
          <a:noFill/>
          <a:ln/>
        </p:spPr>
        <p:txBody>
          <a:bodyPr wrap="none" lIns="0" tIns="0" rIns="0" bIns="0" rtlCol="0" anchor="t"/>
          <a:lstStyle/>
          <a:p>
            <a:pPr marL="0" indent="0" algn="l">
              <a:lnSpc>
                <a:spcPts val="2750"/>
              </a:lnSpc>
              <a:buNone/>
            </a:pPr>
            <a:r>
              <a:rPr lang="en-US" sz="2200" dirty="0">
                <a:solidFill>
                  <a:srgbClr val="194178"/>
                </a:solidFill>
                <a:latin typeface="Libre Baskerville" pitchFamily="34" charset="0"/>
                <a:ea typeface="Libre Baskerville" pitchFamily="34" charset="-122"/>
                <a:cs typeface="Libre Baskerville" pitchFamily="34" charset="-120"/>
              </a:rPr>
              <a:t>Medication Scheduling Flow</a:t>
            </a:r>
            <a:endParaRPr lang="en-US" sz="2200" dirty="0">
              <a:solidFill>
                <a:srgbClr val="194178"/>
              </a:solidFill>
            </a:endParaRPr>
          </a:p>
        </p:txBody>
      </p:sp>
      <p:sp>
        <p:nvSpPr>
          <p:cNvPr id="3" name="Text 1"/>
          <p:cNvSpPr/>
          <p:nvPr/>
        </p:nvSpPr>
        <p:spPr>
          <a:xfrm>
            <a:off x="3402449" y="1130379"/>
            <a:ext cx="7825502" cy="136088"/>
          </a:xfrm>
          <a:prstGeom prst="rect">
            <a:avLst/>
          </a:prstGeom>
          <a:noFill/>
          <a:ln/>
        </p:spPr>
        <p:txBody>
          <a:bodyPr wrap="none" lIns="0" tIns="0" rIns="0" bIns="0" rtlCol="0" anchor="t"/>
          <a:lstStyle/>
          <a:p>
            <a:pPr marL="0" indent="0" algn="l">
              <a:lnSpc>
                <a:spcPts val="1050"/>
              </a:lnSpc>
              <a:buNone/>
            </a:pPr>
            <a:r>
              <a:rPr lang="en-US" sz="1200" dirty="0">
                <a:solidFill>
                  <a:srgbClr val="49495A"/>
                </a:solidFill>
                <a:latin typeface="Open Sans" pitchFamily="34" charset="0"/>
                <a:ea typeface="Open Sans" pitchFamily="34" charset="-122"/>
                <a:cs typeface="Open Sans" pitchFamily="34" charset="-120"/>
              </a:rPr>
              <a:t>Automated intake log generation ensures accurate adherence tracking without manual data entry.</a:t>
            </a:r>
            <a:endParaRPr lang="en-US" sz="1200" dirty="0"/>
          </a:p>
        </p:txBody>
      </p:sp>
      <p:sp>
        <p:nvSpPr>
          <p:cNvPr id="4" name="Shape 2"/>
          <p:cNvSpPr/>
          <p:nvPr/>
        </p:nvSpPr>
        <p:spPr>
          <a:xfrm>
            <a:off x="3515797" y="1500188"/>
            <a:ext cx="113348" cy="510302"/>
          </a:xfrm>
          <a:prstGeom prst="roundRect">
            <a:avLst>
              <a:gd name="adj" fmla="val 15009"/>
            </a:avLst>
          </a:prstGeom>
          <a:solidFill>
            <a:srgbClr val="EAE8F3"/>
          </a:solidFill>
          <a:ln/>
        </p:spPr>
        <p:txBody>
          <a:bodyPr/>
          <a:lstStyle/>
          <a:p>
            <a:endParaRPr lang="en-IN"/>
          </a:p>
        </p:txBody>
      </p:sp>
      <p:sp>
        <p:nvSpPr>
          <p:cNvPr id="5" name="Shape 3"/>
          <p:cNvSpPr/>
          <p:nvPr/>
        </p:nvSpPr>
        <p:spPr>
          <a:xfrm>
            <a:off x="3402449" y="1425773"/>
            <a:ext cx="340162" cy="340162"/>
          </a:xfrm>
          <a:prstGeom prst="roundRect">
            <a:avLst>
              <a:gd name="adj" fmla="val 134407"/>
            </a:avLst>
          </a:prstGeom>
          <a:solidFill>
            <a:srgbClr val="EAE8F3"/>
          </a:solidFill>
          <a:ln/>
        </p:spPr>
        <p:txBody>
          <a:bodyPr/>
          <a:lstStyle/>
          <a:p>
            <a:endParaRPr lang="en-IN" dirty="0">
              <a:highlight>
                <a:srgbClr val="808080"/>
              </a:highlight>
            </a:endParaRPr>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87460" y="1510903"/>
            <a:ext cx="170021" cy="170021"/>
          </a:xfrm>
          <a:prstGeom prst="rect">
            <a:avLst/>
          </a:prstGeom>
        </p:spPr>
      </p:pic>
      <p:sp>
        <p:nvSpPr>
          <p:cNvPr id="7" name="Text 4"/>
          <p:cNvSpPr/>
          <p:nvPr/>
        </p:nvSpPr>
        <p:spPr>
          <a:xfrm>
            <a:off x="3799284" y="1443514"/>
            <a:ext cx="1417558" cy="177165"/>
          </a:xfrm>
          <a:prstGeom prst="rect">
            <a:avLst/>
          </a:prstGeom>
          <a:noFill/>
          <a:ln/>
        </p:spPr>
        <p:txBody>
          <a:bodyPr wrap="none" lIns="0" tIns="0" rIns="0" bIns="0" rtlCol="0" anchor="t"/>
          <a:lstStyle/>
          <a:p>
            <a:pPr marL="0" indent="0" algn="l">
              <a:lnSpc>
                <a:spcPts val="1350"/>
              </a:lnSpc>
              <a:buNone/>
            </a:pPr>
            <a:r>
              <a:rPr lang="en-US" sz="1400" dirty="0">
                <a:solidFill>
                  <a:srgbClr val="006699"/>
                </a:solidFill>
                <a:latin typeface="Libre Baskerville" pitchFamily="34" charset="0"/>
                <a:ea typeface="Libre Baskerville" pitchFamily="34" charset="-122"/>
                <a:cs typeface="Libre Baskerville" pitchFamily="34" charset="-120"/>
              </a:rPr>
              <a:t>Form Entry</a:t>
            </a:r>
            <a:endParaRPr lang="en-US" sz="1400" dirty="0">
              <a:solidFill>
                <a:srgbClr val="006699"/>
              </a:solidFill>
            </a:endParaRPr>
          </a:p>
        </p:txBody>
      </p:sp>
      <p:sp>
        <p:nvSpPr>
          <p:cNvPr id="8" name="Text 5"/>
          <p:cNvSpPr/>
          <p:nvPr/>
        </p:nvSpPr>
        <p:spPr>
          <a:xfrm>
            <a:off x="3799284" y="1695092"/>
            <a:ext cx="7428667" cy="201929"/>
          </a:xfrm>
          <a:prstGeom prst="rect">
            <a:avLst/>
          </a:prstGeom>
          <a:noFill/>
          <a:ln/>
        </p:spPr>
        <p:txBody>
          <a:bodyPr wrap="none" lIns="0" tIns="0" rIns="0" bIns="0" rtlCol="0" anchor="t"/>
          <a:lstStyle/>
          <a:p>
            <a:pPr marL="0" indent="0" algn="l">
              <a:lnSpc>
                <a:spcPts val="1050"/>
              </a:lnSpc>
              <a:buNone/>
            </a:pPr>
            <a:r>
              <a:rPr lang="en-US" sz="1100" dirty="0">
                <a:solidFill>
                  <a:srgbClr val="49495A"/>
                </a:solidFill>
                <a:latin typeface="Open Sans" pitchFamily="34" charset="0"/>
                <a:ea typeface="Open Sans" pitchFamily="34" charset="-122"/>
                <a:cs typeface="Open Sans" pitchFamily="34" charset="-120"/>
              </a:rPr>
              <a:t>Patient fills Add Medication form with medication name, dosage, frequency, and times</a:t>
            </a:r>
            <a:endParaRPr lang="en-US" sz="1100" dirty="0"/>
          </a:p>
        </p:txBody>
      </p:sp>
      <p:sp>
        <p:nvSpPr>
          <p:cNvPr id="9" name="Shape 6"/>
          <p:cNvSpPr/>
          <p:nvPr/>
        </p:nvSpPr>
        <p:spPr>
          <a:xfrm>
            <a:off x="3685818" y="2237303"/>
            <a:ext cx="113348" cy="510302"/>
          </a:xfrm>
          <a:prstGeom prst="roundRect">
            <a:avLst>
              <a:gd name="adj" fmla="val 15009"/>
            </a:avLst>
          </a:prstGeom>
          <a:solidFill>
            <a:srgbClr val="EAE8F3"/>
          </a:solidFill>
          <a:ln/>
        </p:spPr>
        <p:txBody>
          <a:bodyPr/>
          <a:lstStyle/>
          <a:p>
            <a:endParaRPr lang="en-IN"/>
          </a:p>
        </p:txBody>
      </p:sp>
      <p:sp>
        <p:nvSpPr>
          <p:cNvPr id="10" name="Shape 7"/>
          <p:cNvSpPr/>
          <p:nvPr/>
        </p:nvSpPr>
        <p:spPr>
          <a:xfrm>
            <a:off x="3572470" y="2162889"/>
            <a:ext cx="340162" cy="340162"/>
          </a:xfrm>
          <a:prstGeom prst="roundRect">
            <a:avLst>
              <a:gd name="adj" fmla="val 134407"/>
            </a:avLst>
          </a:prstGeom>
          <a:solidFill>
            <a:srgbClr val="EAE8F3"/>
          </a:solidFill>
          <a:ln/>
        </p:spPr>
        <p:txBody>
          <a:bodyPr/>
          <a:lstStyle/>
          <a:p>
            <a:endParaRPr lang="en-IN"/>
          </a:p>
        </p:txBody>
      </p:sp>
      <p:pic>
        <p:nvPicPr>
          <p:cNvPr id="11"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657481" y="2248019"/>
            <a:ext cx="170021" cy="170021"/>
          </a:xfrm>
          <a:prstGeom prst="rect">
            <a:avLst/>
          </a:prstGeom>
        </p:spPr>
      </p:pic>
      <p:sp>
        <p:nvSpPr>
          <p:cNvPr id="12" name="Text 8"/>
          <p:cNvSpPr/>
          <p:nvPr/>
        </p:nvSpPr>
        <p:spPr>
          <a:xfrm>
            <a:off x="3969306" y="2180630"/>
            <a:ext cx="1449586" cy="177165"/>
          </a:xfrm>
          <a:prstGeom prst="rect">
            <a:avLst/>
          </a:prstGeom>
          <a:noFill/>
          <a:ln/>
        </p:spPr>
        <p:txBody>
          <a:bodyPr wrap="none" lIns="0" tIns="0" rIns="0" bIns="0" rtlCol="0" anchor="t"/>
          <a:lstStyle/>
          <a:p>
            <a:pPr marL="0" indent="0" algn="l">
              <a:lnSpc>
                <a:spcPts val="1350"/>
              </a:lnSpc>
              <a:buNone/>
            </a:pPr>
            <a:r>
              <a:rPr lang="en-US" sz="1400" dirty="0">
                <a:solidFill>
                  <a:srgbClr val="006699"/>
                </a:solidFill>
                <a:latin typeface="Libre Baskerville" pitchFamily="34" charset="0"/>
                <a:ea typeface="Libre Baskerville" pitchFamily="34" charset="-122"/>
                <a:cs typeface="Libre Baskerville" pitchFamily="34" charset="-120"/>
              </a:rPr>
              <a:t>Frontend Validation</a:t>
            </a:r>
            <a:endParaRPr lang="en-US" sz="1400" dirty="0">
              <a:solidFill>
                <a:srgbClr val="006699"/>
              </a:solidFill>
            </a:endParaRPr>
          </a:p>
        </p:txBody>
      </p:sp>
      <p:sp>
        <p:nvSpPr>
          <p:cNvPr id="13" name="Text 9"/>
          <p:cNvSpPr/>
          <p:nvPr/>
        </p:nvSpPr>
        <p:spPr>
          <a:xfrm>
            <a:off x="3969306" y="2439231"/>
            <a:ext cx="7258645" cy="184431"/>
          </a:xfrm>
          <a:prstGeom prst="rect">
            <a:avLst/>
          </a:prstGeom>
          <a:noFill/>
          <a:ln/>
        </p:spPr>
        <p:txBody>
          <a:bodyPr wrap="none" lIns="0" tIns="0" rIns="0" bIns="0" rtlCol="0" anchor="t"/>
          <a:lstStyle/>
          <a:p>
            <a:pPr marL="0" indent="0" algn="l">
              <a:lnSpc>
                <a:spcPts val="1050"/>
              </a:lnSpc>
              <a:buNone/>
            </a:pPr>
            <a:r>
              <a:rPr lang="en-US" sz="1100" dirty="0">
                <a:solidFill>
                  <a:srgbClr val="49495A"/>
                </a:solidFill>
                <a:latin typeface="Open Sans" pitchFamily="34" charset="0"/>
                <a:ea typeface="Open Sans" pitchFamily="34" charset="-122"/>
                <a:cs typeface="Open Sans" pitchFamily="34" charset="-120"/>
              </a:rPr>
              <a:t>Required fields validated before API submission</a:t>
            </a:r>
            <a:endParaRPr lang="en-US" sz="1100" dirty="0"/>
          </a:p>
        </p:txBody>
      </p:sp>
      <p:sp>
        <p:nvSpPr>
          <p:cNvPr id="14" name="Shape 10"/>
          <p:cNvSpPr/>
          <p:nvPr/>
        </p:nvSpPr>
        <p:spPr>
          <a:xfrm>
            <a:off x="3855958" y="2974419"/>
            <a:ext cx="113348" cy="510302"/>
          </a:xfrm>
          <a:prstGeom prst="roundRect">
            <a:avLst>
              <a:gd name="adj" fmla="val 15009"/>
            </a:avLst>
          </a:prstGeom>
          <a:solidFill>
            <a:srgbClr val="EAE8F3"/>
          </a:solidFill>
          <a:ln/>
        </p:spPr>
        <p:txBody>
          <a:bodyPr/>
          <a:lstStyle/>
          <a:p>
            <a:endParaRPr lang="en-IN"/>
          </a:p>
        </p:txBody>
      </p:sp>
      <p:sp>
        <p:nvSpPr>
          <p:cNvPr id="15" name="Shape 11"/>
          <p:cNvSpPr/>
          <p:nvPr/>
        </p:nvSpPr>
        <p:spPr>
          <a:xfrm>
            <a:off x="3742611" y="2900005"/>
            <a:ext cx="340162" cy="340162"/>
          </a:xfrm>
          <a:prstGeom prst="roundRect">
            <a:avLst>
              <a:gd name="adj" fmla="val 134407"/>
            </a:avLst>
          </a:prstGeom>
          <a:solidFill>
            <a:srgbClr val="EAE8F3"/>
          </a:solidFill>
          <a:ln/>
        </p:spPr>
        <p:txBody>
          <a:bodyPr/>
          <a:lstStyle/>
          <a:p>
            <a:endParaRPr lang="en-IN"/>
          </a:p>
        </p:txBody>
      </p:sp>
      <p:pic>
        <p:nvPicPr>
          <p:cNvPr id="16"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7621" y="2985135"/>
            <a:ext cx="170021" cy="170021"/>
          </a:xfrm>
          <a:prstGeom prst="rect">
            <a:avLst/>
          </a:prstGeom>
        </p:spPr>
      </p:pic>
      <p:sp>
        <p:nvSpPr>
          <p:cNvPr id="17" name="Text 12"/>
          <p:cNvSpPr/>
          <p:nvPr/>
        </p:nvSpPr>
        <p:spPr>
          <a:xfrm>
            <a:off x="4139446" y="2917746"/>
            <a:ext cx="1417558" cy="177165"/>
          </a:xfrm>
          <a:prstGeom prst="rect">
            <a:avLst/>
          </a:prstGeom>
          <a:noFill/>
          <a:ln/>
        </p:spPr>
        <p:txBody>
          <a:bodyPr wrap="none" lIns="0" tIns="0" rIns="0" bIns="0" rtlCol="0" anchor="t"/>
          <a:lstStyle/>
          <a:p>
            <a:pPr marL="0" indent="0" algn="l">
              <a:lnSpc>
                <a:spcPts val="1350"/>
              </a:lnSpc>
              <a:buNone/>
            </a:pPr>
            <a:r>
              <a:rPr lang="en-US" sz="1400" dirty="0">
                <a:solidFill>
                  <a:srgbClr val="006699"/>
                </a:solidFill>
                <a:latin typeface="Libre Baskerville" pitchFamily="34" charset="0"/>
                <a:ea typeface="Libre Baskerville" pitchFamily="34" charset="-122"/>
                <a:cs typeface="Libre Baskerville" pitchFamily="34" charset="-120"/>
              </a:rPr>
              <a:t>API Request</a:t>
            </a:r>
            <a:endParaRPr lang="en-US" sz="1400" dirty="0">
              <a:solidFill>
                <a:srgbClr val="006699"/>
              </a:solidFill>
            </a:endParaRPr>
          </a:p>
        </p:txBody>
      </p:sp>
      <p:sp>
        <p:nvSpPr>
          <p:cNvPr id="18" name="Text 13"/>
          <p:cNvSpPr/>
          <p:nvPr/>
        </p:nvSpPr>
        <p:spPr>
          <a:xfrm>
            <a:off x="4139446" y="3180041"/>
            <a:ext cx="7088505" cy="150256"/>
          </a:xfrm>
          <a:prstGeom prst="rect">
            <a:avLst/>
          </a:prstGeom>
          <a:noFill/>
          <a:ln/>
        </p:spPr>
        <p:txBody>
          <a:bodyPr wrap="none" lIns="0" tIns="0" rIns="0" bIns="0" rtlCol="0" anchor="t"/>
          <a:lstStyle/>
          <a:p>
            <a:pPr marL="0" indent="0" algn="l">
              <a:lnSpc>
                <a:spcPts val="1050"/>
              </a:lnSpc>
              <a:buNone/>
            </a:pPr>
            <a:r>
              <a:rPr lang="en-US" sz="1100" dirty="0">
                <a:solidFill>
                  <a:srgbClr val="49495A"/>
                </a:solidFill>
                <a:latin typeface="Open Sans" pitchFamily="34" charset="0"/>
                <a:ea typeface="Open Sans" pitchFamily="34" charset="-122"/>
                <a:cs typeface="Open Sans" pitchFamily="34" charset="-120"/>
              </a:rPr>
              <a:t>POST /api/medications/schedule sends schedule data to backend</a:t>
            </a:r>
            <a:endParaRPr lang="en-US" sz="1100" dirty="0"/>
          </a:p>
        </p:txBody>
      </p:sp>
      <p:sp>
        <p:nvSpPr>
          <p:cNvPr id="19" name="Shape 14"/>
          <p:cNvSpPr/>
          <p:nvPr/>
        </p:nvSpPr>
        <p:spPr>
          <a:xfrm>
            <a:off x="4026098" y="3711535"/>
            <a:ext cx="113348" cy="510302"/>
          </a:xfrm>
          <a:prstGeom prst="roundRect">
            <a:avLst>
              <a:gd name="adj" fmla="val 15009"/>
            </a:avLst>
          </a:prstGeom>
          <a:solidFill>
            <a:srgbClr val="EAE8F3"/>
          </a:solidFill>
          <a:ln/>
        </p:spPr>
        <p:txBody>
          <a:bodyPr/>
          <a:lstStyle/>
          <a:p>
            <a:endParaRPr lang="en-IN"/>
          </a:p>
        </p:txBody>
      </p:sp>
      <p:sp>
        <p:nvSpPr>
          <p:cNvPr id="20" name="Shape 15"/>
          <p:cNvSpPr/>
          <p:nvPr/>
        </p:nvSpPr>
        <p:spPr>
          <a:xfrm>
            <a:off x="3912751" y="3637121"/>
            <a:ext cx="340162" cy="340162"/>
          </a:xfrm>
          <a:prstGeom prst="roundRect">
            <a:avLst>
              <a:gd name="adj" fmla="val 134407"/>
            </a:avLst>
          </a:prstGeom>
          <a:solidFill>
            <a:srgbClr val="EAE8F3"/>
          </a:solidFill>
          <a:ln/>
        </p:spPr>
        <p:txBody>
          <a:bodyPr/>
          <a:lstStyle/>
          <a:p>
            <a:endParaRPr lang="en-IN"/>
          </a:p>
        </p:txBody>
      </p:sp>
      <p:pic>
        <p:nvPicPr>
          <p:cNvPr id="21"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997762" y="3722251"/>
            <a:ext cx="170021" cy="170021"/>
          </a:xfrm>
          <a:prstGeom prst="rect">
            <a:avLst/>
          </a:prstGeom>
        </p:spPr>
      </p:pic>
      <p:sp>
        <p:nvSpPr>
          <p:cNvPr id="22" name="Text 16"/>
          <p:cNvSpPr/>
          <p:nvPr/>
        </p:nvSpPr>
        <p:spPr>
          <a:xfrm>
            <a:off x="4309586" y="3654862"/>
            <a:ext cx="1417558" cy="177165"/>
          </a:xfrm>
          <a:prstGeom prst="rect">
            <a:avLst/>
          </a:prstGeom>
          <a:noFill/>
          <a:ln/>
        </p:spPr>
        <p:txBody>
          <a:bodyPr wrap="none" lIns="0" tIns="0" rIns="0" bIns="0" rtlCol="0" anchor="t"/>
          <a:lstStyle/>
          <a:p>
            <a:pPr marL="0" indent="0" algn="l">
              <a:lnSpc>
                <a:spcPts val="1350"/>
              </a:lnSpc>
              <a:buNone/>
            </a:pPr>
            <a:r>
              <a:rPr lang="en-US" sz="1400" dirty="0">
                <a:solidFill>
                  <a:srgbClr val="006699"/>
                </a:solidFill>
                <a:latin typeface="Libre Baskerville" pitchFamily="34" charset="0"/>
                <a:ea typeface="Libre Baskerville" pitchFamily="34" charset="-122"/>
                <a:cs typeface="Libre Baskerville" pitchFamily="34" charset="-120"/>
              </a:rPr>
              <a:t>Document Storage</a:t>
            </a:r>
            <a:endParaRPr lang="en-US" sz="1400" dirty="0">
              <a:solidFill>
                <a:srgbClr val="006699"/>
              </a:solidFill>
            </a:endParaRPr>
          </a:p>
        </p:txBody>
      </p:sp>
      <p:sp>
        <p:nvSpPr>
          <p:cNvPr id="23" name="Text 17"/>
          <p:cNvSpPr/>
          <p:nvPr/>
        </p:nvSpPr>
        <p:spPr>
          <a:xfrm>
            <a:off x="4309586" y="3952518"/>
            <a:ext cx="6918365" cy="253601"/>
          </a:xfrm>
          <a:prstGeom prst="rect">
            <a:avLst/>
          </a:prstGeom>
          <a:noFill/>
          <a:ln/>
        </p:spPr>
        <p:txBody>
          <a:bodyPr wrap="none" lIns="0" tIns="0" rIns="0" bIns="0" rtlCol="0" anchor="t"/>
          <a:lstStyle/>
          <a:p>
            <a:pPr marL="0" indent="0" algn="l">
              <a:lnSpc>
                <a:spcPts val="1050"/>
              </a:lnSpc>
              <a:buNone/>
            </a:pPr>
            <a:r>
              <a:rPr lang="en-US" sz="1100" dirty="0">
                <a:solidFill>
                  <a:srgbClr val="49495A"/>
                </a:solidFill>
                <a:latin typeface="Open Sans" pitchFamily="34" charset="0"/>
                <a:ea typeface="Open Sans" pitchFamily="34" charset="-122"/>
                <a:cs typeface="Open Sans" pitchFamily="34" charset="-120"/>
              </a:rPr>
              <a:t>MongoDB saves MedicationSchedule document with all schedule details</a:t>
            </a:r>
            <a:endParaRPr lang="en-US" sz="1100" dirty="0"/>
          </a:p>
        </p:txBody>
      </p:sp>
      <p:sp>
        <p:nvSpPr>
          <p:cNvPr id="24" name="Shape 18"/>
          <p:cNvSpPr/>
          <p:nvPr/>
        </p:nvSpPr>
        <p:spPr>
          <a:xfrm>
            <a:off x="3855958" y="4448651"/>
            <a:ext cx="113348" cy="510302"/>
          </a:xfrm>
          <a:prstGeom prst="roundRect">
            <a:avLst>
              <a:gd name="adj" fmla="val 15009"/>
            </a:avLst>
          </a:prstGeom>
          <a:solidFill>
            <a:srgbClr val="EAE8F3"/>
          </a:solidFill>
          <a:ln/>
        </p:spPr>
        <p:txBody>
          <a:bodyPr/>
          <a:lstStyle/>
          <a:p>
            <a:endParaRPr lang="en-IN"/>
          </a:p>
        </p:txBody>
      </p:sp>
      <p:sp>
        <p:nvSpPr>
          <p:cNvPr id="25" name="Shape 19"/>
          <p:cNvSpPr/>
          <p:nvPr/>
        </p:nvSpPr>
        <p:spPr>
          <a:xfrm>
            <a:off x="3742611" y="4374237"/>
            <a:ext cx="340162" cy="340162"/>
          </a:xfrm>
          <a:prstGeom prst="roundRect">
            <a:avLst>
              <a:gd name="adj" fmla="val 134407"/>
            </a:avLst>
          </a:prstGeom>
          <a:solidFill>
            <a:srgbClr val="EAE8F3"/>
          </a:solidFill>
          <a:ln/>
        </p:spPr>
        <p:txBody>
          <a:bodyPr/>
          <a:lstStyle/>
          <a:p>
            <a:endParaRPr lang="en-IN"/>
          </a:p>
        </p:txBody>
      </p:sp>
      <p:pic>
        <p:nvPicPr>
          <p:cNvPr id="26" name="Image 4"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827621" y="4459367"/>
            <a:ext cx="170021" cy="170021"/>
          </a:xfrm>
          <a:prstGeom prst="rect">
            <a:avLst/>
          </a:prstGeom>
        </p:spPr>
      </p:pic>
      <p:sp>
        <p:nvSpPr>
          <p:cNvPr id="27" name="Text 20"/>
          <p:cNvSpPr/>
          <p:nvPr/>
        </p:nvSpPr>
        <p:spPr>
          <a:xfrm>
            <a:off x="4139446" y="4391978"/>
            <a:ext cx="1417558" cy="177165"/>
          </a:xfrm>
          <a:prstGeom prst="rect">
            <a:avLst/>
          </a:prstGeom>
          <a:noFill/>
          <a:ln/>
        </p:spPr>
        <p:txBody>
          <a:bodyPr wrap="none" lIns="0" tIns="0" rIns="0" bIns="0" rtlCol="0" anchor="t"/>
          <a:lstStyle/>
          <a:p>
            <a:pPr marL="0" indent="0" algn="l">
              <a:lnSpc>
                <a:spcPts val="1350"/>
              </a:lnSpc>
              <a:buNone/>
            </a:pPr>
            <a:r>
              <a:rPr lang="en-US" sz="1400" dirty="0">
                <a:solidFill>
                  <a:srgbClr val="006699"/>
                </a:solidFill>
                <a:latin typeface="Libre Baskerville" pitchFamily="34" charset="0"/>
                <a:ea typeface="Libre Baskerville" pitchFamily="34" charset="-122"/>
                <a:cs typeface="Libre Baskerville" pitchFamily="34" charset="-120"/>
              </a:rPr>
              <a:t>Log Generation</a:t>
            </a:r>
            <a:endParaRPr lang="en-US" sz="1400" dirty="0">
              <a:solidFill>
                <a:srgbClr val="006699"/>
              </a:solidFill>
            </a:endParaRPr>
          </a:p>
        </p:txBody>
      </p:sp>
      <p:sp>
        <p:nvSpPr>
          <p:cNvPr id="28" name="Text 21"/>
          <p:cNvSpPr/>
          <p:nvPr/>
        </p:nvSpPr>
        <p:spPr>
          <a:xfrm>
            <a:off x="4139446" y="4655822"/>
            <a:ext cx="7088505" cy="253601"/>
          </a:xfrm>
          <a:prstGeom prst="rect">
            <a:avLst/>
          </a:prstGeom>
          <a:noFill/>
          <a:ln/>
        </p:spPr>
        <p:txBody>
          <a:bodyPr wrap="none" lIns="0" tIns="0" rIns="0" bIns="0" rtlCol="0" anchor="t"/>
          <a:lstStyle/>
          <a:p>
            <a:pPr marL="0" indent="0" algn="l">
              <a:lnSpc>
                <a:spcPts val="1050"/>
              </a:lnSpc>
              <a:buNone/>
            </a:pPr>
            <a:r>
              <a:rPr lang="en-US" sz="1100" dirty="0">
                <a:solidFill>
                  <a:srgbClr val="49495A"/>
                </a:solidFill>
                <a:latin typeface="Open Sans" pitchFamily="34" charset="0"/>
                <a:ea typeface="Open Sans" pitchFamily="34" charset="-122"/>
                <a:cs typeface="Open Sans" pitchFamily="34" charset="-120"/>
              </a:rPr>
              <a:t>MedicationScheduleService automatically creates intake log entries</a:t>
            </a:r>
            <a:endParaRPr lang="en-US" sz="1100" dirty="0"/>
          </a:p>
        </p:txBody>
      </p:sp>
      <p:sp>
        <p:nvSpPr>
          <p:cNvPr id="29" name="Shape 22"/>
          <p:cNvSpPr/>
          <p:nvPr/>
        </p:nvSpPr>
        <p:spPr>
          <a:xfrm>
            <a:off x="3685818" y="5185767"/>
            <a:ext cx="113348" cy="510302"/>
          </a:xfrm>
          <a:prstGeom prst="roundRect">
            <a:avLst>
              <a:gd name="adj" fmla="val 15009"/>
            </a:avLst>
          </a:prstGeom>
          <a:solidFill>
            <a:srgbClr val="EAE8F3"/>
          </a:solidFill>
          <a:ln/>
        </p:spPr>
        <p:txBody>
          <a:bodyPr/>
          <a:lstStyle/>
          <a:p>
            <a:endParaRPr lang="en-IN"/>
          </a:p>
        </p:txBody>
      </p:sp>
      <p:sp>
        <p:nvSpPr>
          <p:cNvPr id="30" name="Shape 23"/>
          <p:cNvSpPr/>
          <p:nvPr/>
        </p:nvSpPr>
        <p:spPr>
          <a:xfrm>
            <a:off x="3572470" y="5111353"/>
            <a:ext cx="340162" cy="340162"/>
          </a:xfrm>
          <a:prstGeom prst="roundRect">
            <a:avLst>
              <a:gd name="adj" fmla="val 134407"/>
            </a:avLst>
          </a:prstGeom>
          <a:solidFill>
            <a:srgbClr val="EAE8F3"/>
          </a:solidFill>
          <a:ln/>
        </p:spPr>
        <p:txBody>
          <a:bodyPr/>
          <a:lstStyle/>
          <a:p>
            <a:endParaRPr lang="en-IN"/>
          </a:p>
        </p:txBody>
      </p:sp>
      <p:pic>
        <p:nvPicPr>
          <p:cNvPr id="31" name="Image 5"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657481" y="5196483"/>
            <a:ext cx="170021" cy="170021"/>
          </a:xfrm>
          <a:prstGeom prst="rect">
            <a:avLst/>
          </a:prstGeom>
        </p:spPr>
      </p:pic>
      <p:sp>
        <p:nvSpPr>
          <p:cNvPr id="32" name="Text 24"/>
          <p:cNvSpPr/>
          <p:nvPr/>
        </p:nvSpPr>
        <p:spPr>
          <a:xfrm>
            <a:off x="3969306" y="5129093"/>
            <a:ext cx="1417558" cy="177165"/>
          </a:xfrm>
          <a:prstGeom prst="rect">
            <a:avLst/>
          </a:prstGeom>
          <a:noFill/>
          <a:ln/>
        </p:spPr>
        <p:txBody>
          <a:bodyPr wrap="none" lIns="0" tIns="0" rIns="0" bIns="0" rtlCol="0" anchor="t"/>
          <a:lstStyle/>
          <a:p>
            <a:pPr marL="0" indent="0" algn="l">
              <a:lnSpc>
                <a:spcPts val="1350"/>
              </a:lnSpc>
              <a:buNone/>
            </a:pPr>
            <a:r>
              <a:rPr lang="en-US" sz="1400" dirty="0">
                <a:solidFill>
                  <a:srgbClr val="006699"/>
                </a:solidFill>
                <a:latin typeface="Libre Baskerville" pitchFamily="34" charset="0"/>
                <a:ea typeface="Libre Baskerville" pitchFamily="34" charset="-122"/>
                <a:cs typeface="Libre Baskerville" pitchFamily="34" charset="-120"/>
              </a:rPr>
              <a:t>Status Tracking</a:t>
            </a:r>
            <a:endParaRPr lang="en-US" sz="1400" dirty="0">
              <a:solidFill>
                <a:srgbClr val="006699"/>
              </a:solidFill>
            </a:endParaRPr>
          </a:p>
        </p:txBody>
      </p:sp>
      <p:sp>
        <p:nvSpPr>
          <p:cNvPr id="33" name="Text 25"/>
          <p:cNvSpPr/>
          <p:nvPr/>
        </p:nvSpPr>
        <p:spPr>
          <a:xfrm>
            <a:off x="3969306" y="5400437"/>
            <a:ext cx="7258645" cy="193354"/>
          </a:xfrm>
          <a:prstGeom prst="rect">
            <a:avLst/>
          </a:prstGeom>
          <a:noFill/>
          <a:ln/>
        </p:spPr>
        <p:txBody>
          <a:bodyPr wrap="none" lIns="0" tIns="0" rIns="0" bIns="0" rtlCol="0" anchor="t"/>
          <a:lstStyle/>
          <a:p>
            <a:pPr marL="0" indent="0" algn="l">
              <a:lnSpc>
                <a:spcPts val="1050"/>
              </a:lnSpc>
              <a:buNone/>
            </a:pPr>
            <a:r>
              <a:rPr lang="en-US" sz="1100" dirty="0">
                <a:solidFill>
                  <a:srgbClr val="49495A"/>
                </a:solidFill>
                <a:latin typeface="Open Sans" pitchFamily="34" charset="0"/>
                <a:ea typeface="Open Sans" pitchFamily="34" charset="-122"/>
                <a:cs typeface="Open Sans" pitchFamily="34" charset="-120"/>
              </a:rPr>
              <a:t>Logs stored with PENDING or MISSED status for daily monitoring</a:t>
            </a:r>
            <a:endParaRPr lang="en-US" sz="1100" dirty="0"/>
          </a:p>
        </p:txBody>
      </p:sp>
      <p:sp>
        <p:nvSpPr>
          <p:cNvPr id="34" name="Shape 26"/>
          <p:cNvSpPr/>
          <p:nvPr/>
        </p:nvSpPr>
        <p:spPr>
          <a:xfrm>
            <a:off x="3515797" y="5922883"/>
            <a:ext cx="113348" cy="510302"/>
          </a:xfrm>
          <a:prstGeom prst="roundRect">
            <a:avLst>
              <a:gd name="adj" fmla="val 15009"/>
            </a:avLst>
          </a:prstGeom>
          <a:solidFill>
            <a:srgbClr val="EAE8F3"/>
          </a:solidFill>
          <a:ln/>
        </p:spPr>
        <p:txBody>
          <a:bodyPr/>
          <a:lstStyle/>
          <a:p>
            <a:endParaRPr lang="en-IN"/>
          </a:p>
        </p:txBody>
      </p:sp>
      <p:sp>
        <p:nvSpPr>
          <p:cNvPr id="35" name="Shape 27"/>
          <p:cNvSpPr/>
          <p:nvPr/>
        </p:nvSpPr>
        <p:spPr>
          <a:xfrm>
            <a:off x="3402449" y="5848469"/>
            <a:ext cx="340162" cy="340162"/>
          </a:xfrm>
          <a:prstGeom prst="roundRect">
            <a:avLst>
              <a:gd name="adj" fmla="val 134407"/>
            </a:avLst>
          </a:prstGeom>
          <a:solidFill>
            <a:srgbClr val="EAE8F3"/>
          </a:solidFill>
          <a:ln/>
        </p:spPr>
        <p:txBody>
          <a:bodyPr/>
          <a:lstStyle/>
          <a:p>
            <a:endParaRPr lang="en-IN"/>
          </a:p>
        </p:txBody>
      </p:sp>
      <p:pic>
        <p:nvPicPr>
          <p:cNvPr id="36" name="Image 6"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3487460" y="5933599"/>
            <a:ext cx="170021" cy="170021"/>
          </a:xfrm>
          <a:prstGeom prst="rect">
            <a:avLst/>
          </a:prstGeom>
        </p:spPr>
      </p:pic>
      <p:sp>
        <p:nvSpPr>
          <p:cNvPr id="37" name="Text 28"/>
          <p:cNvSpPr/>
          <p:nvPr/>
        </p:nvSpPr>
        <p:spPr>
          <a:xfrm>
            <a:off x="3799284" y="5866209"/>
            <a:ext cx="1417558" cy="177165"/>
          </a:xfrm>
          <a:prstGeom prst="rect">
            <a:avLst/>
          </a:prstGeom>
          <a:noFill/>
          <a:ln/>
        </p:spPr>
        <p:txBody>
          <a:bodyPr wrap="none" lIns="0" tIns="0" rIns="0" bIns="0" rtlCol="0" anchor="t"/>
          <a:lstStyle/>
          <a:p>
            <a:pPr marL="0" indent="0" algn="l">
              <a:lnSpc>
                <a:spcPts val="1350"/>
              </a:lnSpc>
              <a:buNone/>
            </a:pPr>
            <a:r>
              <a:rPr lang="en-US" sz="1400" dirty="0">
                <a:solidFill>
                  <a:srgbClr val="006699"/>
                </a:solidFill>
                <a:latin typeface="Libre Baskerville" pitchFamily="34" charset="0"/>
                <a:ea typeface="Libre Baskerville" pitchFamily="34" charset="-122"/>
                <a:cs typeface="Libre Baskerville" pitchFamily="34" charset="-120"/>
              </a:rPr>
              <a:t>Data Refresh</a:t>
            </a:r>
            <a:endParaRPr lang="en-US" sz="1400" dirty="0">
              <a:solidFill>
                <a:srgbClr val="006699"/>
              </a:solidFill>
            </a:endParaRPr>
          </a:p>
        </p:txBody>
      </p:sp>
      <p:sp>
        <p:nvSpPr>
          <p:cNvPr id="38" name="Text 29"/>
          <p:cNvSpPr/>
          <p:nvPr/>
        </p:nvSpPr>
        <p:spPr>
          <a:xfrm>
            <a:off x="3799284" y="6152677"/>
            <a:ext cx="7428667" cy="113466"/>
          </a:xfrm>
          <a:prstGeom prst="rect">
            <a:avLst/>
          </a:prstGeom>
          <a:noFill/>
          <a:ln/>
        </p:spPr>
        <p:txBody>
          <a:bodyPr wrap="none" lIns="0" tIns="0" rIns="0" bIns="0" rtlCol="0" anchor="t"/>
          <a:lstStyle/>
          <a:p>
            <a:pPr marL="0" indent="0" algn="l">
              <a:lnSpc>
                <a:spcPts val="1050"/>
              </a:lnSpc>
              <a:buNone/>
            </a:pPr>
            <a:r>
              <a:rPr lang="en-US" sz="1100" dirty="0">
                <a:solidFill>
                  <a:srgbClr val="49495A"/>
                </a:solidFill>
                <a:latin typeface="Open Sans" pitchFamily="34" charset="0"/>
                <a:ea typeface="Open Sans" pitchFamily="34" charset="-122"/>
                <a:cs typeface="Open Sans" pitchFamily="34" charset="-120"/>
              </a:rPr>
              <a:t>Dashboard and schedule screens fetch latest data after update</a:t>
            </a:r>
            <a:endParaRPr lang="en-US" sz="1100" dirty="0"/>
          </a:p>
        </p:txBody>
      </p:sp>
      <p:sp>
        <p:nvSpPr>
          <p:cNvPr id="39" name="Text 30"/>
          <p:cNvSpPr/>
          <p:nvPr/>
        </p:nvSpPr>
        <p:spPr>
          <a:xfrm>
            <a:off x="3402449" y="6553676"/>
            <a:ext cx="1417558" cy="177165"/>
          </a:xfrm>
          <a:prstGeom prst="rect">
            <a:avLst/>
          </a:prstGeom>
          <a:noFill/>
          <a:ln/>
        </p:spPr>
        <p:txBody>
          <a:bodyPr wrap="none" lIns="0" tIns="0" rIns="0" bIns="0" rtlCol="0" anchor="t"/>
          <a:lstStyle/>
          <a:p>
            <a:pPr marL="0" indent="0" algn="l">
              <a:lnSpc>
                <a:spcPts val="1350"/>
              </a:lnSpc>
              <a:buNone/>
            </a:pPr>
            <a:r>
              <a:rPr lang="en-US" sz="1400" dirty="0">
                <a:solidFill>
                  <a:srgbClr val="006699"/>
                </a:solidFill>
                <a:latin typeface="Libre Baskerville" pitchFamily="34" charset="0"/>
                <a:ea typeface="Libre Baskerville" pitchFamily="34" charset="-122"/>
                <a:cs typeface="Libre Baskerville" pitchFamily="34" charset="-120"/>
              </a:rPr>
              <a:t>Frequency Options</a:t>
            </a:r>
            <a:endParaRPr lang="en-US" sz="1400" dirty="0">
              <a:solidFill>
                <a:srgbClr val="006699"/>
              </a:solidFill>
            </a:endParaRPr>
          </a:p>
        </p:txBody>
      </p:sp>
      <p:sp>
        <p:nvSpPr>
          <p:cNvPr id="40" name="Text 31"/>
          <p:cNvSpPr/>
          <p:nvPr/>
        </p:nvSpPr>
        <p:spPr>
          <a:xfrm>
            <a:off x="3402449" y="6814421"/>
            <a:ext cx="3774400" cy="855584"/>
          </a:xfrm>
          <a:prstGeom prst="rect">
            <a:avLst/>
          </a:prstGeom>
          <a:noFill/>
          <a:ln/>
        </p:spPr>
        <p:txBody>
          <a:bodyPr wrap="square" lIns="0" tIns="0" rIns="0" bIns="0" rtlCol="0" anchor="t"/>
          <a:lstStyle/>
          <a:p>
            <a:pPr marL="342900" indent="-342900" algn="l">
              <a:lnSpc>
                <a:spcPts val="1050"/>
              </a:lnSpc>
              <a:buSzPct val="100000"/>
              <a:buChar char="•"/>
            </a:pPr>
            <a:r>
              <a:rPr lang="en-US" sz="1100" dirty="0">
                <a:solidFill>
                  <a:srgbClr val="49495A"/>
                </a:solidFill>
                <a:latin typeface="Open Sans" pitchFamily="34" charset="0"/>
                <a:ea typeface="Open Sans" pitchFamily="34" charset="-122"/>
                <a:cs typeface="Open Sans" pitchFamily="34" charset="-120"/>
              </a:rPr>
              <a:t>ONCE_DAILY</a:t>
            </a:r>
            <a:endParaRPr lang="en-US" sz="1100" dirty="0"/>
          </a:p>
          <a:p>
            <a:pPr marL="342900" indent="-342900" algn="l">
              <a:lnSpc>
                <a:spcPts val="1050"/>
              </a:lnSpc>
              <a:buSzPct val="100000"/>
              <a:buChar char="•"/>
            </a:pPr>
            <a:r>
              <a:rPr lang="en-US" sz="1100" dirty="0">
                <a:solidFill>
                  <a:srgbClr val="49495A"/>
                </a:solidFill>
                <a:latin typeface="Open Sans" pitchFamily="34" charset="0"/>
                <a:ea typeface="Open Sans" pitchFamily="34" charset="-122"/>
                <a:cs typeface="Open Sans" pitchFamily="34" charset="-120"/>
              </a:rPr>
              <a:t>TWICE_DAILY</a:t>
            </a:r>
            <a:endParaRPr lang="en-US" sz="1100" dirty="0"/>
          </a:p>
          <a:p>
            <a:pPr marL="342900" indent="-342900" algn="l">
              <a:lnSpc>
                <a:spcPts val="1050"/>
              </a:lnSpc>
              <a:buSzPct val="100000"/>
              <a:buChar char="•"/>
            </a:pPr>
            <a:r>
              <a:rPr lang="en-US" sz="1100" dirty="0">
                <a:solidFill>
                  <a:srgbClr val="49495A"/>
                </a:solidFill>
                <a:latin typeface="Open Sans" pitchFamily="34" charset="0"/>
                <a:ea typeface="Open Sans" pitchFamily="34" charset="-122"/>
                <a:cs typeface="Open Sans" pitchFamily="34" charset="-120"/>
              </a:rPr>
              <a:t>THREE_TIMES_DAILY</a:t>
            </a:r>
            <a:endParaRPr lang="en-US" sz="1100" dirty="0"/>
          </a:p>
          <a:p>
            <a:pPr marL="342900" indent="-342900" algn="l">
              <a:lnSpc>
                <a:spcPts val="1050"/>
              </a:lnSpc>
              <a:buSzPct val="100000"/>
              <a:buChar char="•"/>
            </a:pPr>
            <a:r>
              <a:rPr lang="en-US" sz="1100" dirty="0">
                <a:solidFill>
                  <a:srgbClr val="49495A"/>
                </a:solidFill>
                <a:latin typeface="Open Sans" pitchFamily="34" charset="0"/>
                <a:ea typeface="Open Sans" pitchFamily="34" charset="-122"/>
                <a:cs typeface="Open Sans" pitchFamily="34" charset="-120"/>
              </a:rPr>
              <a:t>FOUR_TIMES_DAILY</a:t>
            </a:r>
            <a:endParaRPr lang="en-US" sz="1100" dirty="0"/>
          </a:p>
          <a:p>
            <a:pPr marL="342900" indent="-342900" algn="l">
              <a:lnSpc>
                <a:spcPts val="1050"/>
              </a:lnSpc>
              <a:buSzPct val="100000"/>
              <a:buChar char="•"/>
            </a:pPr>
            <a:r>
              <a:rPr lang="en-US" sz="1100" dirty="0">
                <a:solidFill>
                  <a:srgbClr val="49495A"/>
                </a:solidFill>
                <a:latin typeface="Open Sans" pitchFamily="34" charset="0"/>
                <a:ea typeface="Open Sans" pitchFamily="34" charset="-122"/>
                <a:cs typeface="Open Sans" pitchFamily="34" charset="-120"/>
              </a:rPr>
              <a:t>AS_NEEDED</a:t>
            </a:r>
            <a:endParaRPr lang="en-US" sz="1100" dirty="0"/>
          </a:p>
        </p:txBody>
      </p:sp>
      <p:sp>
        <p:nvSpPr>
          <p:cNvPr id="41" name="Text 32"/>
          <p:cNvSpPr/>
          <p:nvPr/>
        </p:nvSpPr>
        <p:spPr>
          <a:xfrm>
            <a:off x="7461171" y="6553676"/>
            <a:ext cx="1727240" cy="177165"/>
          </a:xfrm>
          <a:prstGeom prst="rect">
            <a:avLst/>
          </a:prstGeom>
          <a:noFill/>
          <a:ln/>
        </p:spPr>
        <p:txBody>
          <a:bodyPr wrap="none" lIns="0" tIns="0" rIns="0" bIns="0" rtlCol="0" anchor="t"/>
          <a:lstStyle/>
          <a:p>
            <a:pPr marL="0" indent="0" algn="l">
              <a:lnSpc>
                <a:spcPts val="1350"/>
              </a:lnSpc>
              <a:buNone/>
            </a:pPr>
            <a:r>
              <a:rPr lang="en-US" sz="1400" dirty="0">
                <a:solidFill>
                  <a:srgbClr val="006699"/>
                </a:solidFill>
                <a:latin typeface="Libre Baskerville" pitchFamily="34" charset="0"/>
                <a:ea typeface="Libre Baskerville" pitchFamily="34" charset="-122"/>
                <a:cs typeface="Libre Baskerville" pitchFamily="34" charset="-120"/>
              </a:rPr>
              <a:t>Implementation Details</a:t>
            </a:r>
            <a:endParaRPr lang="en-US" sz="1400" dirty="0">
              <a:solidFill>
                <a:srgbClr val="006699"/>
              </a:solidFill>
            </a:endParaRPr>
          </a:p>
        </p:txBody>
      </p:sp>
      <p:sp>
        <p:nvSpPr>
          <p:cNvPr id="42" name="Text 33"/>
          <p:cNvSpPr/>
          <p:nvPr/>
        </p:nvSpPr>
        <p:spPr>
          <a:xfrm>
            <a:off x="7461171" y="6938495"/>
            <a:ext cx="3774400" cy="465915"/>
          </a:xfrm>
          <a:prstGeom prst="rect">
            <a:avLst/>
          </a:prstGeom>
          <a:noFill/>
          <a:ln/>
        </p:spPr>
        <p:txBody>
          <a:bodyPr wrap="square" lIns="0" tIns="0" rIns="0" bIns="0" rtlCol="0" anchor="t"/>
          <a:lstStyle/>
          <a:p>
            <a:pPr marL="0" indent="0" algn="l">
              <a:lnSpc>
                <a:spcPts val="1050"/>
              </a:lnSpc>
              <a:buNone/>
            </a:pPr>
            <a:r>
              <a:rPr lang="en-US" sz="1100" dirty="0">
                <a:solidFill>
                  <a:srgbClr val="49495A"/>
                </a:solidFill>
                <a:latin typeface="Open Sans" pitchFamily="34" charset="0"/>
                <a:ea typeface="Open Sans" pitchFamily="34" charset="-122"/>
                <a:cs typeface="Open Sans" pitchFamily="34" charset="-120"/>
              </a:rPr>
              <a:t>Scheduled times stored as LocalTime. Backend generates future intake entries based on date window and schedule times.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D3C04B-BF19-B2D5-85C3-DF1FB4CDC88E}"/>
              </a:ext>
            </a:extLst>
          </p:cNvPr>
          <p:cNvPicPr>
            <a:picLocks noChangeAspect="1"/>
          </p:cNvPicPr>
          <p:nvPr/>
        </p:nvPicPr>
        <p:blipFill>
          <a:blip r:embed="rId2"/>
          <a:srcRect/>
          <a:stretch/>
        </p:blipFill>
        <p:spPr>
          <a:xfrm>
            <a:off x="1494262" y="568712"/>
            <a:ext cx="8552987" cy="6980663"/>
          </a:xfrm>
          <a:prstGeom prst="rect">
            <a:avLst/>
          </a:prstGeom>
          <a:solidFill>
            <a:srgbClr val="FFFFFF">
              <a:shade val="85000"/>
            </a:srgbClr>
          </a:solidFill>
          <a:ln w="88900" cap="sq">
            <a:solidFill>
              <a:srgbClr val="FFFFFF"/>
            </a:solidFill>
            <a:miter lim="800000"/>
          </a:ln>
          <a:effectLst>
            <a:outerShdw blurRad="50800" dist="38100" dir="2700000" algn="tl" rotWithShape="0">
              <a:prstClr val="black">
                <a:alpha val="40000"/>
              </a:prst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616054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2EA6B1F-1574-336C-54AE-ECA2CDC2F951}"/>
              </a:ext>
            </a:extLst>
          </p:cNvPr>
          <p:cNvPicPr>
            <a:picLocks noChangeAspect="1"/>
          </p:cNvPicPr>
          <p:nvPr/>
        </p:nvPicPr>
        <p:blipFill>
          <a:blip r:embed="rId2"/>
          <a:stretch>
            <a:fillRect/>
          </a:stretch>
        </p:blipFill>
        <p:spPr>
          <a:xfrm>
            <a:off x="1583474" y="602166"/>
            <a:ext cx="9288966" cy="7069874"/>
          </a:xfrm>
          <a:prstGeom prst="rect">
            <a:avLst/>
          </a:prstGeom>
          <a:solidFill>
            <a:srgbClr val="FFFFFF">
              <a:shade val="85000"/>
            </a:srgbClr>
          </a:solidFill>
          <a:ln w="190500" cap="rnd">
            <a:solidFill>
              <a:srgbClr val="FFFFFF"/>
            </a:solidFill>
          </a:ln>
          <a:effectLst>
            <a:outerShdw blurRad="50800" dist="38100" dir="2700000" algn="tl" rotWithShape="0">
              <a:prstClr val="black">
                <a:alpha val="40000"/>
              </a:prst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874750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1774141" y="1098053"/>
            <a:ext cx="4031813" cy="503873"/>
          </a:xfrm>
          <a:prstGeom prst="rect">
            <a:avLst/>
          </a:prstGeom>
          <a:noFill/>
          <a:ln/>
        </p:spPr>
        <p:txBody>
          <a:bodyPr wrap="none" lIns="0" tIns="0" rIns="0" bIns="0" rtlCol="0" anchor="t"/>
          <a:lstStyle/>
          <a:p>
            <a:pPr marL="0" indent="0" algn="l">
              <a:lnSpc>
                <a:spcPts val="3950"/>
              </a:lnSpc>
              <a:buNone/>
            </a:pPr>
            <a:r>
              <a:rPr lang="en-US" sz="3150" dirty="0">
                <a:solidFill>
                  <a:srgbClr val="194178"/>
                </a:solidFill>
                <a:latin typeface="Libre Baskerville" pitchFamily="34" charset="0"/>
                <a:ea typeface="Libre Baskerville" pitchFamily="34" charset="-122"/>
                <a:cs typeface="Libre Baskerville" pitchFamily="34" charset="-120"/>
              </a:rPr>
              <a:t>Patient Module</a:t>
            </a:r>
            <a:endParaRPr lang="en-US" sz="3150" dirty="0">
              <a:solidFill>
                <a:srgbClr val="194178"/>
              </a:solidFill>
            </a:endParaRPr>
          </a:p>
        </p:txBody>
      </p:sp>
      <p:sp>
        <p:nvSpPr>
          <p:cNvPr id="3" name="Text 1"/>
          <p:cNvSpPr/>
          <p:nvPr/>
        </p:nvSpPr>
        <p:spPr>
          <a:xfrm>
            <a:off x="1751290" y="1888212"/>
            <a:ext cx="11127819" cy="220742"/>
          </a:xfrm>
          <a:prstGeom prst="rect">
            <a:avLst/>
          </a:prstGeom>
          <a:noFill/>
          <a:ln/>
        </p:spPr>
        <p:txBody>
          <a:bodyPr wrap="none" lIns="0" tIns="0" rIns="0" bIns="0" rtlCol="0" anchor="t"/>
          <a:lstStyle/>
          <a:p>
            <a:pPr marL="0" indent="0" algn="l">
              <a:lnSpc>
                <a:spcPts val="1700"/>
              </a:lnSpc>
              <a:buNone/>
            </a:pPr>
            <a:r>
              <a:rPr lang="en-US" sz="1400" dirty="0">
                <a:latin typeface="Open Sans" pitchFamily="34" charset="0"/>
                <a:ea typeface="Open Sans" pitchFamily="34" charset="-122"/>
                <a:cs typeface="Open Sans" pitchFamily="34" charset="-120"/>
              </a:rPr>
              <a:t>The patient side focuses on daily medication adherence and personal health monitoring through intuitive dashboards and tracking screens.</a:t>
            </a:r>
            <a:endParaRPr lang="en-US" sz="1400" dirty="0"/>
          </a:p>
        </p:txBody>
      </p:sp>
      <p:sp>
        <p:nvSpPr>
          <p:cNvPr id="4" name="Shape 2"/>
          <p:cNvSpPr/>
          <p:nvPr/>
        </p:nvSpPr>
        <p:spPr>
          <a:xfrm>
            <a:off x="1751290" y="2237899"/>
            <a:ext cx="5506522" cy="1682948"/>
          </a:xfrm>
          <a:prstGeom prst="roundRect">
            <a:avLst>
              <a:gd name="adj" fmla="val 1437"/>
            </a:avLst>
          </a:prstGeom>
          <a:solidFill>
            <a:srgbClr val="EAE8F3"/>
          </a:solidFill>
          <a:ln/>
        </p:spPr>
        <p:txBody>
          <a:bodyPr/>
          <a:lstStyle/>
          <a:p>
            <a:endParaRPr lang="en-IN"/>
          </a:p>
        </p:txBody>
      </p:sp>
      <p:pic>
        <p:nvPicPr>
          <p:cNvPr id="5" name="Image 0" descr="preencoded.png"/>
          <p:cNvPicPr>
            <a:picLocks noChangeAspect="1"/>
          </p:cNvPicPr>
          <p:nvPr/>
        </p:nvPicPr>
        <p:blipFill>
          <a:blip r:embed="rId3"/>
          <a:stretch>
            <a:fillRect/>
          </a:stretch>
        </p:blipFill>
        <p:spPr>
          <a:xfrm>
            <a:off x="1912501" y="2399109"/>
            <a:ext cx="483751" cy="483751"/>
          </a:xfrm>
          <a:prstGeom prst="rect">
            <a:avLst/>
          </a:prstGeom>
        </p:spPr>
      </p:pic>
      <p:pic>
        <p:nvPicPr>
          <p:cNvPr id="6" name="Image 1"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45494" y="2532102"/>
            <a:ext cx="217646" cy="217646"/>
          </a:xfrm>
          <a:prstGeom prst="rect">
            <a:avLst/>
          </a:prstGeom>
        </p:spPr>
      </p:pic>
      <p:sp>
        <p:nvSpPr>
          <p:cNvPr id="7" name="Text 3"/>
          <p:cNvSpPr/>
          <p:nvPr/>
        </p:nvSpPr>
        <p:spPr>
          <a:xfrm>
            <a:off x="1912501" y="2997518"/>
            <a:ext cx="2015847" cy="251936"/>
          </a:xfrm>
          <a:prstGeom prst="rect">
            <a:avLst/>
          </a:prstGeom>
          <a:noFill/>
          <a:ln/>
        </p:spPr>
        <p:txBody>
          <a:bodyPr wrap="none" lIns="0" tIns="0" rIns="0" bIns="0" rtlCol="0" anchor="t"/>
          <a:lstStyle/>
          <a:p>
            <a:pPr marL="0" indent="0" algn="l">
              <a:lnSpc>
                <a:spcPts val="1950"/>
              </a:lnSpc>
              <a:buNone/>
            </a:pPr>
            <a:r>
              <a:rPr lang="en-US" sz="1550" dirty="0">
                <a:solidFill>
                  <a:srgbClr val="006699"/>
                </a:solidFill>
                <a:latin typeface="Libre Baskerville" pitchFamily="34" charset="0"/>
                <a:ea typeface="Libre Baskerville" pitchFamily="34" charset="-122"/>
                <a:cs typeface="Libre Baskerville" pitchFamily="34" charset="-120"/>
              </a:rPr>
              <a:t>Dashboard</a:t>
            </a:r>
            <a:endParaRPr lang="en-US" sz="1550" dirty="0">
              <a:solidFill>
                <a:srgbClr val="006699"/>
              </a:solidFill>
            </a:endParaRPr>
          </a:p>
        </p:txBody>
      </p:sp>
      <p:sp>
        <p:nvSpPr>
          <p:cNvPr id="8" name="Text 4"/>
          <p:cNvSpPr/>
          <p:nvPr/>
        </p:nvSpPr>
        <p:spPr>
          <a:xfrm>
            <a:off x="1912501" y="3318153"/>
            <a:ext cx="5184100" cy="441484"/>
          </a:xfrm>
          <a:prstGeom prst="rect">
            <a:avLst/>
          </a:prstGeom>
          <a:noFill/>
          <a:ln/>
        </p:spPr>
        <p:txBody>
          <a:bodyPr wrap="square" lIns="0" tIns="0" rIns="0" bIns="0" rtlCol="0" anchor="t"/>
          <a:lstStyle/>
          <a:p>
            <a:pPr marL="0" indent="0" algn="l">
              <a:lnSpc>
                <a:spcPts val="1700"/>
              </a:lnSpc>
              <a:buNone/>
            </a:pPr>
            <a:r>
              <a:rPr lang="en-US" sz="1250" dirty="0">
                <a:latin typeface="Open Sans" pitchFamily="34" charset="0"/>
                <a:ea typeface="Open Sans" pitchFamily="34" charset="-122"/>
                <a:cs typeface="Open Sans" pitchFamily="34" charset="-120"/>
              </a:rPr>
              <a:t>Medication summary, today's medications, adherence insights, and quick navigation</a:t>
            </a:r>
            <a:endParaRPr lang="en-US" sz="1250" dirty="0"/>
          </a:p>
        </p:txBody>
      </p:sp>
      <p:sp>
        <p:nvSpPr>
          <p:cNvPr id="9" name="Shape 5"/>
          <p:cNvSpPr/>
          <p:nvPr/>
        </p:nvSpPr>
        <p:spPr>
          <a:xfrm>
            <a:off x="7372469" y="2237899"/>
            <a:ext cx="5506641" cy="1682948"/>
          </a:xfrm>
          <a:prstGeom prst="roundRect">
            <a:avLst>
              <a:gd name="adj" fmla="val 1437"/>
            </a:avLst>
          </a:prstGeom>
          <a:solidFill>
            <a:srgbClr val="EAE8F3"/>
          </a:solidFill>
          <a:ln/>
        </p:spPr>
        <p:txBody>
          <a:bodyPr/>
          <a:lstStyle/>
          <a:p>
            <a:endParaRPr lang="en-IN"/>
          </a:p>
        </p:txBody>
      </p:sp>
      <p:pic>
        <p:nvPicPr>
          <p:cNvPr id="10" name="Image 2" descr="preencoded.png"/>
          <p:cNvPicPr>
            <a:picLocks noChangeAspect="1"/>
          </p:cNvPicPr>
          <p:nvPr/>
        </p:nvPicPr>
        <p:blipFill>
          <a:blip r:embed="rId6"/>
          <a:stretch>
            <a:fillRect/>
          </a:stretch>
        </p:blipFill>
        <p:spPr>
          <a:xfrm>
            <a:off x="7533680" y="2399109"/>
            <a:ext cx="483751" cy="483751"/>
          </a:xfrm>
          <a:prstGeom prst="rect">
            <a:avLst/>
          </a:prstGeom>
        </p:spPr>
      </p:pic>
      <p:pic>
        <p:nvPicPr>
          <p:cNvPr id="11" name="Image 3"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66673" y="2532102"/>
            <a:ext cx="217646" cy="217646"/>
          </a:xfrm>
          <a:prstGeom prst="rect">
            <a:avLst/>
          </a:prstGeom>
        </p:spPr>
      </p:pic>
      <p:sp>
        <p:nvSpPr>
          <p:cNvPr id="12" name="Text 6"/>
          <p:cNvSpPr/>
          <p:nvPr/>
        </p:nvSpPr>
        <p:spPr>
          <a:xfrm>
            <a:off x="7533680" y="2997518"/>
            <a:ext cx="2015847" cy="251936"/>
          </a:xfrm>
          <a:prstGeom prst="rect">
            <a:avLst/>
          </a:prstGeom>
          <a:noFill/>
          <a:ln/>
        </p:spPr>
        <p:txBody>
          <a:bodyPr wrap="none" lIns="0" tIns="0" rIns="0" bIns="0" rtlCol="0" anchor="t"/>
          <a:lstStyle/>
          <a:p>
            <a:pPr marL="0" indent="0" algn="l">
              <a:lnSpc>
                <a:spcPts val="1950"/>
              </a:lnSpc>
              <a:buNone/>
            </a:pPr>
            <a:r>
              <a:rPr lang="en-US" sz="1550" dirty="0">
                <a:solidFill>
                  <a:srgbClr val="006699"/>
                </a:solidFill>
                <a:latin typeface="Libre Baskerville" pitchFamily="34" charset="0"/>
                <a:ea typeface="Libre Baskerville" pitchFamily="34" charset="-122"/>
                <a:cs typeface="Libre Baskerville" pitchFamily="34" charset="-120"/>
              </a:rPr>
              <a:t>Add Medication</a:t>
            </a:r>
            <a:endParaRPr lang="en-US" sz="1550" dirty="0">
              <a:solidFill>
                <a:srgbClr val="006699"/>
              </a:solidFill>
            </a:endParaRPr>
          </a:p>
        </p:txBody>
      </p:sp>
      <p:sp>
        <p:nvSpPr>
          <p:cNvPr id="13" name="Text 7"/>
          <p:cNvSpPr/>
          <p:nvPr/>
        </p:nvSpPr>
        <p:spPr>
          <a:xfrm>
            <a:off x="7533680" y="3318153"/>
            <a:ext cx="5184219" cy="441484"/>
          </a:xfrm>
          <a:prstGeom prst="rect">
            <a:avLst/>
          </a:prstGeom>
          <a:noFill/>
          <a:ln/>
        </p:spPr>
        <p:txBody>
          <a:bodyPr wrap="square" lIns="0" tIns="0" rIns="0" bIns="0" rtlCol="0" anchor="t"/>
          <a:lstStyle/>
          <a:p>
            <a:pPr marL="0" indent="0" algn="l">
              <a:lnSpc>
                <a:spcPts val="1700"/>
              </a:lnSpc>
              <a:buNone/>
            </a:pPr>
            <a:r>
              <a:rPr lang="en-US" sz="1250" dirty="0">
                <a:latin typeface="Open Sans" pitchFamily="34" charset="0"/>
                <a:ea typeface="Open Sans" pitchFamily="34" charset="-122"/>
                <a:cs typeface="Open Sans" pitchFamily="34" charset="-120"/>
              </a:rPr>
              <a:t>Save medication schedules with dosage, frequency, time, and date range</a:t>
            </a:r>
            <a:endParaRPr lang="en-US" sz="1250" dirty="0"/>
          </a:p>
        </p:txBody>
      </p:sp>
      <p:sp>
        <p:nvSpPr>
          <p:cNvPr id="14" name="Shape 8"/>
          <p:cNvSpPr/>
          <p:nvPr/>
        </p:nvSpPr>
        <p:spPr>
          <a:xfrm>
            <a:off x="1751290" y="4035504"/>
            <a:ext cx="5506522" cy="1462207"/>
          </a:xfrm>
          <a:prstGeom prst="roundRect">
            <a:avLst>
              <a:gd name="adj" fmla="val 1654"/>
            </a:avLst>
          </a:prstGeom>
          <a:solidFill>
            <a:srgbClr val="EAE8F3"/>
          </a:solidFill>
          <a:ln/>
        </p:spPr>
        <p:txBody>
          <a:bodyPr/>
          <a:lstStyle/>
          <a:p>
            <a:endParaRPr lang="en-IN"/>
          </a:p>
        </p:txBody>
      </p:sp>
      <p:pic>
        <p:nvPicPr>
          <p:cNvPr id="15" name="Image 4" descr="preencoded.png"/>
          <p:cNvPicPr>
            <a:picLocks noChangeAspect="1"/>
          </p:cNvPicPr>
          <p:nvPr/>
        </p:nvPicPr>
        <p:blipFill>
          <a:blip r:embed="rId9"/>
          <a:stretch>
            <a:fillRect/>
          </a:stretch>
        </p:blipFill>
        <p:spPr>
          <a:xfrm>
            <a:off x="1912501" y="4196715"/>
            <a:ext cx="483751" cy="483751"/>
          </a:xfrm>
          <a:prstGeom prst="rect">
            <a:avLst/>
          </a:prstGeom>
        </p:spPr>
      </p:pic>
      <p:pic>
        <p:nvPicPr>
          <p:cNvPr id="16" name="Image 5"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045494" y="4329708"/>
            <a:ext cx="217646" cy="217646"/>
          </a:xfrm>
          <a:prstGeom prst="rect">
            <a:avLst/>
          </a:prstGeom>
        </p:spPr>
      </p:pic>
      <p:sp>
        <p:nvSpPr>
          <p:cNvPr id="17" name="Text 9"/>
          <p:cNvSpPr/>
          <p:nvPr/>
        </p:nvSpPr>
        <p:spPr>
          <a:xfrm>
            <a:off x="1912501" y="4795123"/>
            <a:ext cx="2015847" cy="251936"/>
          </a:xfrm>
          <a:prstGeom prst="rect">
            <a:avLst/>
          </a:prstGeom>
          <a:noFill/>
          <a:ln/>
        </p:spPr>
        <p:txBody>
          <a:bodyPr wrap="none" lIns="0" tIns="0" rIns="0" bIns="0" rtlCol="0" anchor="t"/>
          <a:lstStyle/>
          <a:p>
            <a:pPr marL="0" indent="0" algn="l">
              <a:lnSpc>
                <a:spcPts val="1950"/>
              </a:lnSpc>
              <a:buNone/>
            </a:pPr>
            <a:r>
              <a:rPr lang="en-US" sz="1550" dirty="0">
                <a:solidFill>
                  <a:srgbClr val="006699"/>
                </a:solidFill>
                <a:latin typeface="Libre Baskerville" pitchFamily="34" charset="0"/>
                <a:ea typeface="Libre Baskerville" pitchFamily="34" charset="-122"/>
                <a:cs typeface="Libre Baskerville" pitchFamily="34" charset="-120"/>
              </a:rPr>
              <a:t>Schedule View</a:t>
            </a:r>
            <a:endParaRPr lang="en-US" sz="1550" dirty="0">
              <a:solidFill>
                <a:srgbClr val="006699"/>
              </a:solidFill>
            </a:endParaRPr>
          </a:p>
        </p:txBody>
      </p:sp>
      <p:sp>
        <p:nvSpPr>
          <p:cNvPr id="18" name="Text 10"/>
          <p:cNvSpPr/>
          <p:nvPr/>
        </p:nvSpPr>
        <p:spPr>
          <a:xfrm>
            <a:off x="1912501" y="5115758"/>
            <a:ext cx="5184100" cy="220742"/>
          </a:xfrm>
          <a:prstGeom prst="rect">
            <a:avLst/>
          </a:prstGeom>
          <a:noFill/>
          <a:ln/>
        </p:spPr>
        <p:txBody>
          <a:bodyPr wrap="none" lIns="0" tIns="0" rIns="0" bIns="0" rtlCol="0" anchor="t"/>
          <a:lstStyle/>
          <a:p>
            <a:pPr marL="0" indent="0" algn="l">
              <a:lnSpc>
                <a:spcPts val="1700"/>
              </a:lnSpc>
              <a:buNone/>
            </a:pPr>
            <a:r>
              <a:rPr lang="en-US" sz="1250" dirty="0">
                <a:latin typeface="Open Sans" pitchFamily="34" charset="0"/>
                <a:ea typeface="Open Sans" pitchFamily="34" charset="-122"/>
                <a:cs typeface="Open Sans" pitchFamily="34" charset="-120"/>
              </a:rPr>
              <a:t>Day-wise medication schedule with status marking capability</a:t>
            </a:r>
            <a:endParaRPr lang="en-US" sz="1250" dirty="0"/>
          </a:p>
        </p:txBody>
      </p:sp>
      <p:sp>
        <p:nvSpPr>
          <p:cNvPr id="19" name="Shape 11"/>
          <p:cNvSpPr/>
          <p:nvPr/>
        </p:nvSpPr>
        <p:spPr>
          <a:xfrm>
            <a:off x="7372469" y="4035504"/>
            <a:ext cx="5506641" cy="1462207"/>
          </a:xfrm>
          <a:prstGeom prst="roundRect">
            <a:avLst>
              <a:gd name="adj" fmla="val 1654"/>
            </a:avLst>
          </a:prstGeom>
          <a:solidFill>
            <a:srgbClr val="EAE8F3"/>
          </a:solidFill>
          <a:ln/>
        </p:spPr>
        <p:txBody>
          <a:bodyPr/>
          <a:lstStyle/>
          <a:p>
            <a:endParaRPr lang="en-IN"/>
          </a:p>
        </p:txBody>
      </p:sp>
      <p:pic>
        <p:nvPicPr>
          <p:cNvPr id="20" name="Image 6" descr="preencoded.png"/>
          <p:cNvPicPr>
            <a:picLocks noChangeAspect="1"/>
          </p:cNvPicPr>
          <p:nvPr/>
        </p:nvPicPr>
        <p:blipFill>
          <a:blip r:embed="rId12"/>
          <a:stretch>
            <a:fillRect/>
          </a:stretch>
        </p:blipFill>
        <p:spPr>
          <a:xfrm>
            <a:off x="7533680" y="4196715"/>
            <a:ext cx="483751" cy="483751"/>
          </a:xfrm>
          <a:prstGeom prst="rect">
            <a:avLst/>
          </a:prstGeom>
        </p:spPr>
      </p:pic>
      <p:pic>
        <p:nvPicPr>
          <p:cNvPr id="21" name="Image 7"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666673" y="4329708"/>
            <a:ext cx="217646" cy="217646"/>
          </a:xfrm>
          <a:prstGeom prst="rect">
            <a:avLst/>
          </a:prstGeom>
        </p:spPr>
      </p:pic>
      <p:sp>
        <p:nvSpPr>
          <p:cNvPr id="22" name="Text 12"/>
          <p:cNvSpPr/>
          <p:nvPr/>
        </p:nvSpPr>
        <p:spPr>
          <a:xfrm>
            <a:off x="7533680" y="4795123"/>
            <a:ext cx="2015847" cy="251936"/>
          </a:xfrm>
          <a:prstGeom prst="rect">
            <a:avLst/>
          </a:prstGeom>
          <a:noFill/>
          <a:ln/>
        </p:spPr>
        <p:txBody>
          <a:bodyPr wrap="none" lIns="0" tIns="0" rIns="0" bIns="0" rtlCol="0" anchor="t"/>
          <a:lstStyle/>
          <a:p>
            <a:pPr marL="0" indent="0" algn="l">
              <a:lnSpc>
                <a:spcPts val="1950"/>
              </a:lnSpc>
              <a:buNone/>
            </a:pPr>
            <a:r>
              <a:rPr lang="en-US" sz="1550" dirty="0">
                <a:solidFill>
                  <a:srgbClr val="006699"/>
                </a:solidFill>
                <a:latin typeface="Libre Baskerville" pitchFamily="34" charset="0"/>
                <a:ea typeface="Libre Baskerville" pitchFamily="34" charset="-122"/>
                <a:cs typeface="Libre Baskerville" pitchFamily="34" charset="-120"/>
              </a:rPr>
              <a:t>Reminders</a:t>
            </a:r>
            <a:endParaRPr lang="en-US" sz="1550" dirty="0">
              <a:solidFill>
                <a:srgbClr val="006699"/>
              </a:solidFill>
            </a:endParaRPr>
          </a:p>
        </p:txBody>
      </p:sp>
      <p:sp>
        <p:nvSpPr>
          <p:cNvPr id="23" name="Text 13"/>
          <p:cNvSpPr/>
          <p:nvPr/>
        </p:nvSpPr>
        <p:spPr>
          <a:xfrm>
            <a:off x="7533680" y="5115758"/>
            <a:ext cx="5184219" cy="220742"/>
          </a:xfrm>
          <a:prstGeom prst="rect">
            <a:avLst/>
          </a:prstGeom>
          <a:noFill/>
          <a:ln/>
        </p:spPr>
        <p:txBody>
          <a:bodyPr wrap="none" lIns="0" tIns="0" rIns="0" bIns="0" rtlCol="0" anchor="t"/>
          <a:lstStyle/>
          <a:p>
            <a:pPr marL="0" indent="0" algn="l">
              <a:lnSpc>
                <a:spcPts val="1700"/>
              </a:lnSpc>
              <a:buNone/>
            </a:pPr>
            <a:r>
              <a:rPr lang="en-US" sz="1250" dirty="0">
                <a:latin typeface="Open Sans" pitchFamily="34" charset="0"/>
                <a:ea typeface="Open Sans" pitchFamily="34" charset="-122"/>
                <a:cs typeface="Open Sans" pitchFamily="34" charset="-120"/>
              </a:rPr>
              <a:t>Pending medication notifications and time-based alerts</a:t>
            </a:r>
            <a:endParaRPr lang="en-US" sz="1250" dirty="0"/>
          </a:p>
        </p:txBody>
      </p:sp>
      <p:sp>
        <p:nvSpPr>
          <p:cNvPr id="24" name="Shape 14"/>
          <p:cNvSpPr/>
          <p:nvPr/>
        </p:nvSpPr>
        <p:spPr>
          <a:xfrm>
            <a:off x="1751290" y="5612368"/>
            <a:ext cx="5506522" cy="1462207"/>
          </a:xfrm>
          <a:prstGeom prst="roundRect">
            <a:avLst>
              <a:gd name="adj" fmla="val 1654"/>
            </a:avLst>
          </a:prstGeom>
          <a:solidFill>
            <a:srgbClr val="EAE8F3"/>
          </a:solidFill>
          <a:ln/>
        </p:spPr>
        <p:txBody>
          <a:bodyPr/>
          <a:lstStyle/>
          <a:p>
            <a:endParaRPr lang="en-IN"/>
          </a:p>
        </p:txBody>
      </p:sp>
      <p:pic>
        <p:nvPicPr>
          <p:cNvPr id="25" name="Image 8" descr="preencoded.png"/>
          <p:cNvPicPr>
            <a:picLocks noChangeAspect="1"/>
          </p:cNvPicPr>
          <p:nvPr/>
        </p:nvPicPr>
        <p:blipFill>
          <a:blip r:embed="rId15"/>
          <a:stretch>
            <a:fillRect/>
          </a:stretch>
        </p:blipFill>
        <p:spPr>
          <a:xfrm>
            <a:off x="1912501" y="5773579"/>
            <a:ext cx="483751" cy="483751"/>
          </a:xfrm>
          <a:prstGeom prst="rect">
            <a:avLst/>
          </a:prstGeom>
        </p:spPr>
      </p:pic>
      <p:pic>
        <p:nvPicPr>
          <p:cNvPr id="26" name="Image 9"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045494" y="5906572"/>
            <a:ext cx="217646" cy="217646"/>
          </a:xfrm>
          <a:prstGeom prst="rect">
            <a:avLst/>
          </a:prstGeom>
        </p:spPr>
      </p:pic>
      <p:sp>
        <p:nvSpPr>
          <p:cNvPr id="27" name="Text 15"/>
          <p:cNvSpPr/>
          <p:nvPr/>
        </p:nvSpPr>
        <p:spPr>
          <a:xfrm>
            <a:off x="1912501" y="6371987"/>
            <a:ext cx="2015847" cy="251936"/>
          </a:xfrm>
          <a:prstGeom prst="rect">
            <a:avLst/>
          </a:prstGeom>
          <a:noFill/>
          <a:ln/>
        </p:spPr>
        <p:txBody>
          <a:bodyPr wrap="none" lIns="0" tIns="0" rIns="0" bIns="0" rtlCol="0" anchor="t"/>
          <a:lstStyle/>
          <a:p>
            <a:pPr marL="0" indent="0" algn="l">
              <a:lnSpc>
                <a:spcPts val="1950"/>
              </a:lnSpc>
              <a:buNone/>
            </a:pPr>
            <a:r>
              <a:rPr lang="en-US" sz="1550" dirty="0">
                <a:solidFill>
                  <a:srgbClr val="006699"/>
                </a:solidFill>
                <a:latin typeface="Libre Baskerville" pitchFamily="34" charset="0"/>
                <a:ea typeface="Libre Baskerville" pitchFamily="34" charset="-122"/>
                <a:cs typeface="Libre Baskerville" pitchFamily="34" charset="-120"/>
              </a:rPr>
              <a:t>Vitals</a:t>
            </a:r>
            <a:endParaRPr lang="en-US" sz="1550" dirty="0">
              <a:solidFill>
                <a:srgbClr val="006699"/>
              </a:solidFill>
            </a:endParaRPr>
          </a:p>
        </p:txBody>
      </p:sp>
      <p:sp>
        <p:nvSpPr>
          <p:cNvPr id="28" name="Text 16"/>
          <p:cNvSpPr/>
          <p:nvPr/>
        </p:nvSpPr>
        <p:spPr>
          <a:xfrm>
            <a:off x="1912501" y="6692622"/>
            <a:ext cx="5184100" cy="220742"/>
          </a:xfrm>
          <a:prstGeom prst="rect">
            <a:avLst/>
          </a:prstGeom>
          <a:noFill/>
          <a:ln/>
        </p:spPr>
        <p:txBody>
          <a:bodyPr wrap="none" lIns="0" tIns="0" rIns="0" bIns="0" rtlCol="0" anchor="t"/>
          <a:lstStyle/>
          <a:p>
            <a:pPr marL="0" indent="0" algn="l">
              <a:lnSpc>
                <a:spcPts val="1700"/>
              </a:lnSpc>
              <a:buNone/>
            </a:pPr>
            <a:r>
              <a:rPr lang="en-US" sz="1250" dirty="0">
                <a:latin typeface="Open Sans" pitchFamily="34" charset="0"/>
                <a:ea typeface="Open Sans" pitchFamily="34" charset="-122"/>
                <a:cs typeface="Open Sans" pitchFamily="34" charset="-120"/>
              </a:rPr>
              <a:t>Log and display health metrics with trend analysis</a:t>
            </a:r>
            <a:endParaRPr lang="en-US" sz="1250" dirty="0"/>
          </a:p>
        </p:txBody>
      </p:sp>
      <p:sp>
        <p:nvSpPr>
          <p:cNvPr id="29" name="Shape 17"/>
          <p:cNvSpPr/>
          <p:nvPr/>
        </p:nvSpPr>
        <p:spPr>
          <a:xfrm>
            <a:off x="7372469" y="5612368"/>
            <a:ext cx="5506641" cy="1462207"/>
          </a:xfrm>
          <a:prstGeom prst="roundRect">
            <a:avLst>
              <a:gd name="adj" fmla="val 1654"/>
            </a:avLst>
          </a:prstGeom>
          <a:solidFill>
            <a:srgbClr val="EAE8F3"/>
          </a:solidFill>
          <a:ln/>
        </p:spPr>
        <p:txBody>
          <a:bodyPr/>
          <a:lstStyle/>
          <a:p>
            <a:endParaRPr lang="en-IN"/>
          </a:p>
        </p:txBody>
      </p:sp>
      <p:pic>
        <p:nvPicPr>
          <p:cNvPr id="30" name="Image 10" descr="preencoded.png"/>
          <p:cNvPicPr>
            <a:picLocks noChangeAspect="1"/>
          </p:cNvPicPr>
          <p:nvPr/>
        </p:nvPicPr>
        <p:blipFill>
          <a:blip r:embed="rId18"/>
          <a:stretch>
            <a:fillRect/>
          </a:stretch>
        </p:blipFill>
        <p:spPr>
          <a:xfrm>
            <a:off x="7533680" y="5773579"/>
            <a:ext cx="483751" cy="483751"/>
          </a:xfrm>
          <a:prstGeom prst="rect">
            <a:avLst/>
          </a:prstGeom>
        </p:spPr>
      </p:pic>
      <p:pic>
        <p:nvPicPr>
          <p:cNvPr id="31" name="Image 11" descr="preencoded.png"/>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7666673" y="5906572"/>
            <a:ext cx="217646" cy="217646"/>
          </a:xfrm>
          <a:prstGeom prst="rect">
            <a:avLst/>
          </a:prstGeom>
        </p:spPr>
      </p:pic>
      <p:sp>
        <p:nvSpPr>
          <p:cNvPr id="32" name="Text 18"/>
          <p:cNvSpPr/>
          <p:nvPr/>
        </p:nvSpPr>
        <p:spPr>
          <a:xfrm>
            <a:off x="7533680" y="6371987"/>
            <a:ext cx="2015847" cy="251936"/>
          </a:xfrm>
          <a:prstGeom prst="rect">
            <a:avLst/>
          </a:prstGeom>
          <a:noFill/>
          <a:ln/>
        </p:spPr>
        <p:txBody>
          <a:bodyPr wrap="none" lIns="0" tIns="0" rIns="0" bIns="0" rtlCol="0" anchor="t"/>
          <a:lstStyle/>
          <a:p>
            <a:pPr marL="0" indent="0" algn="l">
              <a:lnSpc>
                <a:spcPts val="1950"/>
              </a:lnSpc>
              <a:buNone/>
            </a:pPr>
            <a:r>
              <a:rPr lang="en-US" sz="1550" dirty="0">
                <a:solidFill>
                  <a:srgbClr val="006699"/>
                </a:solidFill>
                <a:latin typeface="Libre Baskerville" pitchFamily="34" charset="0"/>
                <a:ea typeface="Libre Baskerville" pitchFamily="34" charset="-122"/>
                <a:cs typeface="Libre Baskerville" pitchFamily="34" charset="-120"/>
              </a:rPr>
              <a:t>Profile</a:t>
            </a:r>
            <a:endParaRPr lang="en-US" sz="1550" dirty="0">
              <a:solidFill>
                <a:srgbClr val="006699"/>
              </a:solidFill>
            </a:endParaRPr>
          </a:p>
        </p:txBody>
      </p:sp>
      <p:sp>
        <p:nvSpPr>
          <p:cNvPr id="33" name="Text 19"/>
          <p:cNvSpPr/>
          <p:nvPr/>
        </p:nvSpPr>
        <p:spPr>
          <a:xfrm>
            <a:off x="7533680" y="6692622"/>
            <a:ext cx="5184219" cy="220742"/>
          </a:xfrm>
          <a:prstGeom prst="rect">
            <a:avLst/>
          </a:prstGeom>
          <a:noFill/>
          <a:ln/>
        </p:spPr>
        <p:txBody>
          <a:bodyPr wrap="none" lIns="0" tIns="0" rIns="0" bIns="0" rtlCol="0" anchor="t"/>
          <a:lstStyle/>
          <a:p>
            <a:pPr marL="0" indent="0" algn="l">
              <a:lnSpc>
                <a:spcPts val="1700"/>
              </a:lnSpc>
              <a:buNone/>
            </a:pPr>
            <a:r>
              <a:rPr lang="en-US" sz="1250" dirty="0">
                <a:latin typeface="Open Sans" pitchFamily="34" charset="0"/>
                <a:ea typeface="Open Sans" pitchFamily="34" charset="-122"/>
                <a:cs typeface="Open Sans" pitchFamily="34" charset="-120"/>
              </a:rPr>
              <a:t>Personal and health-related information with edit functionality</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id="{F379B17D-F908-4815-6C8E-214368EC007E}"/>
              </a:ext>
            </a:extLst>
          </p:cNvPr>
          <p:cNvPicPr>
            <a:picLocks noChangeAspect="1"/>
          </p:cNvPicPr>
          <p:nvPr/>
        </p:nvPicPr>
        <p:blipFill>
          <a:blip r:embed="rId2"/>
          <a:stretch>
            <a:fillRect/>
          </a:stretch>
        </p:blipFill>
        <p:spPr>
          <a:xfrm>
            <a:off x="602165" y="591015"/>
            <a:ext cx="9790772" cy="6980663"/>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2341229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B6507BF-6312-C175-06A0-03C59AAC6D27}"/>
              </a:ext>
            </a:extLst>
          </p:cNvPr>
          <p:cNvPicPr>
            <a:picLocks noChangeAspect="1"/>
          </p:cNvPicPr>
          <p:nvPr/>
        </p:nvPicPr>
        <p:blipFill>
          <a:blip r:embed="rId2"/>
          <a:stretch>
            <a:fillRect/>
          </a:stretch>
        </p:blipFill>
        <p:spPr>
          <a:xfrm>
            <a:off x="7727796" y="1795345"/>
            <a:ext cx="6523464" cy="4661211"/>
          </a:xfrm>
          <a:prstGeom prst="rect">
            <a:avLst/>
          </a:prstGeom>
          <a:effectLst>
            <a:outerShdw blurRad="50800" dist="38100" dir="2700000" algn="tl" rotWithShape="0">
              <a:prstClr val="black">
                <a:alpha val="40000"/>
              </a:prstClr>
            </a:outerShdw>
          </a:effectLst>
        </p:spPr>
      </p:pic>
      <p:pic>
        <p:nvPicPr>
          <p:cNvPr id="3" name="Picture 2">
            <a:extLst>
              <a:ext uri="{FF2B5EF4-FFF2-40B4-BE49-F238E27FC236}">
                <a16:creationId xmlns:a16="http://schemas.microsoft.com/office/drawing/2014/main" id="{7ED1B287-EEDA-58B4-96C8-5D8280FB55AF}"/>
              </a:ext>
            </a:extLst>
          </p:cNvPr>
          <p:cNvPicPr>
            <a:picLocks noChangeAspect="1"/>
          </p:cNvPicPr>
          <p:nvPr/>
        </p:nvPicPr>
        <p:blipFill>
          <a:blip r:embed="rId3"/>
          <a:stretch>
            <a:fillRect/>
          </a:stretch>
        </p:blipFill>
        <p:spPr>
          <a:xfrm>
            <a:off x="78060" y="1"/>
            <a:ext cx="7520168" cy="4259766"/>
          </a:xfrm>
          <a:prstGeom prst="rect">
            <a:avLst/>
          </a:prstGeom>
          <a:ln>
            <a:solidFill>
              <a:schemeClr val="accent1"/>
            </a:solidFill>
          </a:ln>
          <a:effectLst>
            <a:outerShdw blurRad="50800" dist="38100" dir="2700000" algn="tl" rotWithShape="0">
              <a:prstClr val="black">
                <a:alpha val="40000"/>
              </a:prstClr>
            </a:outerShdw>
          </a:effectLst>
        </p:spPr>
      </p:pic>
      <p:pic>
        <p:nvPicPr>
          <p:cNvPr id="4" name="Picture 3">
            <a:extLst>
              <a:ext uri="{FF2B5EF4-FFF2-40B4-BE49-F238E27FC236}">
                <a16:creationId xmlns:a16="http://schemas.microsoft.com/office/drawing/2014/main" id="{1BC01A7F-8D79-D043-3DE9-A924FC73A424}"/>
              </a:ext>
            </a:extLst>
          </p:cNvPr>
          <p:cNvPicPr>
            <a:picLocks noChangeAspect="1"/>
          </p:cNvPicPr>
          <p:nvPr/>
        </p:nvPicPr>
        <p:blipFill>
          <a:blip r:embed="rId4"/>
          <a:stretch>
            <a:fillRect/>
          </a:stretch>
        </p:blipFill>
        <p:spPr>
          <a:xfrm>
            <a:off x="0" y="4371277"/>
            <a:ext cx="7598228" cy="3858322"/>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36579081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573649" y="1034534"/>
            <a:ext cx="4160520" cy="519946"/>
          </a:xfrm>
          <a:prstGeom prst="rect">
            <a:avLst/>
          </a:prstGeom>
          <a:noFill/>
          <a:ln/>
        </p:spPr>
        <p:txBody>
          <a:bodyPr wrap="none" lIns="0" tIns="0" rIns="0" bIns="0" rtlCol="0" anchor="t"/>
          <a:lstStyle/>
          <a:p>
            <a:pPr marL="0" indent="0" algn="l">
              <a:lnSpc>
                <a:spcPts val="4050"/>
              </a:lnSpc>
              <a:buNone/>
            </a:pPr>
            <a:r>
              <a:rPr lang="en-US" sz="3250" dirty="0">
                <a:solidFill>
                  <a:srgbClr val="194178"/>
                </a:solidFill>
                <a:latin typeface="Libre Baskerville" pitchFamily="34" charset="0"/>
                <a:ea typeface="Libre Baskerville" pitchFamily="34" charset="-122"/>
                <a:cs typeface="Libre Baskerville" pitchFamily="34" charset="-120"/>
              </a:rPr>
              <a:t>Doctor Module</a:t>
            </a:r>
            <a:endParaRPr lang="en-US" sz="3250" dirty="0">
              <a:solidFill>
                <a:srgbClr val="194178"/>
              </a:solidFill>
            </a:endParaRPr>
          </a:p>
        </p:txBody>
      </p:sp>
      <p:sp>
        <p:nvSpPr>
          <p:cNvPr id="3" name="Text 1"/>
          <p:cNvSpPr/>
          <p:nvPr/>
        </p:nvSpPr>
        <p:spPr>
          <a:xfrm>
            <a:off x="1573649" y="1798677"/>
            <a:ext cx="11483102" cy="230743"/>
          </a:xfrm>
          <a:prstGeom prst="rect">
            <a:avLst/>
          </a:prstGeom>
          <a:noFill/>
          <a:ln/>
        </p:spPr>
        <p:txBody>
          <a:bodyPr wrap="none" lIns="0" tIns="0" rIns="0" bIns="0" rtlCol="0" anchor="t"/>
          <a:lstStyle/>
          <a:p>
            <a:pPr marL="0" indent="0" algn="l">
              <a:lnSpc>
                <a:spcPts val="1800"/>
              </a:lnSpc>
              <a:buNone/>
            </a:pPr>
            <a:r>
              <a:rPr lang="en-US" sz="1600" dirty="0">
                <a:latin typeface="Open Sans" pitchFamily="34" charset="0"/>
                <a:ea typeface="Open Sans" pitchFamily="34" charset="-122"/>
                <a:cs typeface="Open Sans" pitchFamily="34" charset="-120"/>
              </a:rPr>
              <a:t>The doctor side focuses on patient management and prescription workflow through comprehensive dashboards and administrative tools.</a:t>
            </a:r>
            <a:endParaRPr lang="en-US" sz="1600" dirty="0"/>
          </a:p>
        </p:txBody>
      </p:sp>
      <p:sp>
        <p:nvSpPr>
          <p:cNvPr id="4" name="Shape 2"/>
          <p:cNvSpPr/>
          <p:nvPr/>
        </p:nvSpPr>
        <p:spPr>
          <a:xfrm>
            <a:off x="1573649" y="2166699"/>
            <a:ext cx="5680472" cy="1517809"/>
          </a:xfrm>
          <a:prstGeom prst="roundRect">
            <a:avLst>
              <a:gd name="adj" fmla="val 1645"/>
            </a:avLst>
          </a:prstGeom>
          <a:solidFill>
            <a:srgbClr val="EAE8F3"/>
          </a:solidFill>
          <a:ln/>
        </p:spPr>
        <p:txBody>
          <a:bodyPr/>
          <a:lstStyle/>
          <a:p>
            <a:endParaRPr lang="en-IN"/>
          </a:p>
        </p:txBody>
      </p:sp>
      <p:pic>
        <p:nvPicPr>
          <p:cNvPr id="5" name="Image 0" descr="preencoded.png"/>
          <p:cNvPicPr>
            <a:picLocks noChangeAspect="1"/>
          </p:cNvPicPr>
          <p:nvPr/>
        </p:nvPicPr>
        <p:blipFill>
          <a:blip r:embed="rId3"/>
          <a:stretch>
            <a:fillRect/>
          </a:stretch>
        </p:blipFill>
        <p:spPr>
          <a:xfrm>
            <a:off x="1739979" y="2333030"/>
            <a:ext cx="499229" cy="499229"/>
          </a:xfrm>
          <a:prstGeom prst="rect">
            <a:avLst/>
          </a:prstGeom>
        </p:spPr>
      </p:pic>
      <p:pic>
        <p:nvPicPr>
          <p:cNvPr id="6" name="Image 1"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77258" y="2470309"/>
            <a:ext cx="224552" cy="224552"/>
          </a:xfrm>
          <a:prstGeom prst="rect">
            <a:avLst/>
          </a:prstGeom>
        </p:spPr>
      </p:pic>
      <p:sp>
        <p:nvSpPr>
          <p:cNvPr id="7" name="Text 3"/>
          <p:cNvSpPr/>
          <p:nvPr/>
        </p:nvSpPr>
        <p:spPr>
          <a:xfrm>
            <a:off x="1739979" y="2954298"/>
            <a:ext cx="2080260" cy="259913"/>
          </a:xfrm>
          <a:prstGeom prst="rect">
            <a:avLst/>
          </a:prstGeom>
          <a:noFill/>
          <a:ln/>
        </p:spPr>
        <p:txBody>
          <a:bodyPr wrap="none" lIns="0" tIns="0" rIns="0" bIns="0" rtlCol="0" anchor="t"/>
          <a:lstStyle/>
          <a:p>
            <a:pPr marL="0" indent="0" algn="l">
              <a:lnSpc>
                <a:spcPts val="2000"/>
              </a:lnSpc>
              <a:buNone/>
            </a:pPr>
            <a:r>
              <a:rPr lang="en-US" sz="1600" dirty="0">
                <a:solidFill>
                  <a:srgbClr val="006699"/>
                </a:solidFill>
                <a:latin typeface="Libre Baskerville" pitchFamily="34" charset="0"/>
                <a:ea typeface="Libre Baskerville" pitchFamily="34" charset="-122"/>
                <a:cs typeface="Libre Baskerville" pitchFamily="34" charset="-120"/>
              </a:rPr>
              <a:t>Dashboard</a:t>
            </a:r>
            <a:endParaRPr lang="en-US" sz="1600" dirty="0">
              <a:solidFill>
                <a:srgbClr val="006699"/>
              </a:solidFill>
            </a:endParaRPr>
          </a:p>
        </p:txBody>
      </p:sp>
      <p:sp>
        <p:nvSpPr>
          <p:cNvPr id="8" name="Text 4"/>
          <p:cNvSpPr/>
          <p:nvPr/>
        </p:nvSpPr>
        <p:spPr>
          <a:xfrm>
            <a:off x="1739979" y="3287435"/>
            <a:ext cx="5347811" cy="230743"/>
          </a:xfrm>
          <a:prstGeom prst="rect">
            <a:avLst/>
          </a:prstGeom>
          <a:noFill/>
          <a:ln/>
        </p:spPr>
        <p:txBody>
          <a:bodyPr wrap="none" lIns="0" tIns="0" rIns="0" bIns="0" rtlCol="0" anchor="t"/>
          <a:lstStyle/>
          <a:p>
            <a:pPr marL="0" indent="0" algn="l">
              <a:lnSpc>
                <a:spcPts val="1800"/>
              </a:lnSpc>
              <a:buNone/>
            </a:pPr>
            <a:r>
              <a:rPr lang="en-US" sz="1300" dirty="0">
                <a:latin typeface="Open Sans" pitchFamily="34" charset="0"/>
                <a:ea typeface="Open Sans" pitchFamily="34" charset="-122"/>
                <a:cs typeface="Open Sans" pitchFamily="34" charset="-120"/>
              </a:rPr>
              <a:t>Summary information and recent patient activity monitoring</a:t>
            </a:r>
            <a:endParaRPr lang="en-US" sz="1300" dirty="0"/>
          </a:p>
        </p:txBody>
      </p:sp>
      <p:sp>
        <p:nvSpPr>
          <p:cNvPr id="9" name="Shape 5"/>
          <p:cNvSpPr/>
          <p:nvPr/>
        </p:nvSpPr>
        <p:spPr>
          <a:xfrm>
            <a:off x="7376160" y="2166699"/>
            <a:ext cx="5680591" cy="1517809"/>
          </a:xfrm>
          <a:prstGeom prst="roundRect">
            <a:avLst>
              <a:gd name="adj" fmla="val 1645"/>
            </a:avLst>
          </a:prstGeom>
          <a:solidFill>
            <a:srgbClr val="EAE8F3"/>
          </a:solidFill>
          <a:ln/>
        </p:spPr>
        <p:txBody>
          <a:bodyPr/>
          <a:lstStyle/>
          <a:p>
            <a:endParaRPr lang="en-IN"/>
          </a:p>
        </p:txBody>
      </p:sp>
      <p:pic>
        <p:nvPicPr>
          <p:cNvPr id="10" name="Image 2" descr="preencoded.png"/>
          <p:cNvPicPr>
            <a:picLocks noChangeAspect="1"/>
          </p:cNvPicPr>
          <p:nvPr/>
        </p:nvPicPr>
        <p:blipFill>
          <a:blip r:embed="rId6"/>
          <a:stretch>
            <a:fillRect/>
          </a:stretch>
        </p:blipFill>
        <p:spPr>
          <a:xfrm>
            <a:off x="7542490" y="2333030"/>
            <a:ext cx="499229" cy="499229"/>
          </a:xfrm>
          <a:prstGeom prst="rect">
            <a:avLst/>
          </a:prstGeom>
        </p:spPr>
      </p:pic>
      <p:pic>
        <p:nvPicPr>
          <p:cNvPr id="11" name="Image 3"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9769" y="2470309"/>
            <a:ext cx="224552" cy="224552"/>
          </a:xfrm>
          <a:prstGeom prst="rect">
            <a:avLst/>
          </a:prstGeom>
        </p:spPr>
      </p:pic>
      <p:sp>
        <p:nvSpPr>
          <p:cNvPr id="12" name="Text 6"/>
          <p:cNvSpPr/>
          <p:nvPr/>
        </p:nvSpPr>
        <p:spPr>
          <a:xfrm>
            <a:off x="7542490" y="2954298"/>
            <a:ext cx="2080260" cy="259913"/>
          </a:xfrm>
          <a:prstGeom prst="rect">
            <a:avLst/>
          </a:prstGeom>
          <a:noFill/>
          <a:ln/>
        </p:spPr>
        <p:txBody>
          <a:bodyPr wrap="none" lIns="0" tIns="0" rIns="0" bIns="0" rtlCol="0" anchor="t"/>
          <a:lstStyle/>
          <a:p>
            <a:pPr marL="0" indent="0" algn="l">
              <a:lnSpc>
                <a:spcPts val="2000"/>
              </a:lnSpc>
              <a:buNone/>
            </a:pPr>
            <a:r>
              <a:rPr lang="en-US" sz="1600" dirty="0">
                <a:solidFill>
                  <a:srgbClr val="006699"/>
                </a:solidFill>
                <a:latin typeface="Libre Baskerville" pitchFamily="34" charset="0"/>
                <a:ea typeface="Libre Baskerville" pitchFamily="34" charset="-122"/>
                <a:cs typeface="Libre Baskerville" pitchFamily="34" charset="-120"/>
              </a:rPr>
              <a:t>Patient List</a:t>
            </a:r>
            <a:endParaRPr lang="en-US" sz="1600" dirty="0">
              <a:solidFill>
                <a:srgbClr val="006699"/>
              </a:solidFill>
            </a:endParaRPr>
          </a:p>
        </p:txBody>
      </p:sp>
      <p:sp>
        <p:nvSpPr>
          <p:cNvPr id="13" name="Text 7"/>
          <p:cNvSpPr/>
          <p:nvPr/>
        </p:nvSpPr>
        <p:spPr>
          <a:xfrm>
            <a:off x="7542490" y="3287435"/>
            <a:ext cx="5347930" cy="230743"/>
          </a:xfrm>
          <a:prstGeom prst="rect">
            <a:avLst/>
          </a:prstGeom>
          <a:noFill/>
          <a:ln/>
        </p:spPr>
        <p:txBody>
          <a:bodyPr wrap="none" lIns="0" tIns="0" rIns="0" bIns="0" rtlCol="0" anchor="t"/>
          <a:lstStyle/>
          <a:p>
            <a:pPr marL="0" indent="0" algn="l">
              <a:lnSpc>
                <a:spcPts val="1800"/>
              </a:lnSpc>
              <a:buNone/>
            </a:pPr>
            <a:r>
              <a:rPr lang="en-US" sz="1300" dirty="0">
                <a:latin typeface="Open Sans" pitchFamily="34" charset="0"/>
                <a:ea typeface="Open Sans" pitchFamily="34" charset="-122"/>
                <a:cs typeface="Open Sans" pitchFamily="34" charset="-120"/>
              </a:rPr>
              <a:t>View all assigned patients with search and filtering capabilities</a:t>
            </a:r>
            <a:endParaRPr lang="en-US" sz="1300" dirty="0"/>
          </a:p>
        </p:txBody>
      </p:sp>
      <p:sp>
        <p:nvSpPr>
          <p:cNvPr id="14" name="Shape 8"/>
          <p:cNvSpPr/>
          <p:nvPr/>
        </p:nvSpPr>
        <p:spPr>
          <a:xfrm>
            <a:off x="1573649" y="3806547"/>
            <a:ext cx="5680472" cy="1517809"/>
          </a:xfrm>
          <a:prstGeom prst="roundRect">
            <a:avLst>
              <a:gd name="adj" fmla="val 1645"/>
            </a:avLst>
          </a:prstGeom>
          <a:solidFill>
            <a:srgbClr val="EAE8F3"/>
          </a:solidFill>
          <a:ln/>
        </p:spPr>
        <p:txBody>
          <a:bodyPr/>
          <a:lstStyle/>
          <a:p>
            <a:endParaRPr lang="en-IN"/>
          </a:p>
        </p:txBody>
      </p:sp>
      <p:pic>
        <p:nvPicPr>
          <p:cNvPr id="15" name="Image 4" descr="preencoded.png"/>
          <p:cNvPicPr>
            <a:picLocks noChangeAspect="1"/>
          </p:cNvPicPr>
          <p:nvPr/>
        </p:nvPicPr>
        <p:blipFill>
          <a:blip r:embed="rId9"/>
          <a:stretch>
            <a:fillRect/>
          </a:stretch>
        </p:blipFill>
        <p:spPr>
          <a:xfrm>
            <a:off x="1739979" y="3972878"/>
            <a:ext cx="499229" cy="499229"/>
          </a:xfrm>
          <a:prstGeom prst="rect">
            <a:avLst/>
          </a:prstGeom>
        </p:spPr>
      </p:pic>
      <p:pic>
        <p:nvPicPr>
          <p:cNvPr id="16" name="Image 5"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877258" y="4110157"/>
            <a:ext cx="224552" cy="224552"/>
          </a:xfrm>
          <a:prstGeom prst="rect">
            <a:avLst/>
          </a:prstGeom>
        </p:spPr>
      </p:pic>
      <p:sp>
        <p:nvSpPr>
          <p:cNvPr id="17" name="Text 9"/>
          <p:cNvSpPr/>
          <p:nvPr/>
        </p:nvSpPr>
        <p:spPr>
          <a:xfrm>
            <a:off x="1739979" y="4594146"/>
            <a:ext cx="2080260" cy="259913"/>
          </a:xfrm>
          <a:prstGeom prst="rect">
            <a:avLst/>
          </a:prstGeom>
          <a:noFill/>
          <a:ln/>
        </p:spPr>
        <p:txBody>
          <a:bodyPr wrap="none" lIns="0" tIns="0" rIns="0" bIns="0" rtlCol="0" anchor="t"/>
          <a:lstStyle/>
          <a:p>
            <a:pPr marL="0" indent="0" algn="l">
              <a:lnSpc>
                <a:spcPts val="2000"/>
              </a:lnSpc>
              <a:buNone/>
            </a:pPr>
            <a:r>
              <a:rPr lang="en-US" sz="1600" dirty="0">
                <a:solidFill>
                  <a:srgbClr val="006699"/>
                </a:solidFill>
                <a:latin typeface="Libre Baskerville" pitchFamily="34" charset="0"/>
                <a:ea typeface="Libre Baskerville" pitchFamily="34" charset="-122"/>
                <a:cs typeface="Libre Baskerville" pitchFamily="34" charset="-120"/>
              </a:rPr>
              <a:t>Patient Search</a:t>
            </a:r>
            <a:endParaRPr lang="en-US" sz="1600" dirty="0">
              <a:solidFill>
                <a:srgbClr val="006699"/>
              </a:solidFill>
            </a:endParaRPr>
          </a:p>
        </p:txBody>
      </p:sp>
      <p:sp>
        <p:nvSpPr>
          <p:cNvPr id="18" name="Text 10"/>
          <p:cNvSpPr/>
          <p:nvPr/>
        </p:nvSpPr>
        <p:spPr>
          <a:xfrm>
            <a:off x="1739979" y="4927283"/>
            <a:ext cx="5347811" cy="230743"/>
          </a:xfrm>
          <a:prstGeom prst="rect">
            <a:avLst/>
          </a:prstGeom>
          <a:noFill/>
          <a:ln/>
        </p:spPr>
        <p:txBody>
          <a:bodyPr wrap="none" lIns="0" tIns="0" rIns="0" bIns="0" rtlCol="0" anchor="t"/>
          <a:lstStyle/>
          <a:p>
            <a:pPr marL="0" indent="0" algn="l">
              <a:lnSpc>
                <a:spcPts val="1800"/>
              </a:lnSpc>
              <a:buNone/>
            </a:pPr>
            <a:r>
              <a:rPr lang="en-US" sz="1300" dirty="0">
                <a:latin typeface="Open Sans" pitchFamily="34" charset="0"/>
                <a:ea typeface="Open Sans" pitchFamily="34" charset="-122"/>
                <a:cs typeface="Open Sans" pitchFamily="34" charset="-120"/>
              </a:rPr>
              <a:t>Quickly find patients by name, condition, or medication</a:t>
            </a:r>
            <a:endParaRPr lang="en-US" sz="1300" dirty="0"/>
          </a:p>
        </p:txBody>
      </p:sp>
      <p:sp>
        <p:nvSpPr>
          <p:cNvPr id="19" name="Shape 11"/>
          <p:cNvSpPr/>
          <p:nvPr/>
        </p:nvSpPr>
        <p:spPr>
          <a:xfrm>
            <a:off x="7376160" y="3806547"/>
            <a:ext cx="5680591" cy="1517809"/>
          </a:xfrm>
          <a:prstGeom prst="roundRect">
            <a:avLst>
              <a:gd name="adj" fmla="val 1645"/>
            </a:avLst>
          </a:prstGeom>
          <a:solidFill>
            <a:srgbClr val="EAE8F3"/>
          </a:solidFill>
          <a:ln/>
        </p:spPr>
        <p:txBody>
          <a:bodyPr/>
          <a:lstStyle/>
          <a:p>
            <a:endParaRPr lang="en-IN"/>
          </a:p>
        </p:txBody>
      </p:sp>
      <p:pic>
        <p:nvPicPr>
          <p:cNvPr id="20" name="Image 6" descr="preencoded.png"/>
          <p:cNvPicPr>
            <a:picLocks noChangeAspect="1"/>
          </p:cNvPicPr>
          <p:nvPr/>
        </p:nvPicPr>
        <p:blipFill>
          <a:blip r:embed="rId12"/>
          <a:stretch>
            <a:fillRect/>
          </a:stretch>
        </p:blipFill>
        <p:spPr>
          <a:xfrm>
            <a:off x="7542490" y="3972878"/>
            <a:ext cx="499229" cy="499229"/>
          </a:xfrm>
          <a:prstGeom prst="rect">
            <a:avLst/>
          </a:prstGeom>
        </p:spPr>
      </p:pic>
      <p:pic>
        <p:nvPicPr>
          <p:cNvPr id="21" name="Image 7"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679769" y="4110157"/>
            <a:ext cx="224552" cy="224552"/>
          </a:xfrm>
          <a:prstGeom prst="rect">
            <a:avLst/>
          </a:prstGeom>
        </p:spPr>
      </p:pic>
      <p:sp>
        <p:nvSpPr>
          <p:cNvPr id="22" name="Text 12"/>
          <p:cNvSpPr/>
          <p:nvPr/>
        </p:nvSpPr>
        <p:spPr>
          <a:xfrm>
            <a:off x="7542490" y="4594146"/>
            <a:ext cx="2080260" cy="259913"/>
          </a:xfrm>
          <a:prstGeom prst="rect">
            <a:avLst/>
          </a:prstGeom>
          <a:noFill/>
          <a:ln/>
        </p:spPr>
        <p:txBody>
          <a:bodyPr wrap="none" lIns="0" tIns="0" rIns="0" bIns="0" rtlCol="0" anchor="t"/>
          <a:lstStyle/>
          <a:p>
            <a:pPr marL="0" indent="0" algn="l">
              <a:lnSpc>
                <a:spcPts val="2000"/>
              </a:lnSpc>
              <a:buNone/>
            </a:pPr>
            <a:r>
              <a:rPr lang="en-US" sz="1600" dirty="0">
                <a:solidFill>
                  <a:srgbClr val="006699"/>
                </a:solidFill>
                <a:latin typeface="Libre Baskerville" pitchFamily="34" charset="0"/>
                <a:ea typeface="Libre Baskerville" pitchFamily="34" charset="-122"/>
                <a:cs typeface="Libre Baskerville" pitchFamily="34" charset="-120"/>
              </a:rPr>
              <a:t>Add Patient</a:t>
            </a:r>
            <a:endParaRPr lang="en-US" sz="1600" dirty="0">
              <a:solidFill>
                <a:srgbClr val="006699"/>
              </a:solidFill>
            </a:endParaRPr>
          </a:p>
        </p:txBody>
      </p:sp>
      <p:sp>
        <p:nvSpPr>
          <p:cNvPr id="23" name="Text 13"/>
          <p:cNvSpPr/>
          <p:nvPr/>
        </p:nvSpPr>
        <p:spPr>
          <a:xfrm>
            <a:off x="7542490" y="4927283"/>
            <a:ext cx="5347930" cy="230743"/>
          </a:xfrm>
          <a:prstGeom prst="rect">
            <a:avLst/>
          </a:prstGeom>
          <a:noFill/>
          <a:ln/>
        </p:spPr>
        <p:txBody>
          <a:bodyPr wrap="none" lIns="0" tIns="0" rIns="0" bIns="0" rtlCol="0" anchor="t"/>
          <a:lstStyle/>
          <a:p>
            <a:pPr marL="0" indent="0" algn="l">
              <a:lnSpc>
                <a:spcPts val="1800"/>
              </a:lnSpc>
              <a:buNone/>
            </a:pPr>
            <a:r>
              <a:rPr lang="en-US" sz="1300" dirty="0">
                <a:latin typeface="Open Sans" pitchFamily="34" charset="0"/>
                <a:ea typeface="Open Sans" pitchFamily="34" charset="-122"/>
                <a:cs typeface="Open Sans" pitchFamily="34" charset="-120"/>
              </a:rPr>
              <a:t>Link new patients to doctor's practice with profile details</a:t>
            </a:r>
            <a:endParaRPr lang="en-US" sz="1300" dirty="0"/>
          </a:p>
        </p:txBody>
      </p:sp>
      <p:sp>
        <p:nvSpPr>
          <p:cNvPr id="24" name="Shape 14"/>
          <p:cNvSpPr/>
          <p:nvPr/>
        </p:nvSpPr>
        <p:spPr>
          <a:xfrm>
            <a:off x="1573649" y="5446395"/>
            <a:ext cx="5680472" cy="1748552"/>
          </a:xfrm>
          <a:prstGeom prst="roundRect">
            <a:avLst>
              <a:gd name="adj" fmla="val 1428"/>
            </a:avLst>
          </a:prstGeom>
          <a:solidFill>
            <a:srgbClr val="EAE8F3"/>
          </a:solidFill>
          <a:ln/>
        </p:spPr>
        <p:txBody>
          <a:bodyPr/>
          <a:lstStyle/>
          <a:p>
            <a:endParaRPr lang="en-IN"/>
          </a:p>
        </p:txBody>
      </p:sp>
      <p:pic>
        <p:nvPicPr>
          <p:cNvPr id="25" name="Image 8" descr="preencoded.png"/>
          <p:cNvPicPr>
            <a:picLocks noChangeAspect="1"/>
          </p:cNvPicPr>
          <p:nvPr/>
        </p:nvPicPr>
        <p:blipFill>
          <a:blip r:embed="rId15"/>
          <a:stretch>
            <a:fillRect/>
          </a:stretch>
        </p:blipFill>
        <p:spPr>
          <a:xfrm>
            <a:off x="1739979" y="5612725"/>
            <a:ext cx="499229" cy="499229"/>
          </a:xfrm>
          <a:prstGeom prst="rect">
            <a:avLst/>
          </a:prstGeom>
        </p:spPr>
      </p:pic>
      <p:pic>
        <p:nvPicPr>
          <p:cNvPr id="26" name="Image 9"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877258" y="5750004"/>
            <a:ext cx="224552" cy="224552"/>
          </a:xfrm>
          <a:prstGeom prst="rect">
            <a:avLst/>
          </a:prstGeom>
        </p:spPr>
      </p:pic>
      <p:sp>
        <p:nvSpPr>
          <p:cNvPr id="27" name="Text 15"/>
          <p:cNvSpPr/>
          <p:nvPr/>
        </p:nvSpPr>
        <p:spPr>
          <a:xfrm>
            <a:off x="1739979" y="6233993"/>
            <a:ext cx="2080260" cy="259913"/>
          </a:xfrm>
          <a:prstGeom prst="rect">
            <a:avLst/>
          </a:prstGeom>
          <a:noFill/>
          <a:ln/>
        </p:spPr>
        <p:txBody>
          <a:bodyPr wrap="none" lIns="0" tIns="0" rIns="0" bIns="0" rtlCol="0" anchor="t"/>
          <a:lstStyle/>
          <a:p>
            <a:pPr marL="0" indent="0" algn="l">
              <a:lnSpc>
                <a:spcPts val="2000"/>
              </a:lnSpc>
              <a:buNone/>
            </a:pPr>
            <a:r>
              <a:rPr lang="en-US" sz="1600" dirty="0">
                <a:solidFill>
                  <a:srgbClr val="006699"/>
                </a:solidFill>
                <a:latin typeface="Libre Baskerville" pitchFamily="34" charset="0"/>
                <a:ea typeface="Libre Baskerville" pitchFamily="34" charset="-122"/>
                <a:cs typeface="Libre Baskerville" pitchFamily="34" charset="-120"/>
              </a:rPr>
              <a:t>Create Prescription</a:t>
            </a:r>
            <a:endParaRPr lang="en-US" sz="1600" dirty="0">
              <a:solidFill>
                <a:srgbClr val="006699"/>
              </a:solidFill>
            </a:endParaRPr>
          </a:p>
        </p:txBody>
      </p:sp>
      <p:sp>
        <p:nvSpPr>
          <p:cNvPr id="28" name="Text 16"/>
          <p:cNvSpPr/>
          <p:nvPr/>
        </p:nvSpPr>
        <p:spPr>
          <a:xfrm>
            <a:off x="1739979" y="6567130"/>
            <a:ext cx="5347811" cy="461486"/>
          </a:xfrm>
          <a:prstGeom prst="rect">
            <a:avLst/>
          </a:prstGeom>
          <a:noFill/>
          <a:ln/>
        </p:spPr>
        <p:txBody>
          <a:bodyPr wrap="square" lIns="0" tIns="0" rIns="0" bIns="0" rtlCol="0" anchor="t"/>
          <a:lstStyle/>
          <a:p>
            <a:pPr marL="0" indent="0" algn="l">
              <a:lnSpc>
                <a:spcPts val="1800"/>
              </a:lnSpc>
              <a:buNone/>
            </a:pPr>
            <a:r>
              <a:rPr lang="en-US" sz="1300" dirty="0">
                <a:latin typeface="Open Sans" pitchFamily="34" charset="0"/>
                <a:ea typeface="Open Sans" pitchFamily="34" charset="-122"/>
                <a:cs typeface="Open Sans" pitchFamily="34" charset="-120"/>
              </a:rPr>
              <a:t>Prescribe multiple medications with dosage, frequency, instructions, and duration</a:t>
            </a:r>
            <a:endParaRPr lang="en-US" sz="1300" dirty="0"/>
          </a:p>
        </p:txBody>
      </p:sp>
      <p:sp>
        <p:nvSpPr>
          <p:cNvPr id="29" name="Shape 17"/>
          <p:cNvSpPr/>
          <p:nvPr/>
        </p:nvSpPr>
        <p:spPr>
          <a:xfrm>
            <a:off x="7376160" y="5446395"/>
            <a:ext cx="5680591" cy="1748552"/>
          </a:xfrm>
          <a:prstGeom prst="roundRect">
            <a:avLst>
              <a:gd name="adj" fmla="val 1428"/>
            </a:avLst>
          </a:prstGeom>
          <a:solidFill>
            <a:srgbClr val="EAE8F3"/>
          </a:solidFill>
          <a:ln/>
        </p:spPr>
        <p:txBody>
          <a:bodyPr/>
          <a:lstStyle/>
          <a:p>
            <a:endParaRPr lang="en-IN"/>
          </a:p>
        </p:txBody>
      </p:sp>
      <p:pic>
        <p:nvPicPr>
          <p:cNvPr id="30" name="Image 10" descr="preencoded.png"/>
          <p:cNvPicPr>
            <a:picLocks noChangeAspect="1"/>
          </p:cNvPicPr>
          <p:nvPr/>
        </p:nvPicPr>
        <p:blipFill>
          <a:blip r:embed="rId18"/>
          <a:stretch>
            <a:fillRect/>
          </a:stretch>
        </p:blipFill>
        <p:spPr>
          <a:xfrm>
            <a:off x="7542490" y="5612725"/>
            <a:ext cx="499229" cy="499229"/>
          </a:xfrm>
          <a:prstGeom prst="rect">
            <a:avLst/>
          </a:prstGeom>
        </p:spPr>
      </p:pic>
      <p:pic>
        <p:nvPicPr>
          <p:cNvPr id="31" name="Image 11" descr="preencoded.png"/>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7679769" y="5750004"/>
            <a:ext cx="224552" cy="224552"/>
          </a:xfrm>
          <a:prstGeom prst="rect">
            <a:avLst/>
          </a:prstGeom>
        </p:spPr>
      </p:pic>
      <p:sp>
        <p:nvSpPr>
          <p:cNvPr id="32" name="Text 18"/>
          <p:cNvSpPr/>
          <p:nvPr/>
        </p:nvSpPr>
        <p:spPr>
          <a:xfrm>
            <a:off x="7542490" y="6233993"/>
            <a:ext cx="2080260" cy="259913"/>
          </a:xfrm>
          <a:prstGeom prst="rect">
            <a:avLst/>
          </a:prstGeom>
          <a:noFill/>
          <a:ln/>
        </p:spPr>
        <p:txBody>
          <a:bodyPr wrap="none" lIns="0" tIns="0" rIns="0" bIns="0" rtlCol="0" anchor="t"/>
          <a:lstStyle/>
          <a:p>
            <a:pPr marL="0" indent="0" algn="l">
              <a:lnSpc>
                <a:spcPts val="2000"/>
              </a:lnSpc>
              <a:buNone/>
            </a:pPr>
            <a:r>
              <a:rPr lang="en-US" sz="1600" dirty="0">
                <a:solidFill>
                  <a:srgbClr val="006699"/>
                </a:solidFill>
                <a:latin typeface="Libre Baskerville" pitchFamily="34" charset="0"/>
                <a:ea typeface="Libre Baskerville" pitchFamily="34" charset="-122"/>
                <a:cs typeface="Libre Baskerville" pitchFamily="34" charset="-120"/>
              </a:rPr>
              <a:t>Profile</a:t>
            </a:r>
            <a:endParaRPr lang="en-US" sz="1600" dirty="0">
              <a:solidFill>
                <a:srgbClr val="006699"/>
              </a:solidFill>
            </a:endParaRPr>
          </a:p>
        </p:txBody>
      </p:sp>
      <p:sp>
        <p:nvSpPr>
          <p:cNvPr id="33" name="Text 19"/>
          <p:cNvSpPr/>
          <p:nvPr/>
        </p:nvSpPr>
        <p:spPr>
          <a:xfrm>
            <a:off x="7542490" y="6567130"/>
            <a:ext cx="5347930" cy="461486"/>
          </a:xfrm>
          <a:prstGeom prst="rect">
            <a:avLst/>
          </a:prstGeom>
          <a:noFill/>
          <a:ln/>
        </p:spPr>
        <p:txBody>
          <a:bodyPr wrap="square" lIns="0" tIns="0" rIns="0" bIns="0" rtlCol="0" anchor="t"/>
          <a:lstStyle/>
          <a:p>
            <a:pPr marL="0" indent="0" algn="l">
              <a:lnSpc>
                <a:spcPts val="1800"/>
              </a:lnSpc>
              <a:buNone/>
            </a:pPr>
            <a:r>
              <a:rPr lang="en-US" sz="1300" dirty="0">
                <a:latin typeface="Open Sans" pitchFamily="34" charset="0"/>
                <a:ea typeface="Open Sans" pitchFamily="34" charset="-122"/>
                <a:cs typeface="Open Sans" pitchFamily="34" charset="-120"/>
              </a:rPr>
              <a:t>Professional information including specialization, hospital, qualifications, and consultation timings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15366C-787C-D851-E615-5D39DBFB3977}"/>
              </a:ext>
            </a:extLst>
          </p:cNvPr>
          <p:cNvPicPr>
            <a:picLocks noChangeAspect="1"/>
          </p:cNvPicPr>
          <p:nvPr/>
        </p:nvPicPr>
        <p:blipFill>
          <a:blip r:embed="rId2"/>
          <a:stretch>
            <a:fillRect/>
          </a:stretch>
        </p:blipFill>
        <p:spPr>
          <a:xfrm>
            <a:off x="657921" y="103151"/>
            <a:ext cx="9467385" cy="701132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19623513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F2A0C23-82E1-A7BD-9771-91E783FFBB79}"/>
              </a:ext>
            </a:extLst>
          </p:cNvPr>
          <p:cNvPicPr>
            <a:picLocks noChangeAspect="1"/>
          </p:cNvPicPr>
          <p:nvPr/>
        </p:nvPicPr>
        <p:blipFill>
          <a:blip r:embed="rId2"/>
          <a:stretch>
            <a:fillRect/>
          </a:stretch>
        </p:blipFill>
        <p:spPr>
          <a:xfrm>
            <a:off x="7649737" y="535258"/>
            <a:ext cx="6177775" cy="6891453"/>
          </a:xfrm>
          <a:prstGeom prst="rect">
            <a:avLst/>
          </a:prstGeom>
        </p:spPr>
      </p:pic>
      <p:pic>
        <p:nvPicPr>
          <p:cNvPr id="4" name="Picture 3">
            <a:extLst>
              <a:ext uri="{FF2B5EF4-FFF2-40B4-BE49-F238E27FC236}">
                <a16:creationId xmlns:a16="http://schemas.microsoft.com/office/drawing/2014/main" id="{465D06B4-D575-AB7F-17B4-2CEE8CB59997}"/>
              </a:ext>
            </a:extLst>
          </p:cNvPr>
          <p:cNvPicPr>
            <a:picLocks noChangeAspect="1"/>
          </p:cNvPicPr>
          <p:nvPr/>
        </p:nvPicPr>
        <p:blipFill>
          <a:blip r:embed="rId3"/>
          <a:stretch>
            <a:fillRect/>
          </a:stretch>
        </p:blipFill>
        <p:spPr>
          <a:xfrm>
            <a:off x="87085" y="4538545"/>
            <a:ext cx="7228115" cy="3587903"/>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pic>
        <p:nvPicPr>
          <p:cNvPr id="6" name="Picture 5">
            <a:extLst>
              <a:ext uri="{FF2B5EF4-FFF2-40B4-BE49-F238E27FC236}">
                <a16:creationId xmlns:a16="http://schemas.microsoft.com/office/drawing/2014/main" id="{9AB6EF1C-37CA-5002-2440-B19BBD257610}"/>
              </a:ext>
            </a:extLst>
          </p:cNvPr>
          <p:cNvPicPr>
            <a:picLocks noChangeAspect="1"/>
          </p:cNvPicPr>
          <p:nvPr/>
        </p:nvPicPr>
        <p:blipFill>
          <a:blip r:embed="rId4"/>
          <a:stretch>
            <a:fillRect/>
          </a:stretch>
        </p:blipFill>
        <p:spPr>
          <a:xfrm>
            <a:off x="87085" y="0"/>
            <a:ext cx="7228115" cy="4259765"/>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3263270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2266474" y="1032986"/>
            <a:ext cx="6272093" cy="457319"/>
          </a:xfrm>
          <a:prstGeom prst="rect">
            <a:avLst/>
          </a:prstGeom>
          <a:noFill/>
          <a:ln/>
        </p:spPr>
        <p:txBody>
          <a:bodyPr wrap="none" lIns="0" tIns="0" rIns="0" bIns="0" rtlCol="0" anchor="t"/>
          <a:lstStyle/>
          <a:p>
            <a:pPr marL="0" indent="0" algn="l">
              <a:lnSpc>
                <a:spcPts val="3600"/>
              </a:lnSpc>
              <a:buNone/>
            </a:pPr>
            <a:r>
              <a:rPr lang="en-US" sz="2850" dirty="0">
                <a:solidFill>
                  <a:srgbClr val="194178"/>
                </a:solidFill>
                <a:latin typeface="Libre Baskerville" pitchFamily="34" charset="0"/>
                <a:ea typeface="Libre Baskerville" pitchFamily="34" charset="-122"/>
                <a:cs typeface="Libre Baskerville" pitchFamily="34" charset="-120"/>
              </a:rPr>
              <a:t>Medication Status and Adherence</a:t>
            </a:r>
            <a:endParaRPr lang="en-US" sz="2850" dirty="0">
              <a:solidFill>
                <a:srgbClr val="194178"/>
              </a:solidFill>
            </a:endParaRPr>
          </a:p>
        </p:txBody>
      </p:sp>
      <p:sp>
        <p:nvSpPr>
          <p:cNvPr id="3" name="Text 1"/>
          <p:cNvSpPr/>
          <p:nvPr/>
        </p:nvSpPr>
        <p:spPr>
          <a:xfrm>
            <a:off x="2266474" y="1679019"/>
            <a:ext cx="10097452" cy="192524"/>
          </a:xfrm>
          <a:prstGeom prst="rect">
            <a:avLst/>
          </a:prstGeom>
          <a:noFill/>
          <a:ln/>
        </p:spPr>
        <p:txBody>
          <a:bodyPr wrap="none" lIns="0" tIns="0" rIns="0" bIns="0" rtlCol="0" anchor="t"/>
          <a:lstStyle/>
          <a:p>
            <a:pPr marL="0" indent="0" algn="l">
              <a:lnSpc>
                <a:spcPts val="1500"/>
              </a:lnSpc>
              <a:buNone/>
            </a:pPr>
            <a:r>
              <a:rPr lang="en-US" sz="1400" dirty="0">
                <a:latin typeface="Open Sans" pitchFamily="34" charset="0"/>
                <a:ea typeface="Open Sans" pitchFamily="34" charset="-122"/>
                <a:cs typeface="Open Sans" pitchFamily="34" charset="-120"/>
              </a:rPr>
              <a:t>MedLink ensures comprehensive tracking of medication events and patient adherence through a robust logging and update system.</a:t>
            </a:r>
            <a:endParaRPr lang="en-US" sz="1400" dirty="0"/>
          </a:p>
        </p:txBody>
      </p:sp>
      <p:sp>
        <p:nvSpPr>
          <p:cNvPr id="4" name="Shape 2"/>
          <p:cNvSpPr/>
          <p:nvPr/>
        </p:nvSpPr>
        <p:spPr>
          <a:xfrm>
            <a:off x="2266474" y="1977747"/>
            <a:ext cx="5001578" cy="438983"/>
          </a:xfrm>
          <a:prstGeom prst="roundRect">
            <a:avLst>
              <a:gd name="adj" fmla="val 480043"/>
            </a:avLst>
          </a:prstGeom>
          <a:solidFill>
            <a:srgbClr val="EAE8F3"/>
          </a:solidFill>
          <a:ln/>
        </p:spPr>
        <p:txBody>
          <a:bodyPr/>
          <a:lstStyle/>
          <a:p>
            <a:endParaRPr lang="en-IN"/>
          </a:p>
        </p:txBody>
      </p:sp>
      <p:pic>
        <p:nvPicPr>
          <p:cNvPr id="5"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57487" y="2087404"/>
            <a:ext cx="219432" cy="219432"/>
          </a:xfrm>
          <a:prstGeom prst="rect">
            <a:avLst/>
          </a:prstGeom>
        </p:spPr>
      </p:pic>
      <p:sp>
        <p:nvSpPr>
          <p:cNvPr id="6" name="Text 3"/>
          <p:cNvSpPr/>
          <p:nvPr/>
        </p:nvSpPr>
        <p:spPr>
          <a:xfrm>
            <a:off x="2412802" y="2511028"/>
            <a:ext cx="1829157" cy="228600"/>
          </a:xfrm>
          <a:prstGeom prst="rect">
            <a:avLst/>
          </a:prstGeom>
          <a:noFill/>
          <a:ln/>
        </p:spPr>
        <p:txBody>
          <a:bodyPr wrap="none" lIns="0" tIns="0" rIns="0" bIns="0" rtlCol="0" anchor="t"/>
          <a:lstStyle/>
          <a:p>
            <a:pPr marL="0" indent="0" algn="l">
              <a:lnSpc>
                <a:spcPts val="1800"/>
              </a:lnSpc>
              <a:buNone/>
            </a:pPr>
            <a:r>
              <a:rPr lang="en-US" sz="1400" dirty="0">
                <a:solidFill>
                  <a:srgbClr val="006699"/>
                </a:solidFill>
                <a:latin typeface="Libre Baskerville" pitchFamily="34" charset="0"/>
                <a:ea typeface="Libre Baskerville" pitchFamily="34" charset="-122"/>
                <a:cs typeface="Libre Baskerville" pitchFamily="34" charset="-120"/>
              </a:rPr>
              <a:t>Medication Events</a:t>
            </a:r>
            <a:endParaRPr lang="en-US" sz="1400" dirty="0">
              <a:solidFill>
                <a:srgbClr val="006699"/>
              </a:solidFill>
            </a:endParaRPr>
          </a:p>
        </p:txBody>
      </p:sp>
      <p:sp>
        <p:nvSpPr>
          <p:cNvPr id="7" name="Text 4"/>
          <p:cNvSpPr/>
          <p:nvPr/>
        </p:nvSpPr>
        <p:spPr>
          <a:xfrm>
            <a:off x="2412802" y="2796183"/>
            <a:ext cx="4708922" cy="385048"/>
          </a:xfrm>
          <a:prstGeom prst="rect">
            <a:avLst/>
          </a:prstGeom>
          <a:noFill/>
          <a:ln/>
        </p:spPr>
        <p:txBody>
          <a:bodyPr wrap="square" lIns="0" tIns="0" rIns="0" bIns="0" rtlCol="0" anchor="t"/>
          <a:lstStyle/>
          <a:p>
            <a:pPr marL="0" indent="0" algn="l">
              <a:lnSpc>
                <a:spcPts val="1500"/>
              </a:lnSpc>
              <a:buNone/>
            </a:pPr>
            <a:r>
              <a:rPr lang="en-US" sz="1150" dirty="0">
                <a:latin typeface="Open Sans" pitchFamily="34" charset="0"/>
                <a:ea typeface="Open Sans" pitchFamily="34" charset="-122"/>
                <a:cs typeface="Open Sans" pitchFamily="34" charset="-120"/>
              </a:rPr>
              <a:t>Each intake log records a specific medication event for a patient, scheduled for a particular time.</a:t>
            </a:r>
            <a:endParaRPr lang="en-US" sz="1150" dirty="0"/>
          </a:p>
        </p:txBody>
      </p:sp>
      <p:sp>
        <p:nvSpPr>
          <p:cNvPr id="8" name="Shape 5"/>
          <p:cNvSpPr/>
          <p:nvPr/>
        </p:nvSpPr>
        <p:spPr>
          <a:xfrm>
            <a:off x="7362349" y="1977747"/>
            <a:ext cx="5001578" cy="438983"/>
          </a:xfrm>
          <a:prstGeom prst="roundRect">
            <a:avLst>
              <a:gd name="adj" fmla="val 480043"/>
            </a:avLst>
          </a:prstGeom>
          <a:solidFill>
            <a:srgbClr val="EAE8F3"/>
          </a:solidFill>
          <a:ln/>
        </p:spPr>
        <p:txBody>
          <a:bodyPr/>
          <a:lstStyle/>
          <a:p>
            <a:endParaRPr lang="en-IN"/>
          </a:p>
        </p:txBody>
      </p:sp>
      <p:pic>
        <p:nvPicPr>
          <p:cNvPr id="9"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53362" y="2087404"/>
            <a:ext cx="219432" cy="219432"/>
          </a:xfrm>
          <a:prstGeom prst="rect">
            <a:avLst/>
          </a:prstGeom>
        </p:spPr>
      </p:pic>
      <p:sp>
        <p:nvSpPr>
          <p:cNvPr id="10" name="Text 6"/>
          <p:cNvSpPr/>
          <p:nvPr/>
        </p:nvSpPr>
        <p:spPr>
          <a:xfrm>
            <a:off x="7508677" y="2511028"/>
            <a:ext cx="1829157" cy="228600"/>
          </a:xfrm>
          <a:prstGeom prst="rect">
            <a:avLst/>
          </a:prstGeom>
          <a:noFill/>
          <a:ln/>
        </p:spPr>
        <p:txBody>
          <a:bodyPr wrap="none" lIns="0" tIns="0" rIns="0" bIns="0" rtlCol="0" anchor="t"/>
          <a:lstStyle/>
          <a:p>
            <a:pPr marL="0" indent="0" algn="l">
              <a:lnSpc>
                <a:spcPts val="1800"/>
              </a:lnSpc>
              <a:buNone/>
            </a:pPr>
            <a:r>
              <a:rPr lang="en-US" sz="1400" dirty="0">
                <a:solidFill>
                  <a:srgbClr val="006699"/>
                </a:solidFill>
                <a:latin typeface="Libre Baskerville" pitchFamily="34" charset="0"/>
                <a:ea typeface="Libre Baskerville" pitchFamily="34" charset="-122"/>
                <a:cs typeface="Libre Baskerville" pitchFamily="34" charset="-120"/>
              </a:rPr>
              <a:t>Tracking Statuses</a:t>
            </a:r>
            <a:endParaRPr lang="en-US" sz="1400" dirty="0">
              <a:solidFill>
                <a:srgbClr val="006699"/>
              </a:solidFill>
            </a:endParaRPr>
          </a:p>
        </p:txBody>
      </p:sp>
      <p:sp>
        <p:nvSpPr>
          <p:cNvPr id="11" name="Text 7"/>
          <p:cNvSpPr/>
          <p:nvPr/>
        </p:nvSpPr>
        <p:spPr>
          <a:xfrm>
            <a:off x="7508677" y="2796183"/>
            <a:ext cx="4708922" cy="385048"/>
          </a:xfrm>
          <a:prstGeom prst="rect">
            <a:avLst/>
          </a:prstGeom>
          <a:noFill/>
          <a:ln/>
        </p:spPr>
        <p:txBody>
          <a:bodyPr wrap="square" lIns="0" tIns="0" rIns="0" bIns="0" rtlCol="0" anchor="t"/>
          <a:lstStyle/>
          <a:p>
            <a:pPr marL="0" indent="0" algn="l">
              <a:lnSpc>
                <a:spcPts val="1500"/>
              </a:lnSpc>
              <a:buNone/>
            </a:pPr>
            <a:r>
              <a:rPr lang="en-US" sz="1150" dirty="0">
                <a:latin typeface="Open Sans" pitchFamily="34" charset="0"/>
                <a:ea typeface="Open Sans" pitchFamily="34" charset="-122"/>
                <a:cs typeface="Open Sans" pitchFamily="34" charset="-120"/>
              </a:rPr>
              <a:t>Statuses include </a:t>
            </a:r>
            <a:r>
              <a:rPr lang="en-US" sz="1150" dirty="0">
                <a:highlight>
                  <a:srgbClr val="EEEDF2"/>
                </a:highlight>
                <a:latin typeface="Consolas" pitchFamily="34" charset="0"/>
                <a:ea typeface="Consolas" pitchFamily="34" charset="-122"/>
                <a:cs typeface="Consolas" pitchFamily="34" charset="-120"/>
              </a:rPr>
              <a:t>TAKEN</a:t>
            </a:r>
            <a:r>
              <a:rPr lang="en-US" sz="1150" dirty="0">
                <a:latin typeface="Open Sans" pitchFamily="34" charset="0"/>
                <a:ea typeface="Open Sans" pitchFamily="34" charset="-122"/>
                <a:cs typeface="Open Sans" pitchFamily="34" charset="-120"/>
              </a:rPr>
              <a:t>, </a:t>
            </a:r>
            <a:r>
              <a:rPr lang="en-US" sz="1150" dirty="0">
                <a:highlight>
                  <a:srgbClr val="EEEDF2"/>
                </a:highlight>
                <a:latin typeface="Consolas" pitchFamily="34" charset="0"/>
                <a:ea typeface="Consolas" pitchFamily="34" charset="-122"/>
                <a:cs typeface="Consolas" pitchFamily="34" charset="-120"/>
              </a:rPr>
              <a:t>MISSED</a:t>
            </a:r>
            <a:r>
              <a:rPr lang="en-US" sz="1150" dirty="0">
                <a:latin typeface="Open Sans" pitchFamily="34" charset="0"/>
                <a:ea typeface="Open Sans" pitchFamily="34" charset="-122"/>
                <a:cs typeface="Open Sans" pitchFamily="34" charset="-120"/>
              </a:rPr>
              <a:t>, </a:t>
            </a:r>
            <a:r>
              <a:rPr lang="en-US" sz="1150" dirty="0">
                <a:highlight>
                  <a:srgbClr val="EEEDF2"/>
                </a:highlight>
                <a:latin typeface="Consolas" pitchFamily="34" charset="0"/>
                <a:ea typeface="Consolas" pitchFamily="34" charset="-122"/>
                <a:cs typeface="Consolas" pitchFamily="34" charset="-120"/>
              </a:rPr>
              <a:t>SKIPPED</a:t>
            </a:r>
            <a:r>
              <a:rPr lang="en-US" sz="1150" dirty="0">
                <a:latin typeface="Open Sans" pitchFamily="34" charset="0"/>
                <a:ea typeface="Open Sans" pitchFamily="34" charset="-122"/>
                <a:cs typeface="Open Sans" pitchFamily="34" charset="-120"/>
              </a:rPr>
              <a:t>, or </a:t>
            </a:r>
            <a:r>
              <a:rPr lang="en-US" sz="1150" dirty="0">
                <a:highlight>
                  <a:srgbClr val="EEEDF2"/>
                </a:highlight>
                <a:latin typeface="Consolas" pitchFamily="34" charset="0"/>
                <a:ea typeface="Consolas" pitchFamily="34" charset="-122"/>
                <a:cs typeface="Consolas" pitchFamily="34" charset="-120"/>
              </a:rPr>
              <a:t>PENDING</a:t>
            </a:r>
            <a:r>
              <a:rPr lang="en-US" sz="1150" dirty="0">
                <a:latin typeface="Open Sans" pitchFamily="34" charset="0"/>
                <a:ea typeface="Open Sans" pitchFamily="34" charset="-122"/>
                <a:cs typeface="Open Sans" pitchFamily="34" charset="-120"/>
              </a:rPr>
              <a:t> to reflect patient actions.</a:t>
            </a:r>
            <a:endParaRPr lang="en-US" sz="1150" dirty="0"/>
          </a:p>
        </p:txBody>
      </p:sp>
      <p:sp>
        <p:nvSpPr>
          <p:cNvPr id="12" name="Shape 8"/>
          <p:cNvSpPr/>
          <p:nvPr/>
        </p:nvSpPr>
        <p:spPr>
          <a:xfrm>
            <a:off x="2266474" y="3421856"/>
            <a:ext cx="5001578" cy="438983"/>
          </a:xfrm>
          <a:prstGeom prst="roundRect">
            <a:avLst>
              <a:gd name="adj" fmla="val 480043"/>
            </a:avLst>
          </a:prstGeom>
          <a:solidFill>
            <a:srgbClr val="EAE8F3"/>
          </a:solidFill>
          <a:ln/>
        </p:spPr>
        <p:txBody>
          <a:bodyPr/>
          <a:lstStyle/>
          <a:p>
            <a:endParaRPr lang="en-IN"/>
          </a:p>
        </p:txBody>
      </p:sp>
      <p:pic>
        <p:nvPicPr>
          <p:cNvPr id="13"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57487" y="3531513"/>
            <a:ext cx="219432" cy="219432"/>
          </a:xfrm>
          <a:prstGeom prst="rect">
            <a:avLst/>
          </a:prstGeom>
        </p:spPr>
      </p:pic>
      <p:sp>
        <p:nvSpPr>
          <p:cNvPr id="14" name="Text 9"/>
          <p:cNvSpPr/>
          <p:nvPr/>
        </p:nvSpPr>
        <p:spPr>
          <a:xfrm>
            <a:off x="2412802" y="3955137"/>
            <a:ext cx="1829157" cy="228600"/>
          </a:xfrm>
          <a:prstGeom prst="rect">
            <a:avLst/>
          </a:prstGeom>
          <a:noFill/>
          <a:ln/>
        </p:spPr>
        <p:txBody>
          <a:bodyPr wrap="none" lIns="0" tIns="0" rIns="0" bIns="0" rtlCol="0" anchor="t"/>
          <a:lstStyle/>
          <a:p>
            <a:pPr marL="0" indent="0" algn="l">
              <a:lnSpc>
                <a:spcPts val="1800"/>
              </a:lnSpc>
              <a:buNone/>
            </a:pPr>
            <a:r>
              <a:rPr lang="en-US" sz="1400" dirty="0">
                <a:solidFill>
                  <a:srgbClr val="006699"/>
                </a:solidFill>
                <a:latin typeface="Libre Baskerville" pitchFamily="34" charset="0"/>
                <a:ea typeface="Libre Baskerville" pitchFamily="34" charset="-122"/>
                <a:cs typeface="Libre Baskerville" pitchFamily="34" charset="-120"/>
              </a:rPr>
              <a:t>Frontend Update</a:t>
            </a:r>
            <a:endParaRPr lang="en-US" sz="1400" dirty="0">
              <a:solidFill>
                <a:srgbClr val="006699"/>
              </a:solidFill>
            </a:endParaRPr>
          </a:p>
        </p:txBody>
      </p:sp>
      <p:sp>
        <p:nvSpPr>
          <p:cNvPr id="15" name="Text 10"/>
          <p:cNvSpPr/>
          <p:nvPr/>
        </p:nvSpPr>
        <p:spPr>
          <a:xfrm>
            <a:off x="2412802" y="4240292"/>
            <a:ext cx="4708922" cy="385048"/>
          </a:xfrm>
          <a:prstGeom prst="rect">
            <a:avLst/>
          </a:prstGeom>
          <a:noFill/>
          <a:ln/>
        </p:spPr>
        <p:txBody>
          <a:bodyPr wrap="square" lIns="0" tIns="0" rIns="0" bIns="0" rtlCol="0" anchor="t"/>
          <a:lstStyle/>
          <a:p>
            <a:pPr marL="0" indent="0" algn="l">
              <a:lnSpc>
                <a:spcPts val="1500"/>
              </a:lnSpc>
              <a:buNone/>
            </a:pPr>
            <a:r>
              <a:rPr lang="en-US" sz="1150" dirty="0">
                <a:latin typeface="Open Sans" pitchFamily="34" charset="0"/>
                <a:ea typeface="Open Sans" pitchFamily="34" charset="-122"/>
                <a:cs typeface="Open Sans" pitchFamily="34" charset="-120"/>
              </a:rPr>
              <a:t>Patients update status via a </a:t>
            </a:r>
            <a:r>
              <a:rPr lang="en-US" sz="1150" dirty="0">
                <a:highlight>
                  <a:srgbClr val="EEEDF2"/>
                </a:highlight>
                <a:latin typeface="Consolas" pitchFamily="34" charset="0"/>
                <a:ea typeface="Consolas" pitchFamily="34" charset="-122"/>
                <a:cs typeface="Consolas" pitchFamily="34" charset="-120"/>
              </a:rPr>
              <a:t>PATCH</a:t>
            </a:r>
            <a:r>
              <a:rPr lang="en-US" sz="1150" dirty="0">
                <a:latin typeface="Open Sans" pitchFamily="34" charset="0"/>
                <a:ea typeface="Open Sans" pitchFamily="34" charset="-122"/>
                <a:cs typeface="Open Sans" pitchFamily="34" charset="-120"/>
              </a:rPr>
              <a:t> request to </a:t>
            </a:r>
            <a:r>
              <a:rPr lang="en-US" sz="1150" dirty="0">
                <a:highlight>
                  <a:srgbClr val="EEEDF2"/>
                </a:highlight>
                <a:latin typeface="Consolas" pitchFamily="34" charset="0"/>
                <a:ea typeface="Consolas" pitchFamily="34" charset="-122"/>
                <a:cs typeface="Consolas" pitchFamily="34" charset="-120"/>
              </a:rPr>
              <a:t>/api/medications/intake/{logId}/status</a:t>
            </a:r>
            <a:r>
              <a:rPr lang="en-US" sz="1150" dirty="0">
                <a:latin typeface="Open Sans" pitchFamily="34" charset="0"/>
                <a:ea typeface="Open Sans" pitchFamily="34" charset="-122"/>
                <a:cs typeface="Open Sans" pitchFamily="34" charset="-120"/>
              </a:rPr>
              <a:t>.</a:t>
            </a:r>
            <a:endParaRPr lang="en-US" sz="1150" dirty="0"/>
          </a:p>
        </p:txBody>
      </p:sp>
      <p:sp>
        <p:nvSpPr>
          <p:cNvPr id="16" name="Shape 11"/>
          <p:cNvSpPr/>
          <p:nvPr/>
        </p:nvSpPr>
        <p:spPr>
          <a:xfrm>
            <a:off x="7362349" y="3421856"/>
            <a:ext cx="5001578" cy="438983"/>
          </a:xfrm>
          <a:prstGeom prst="roundRect">
            <a:avLst>
              <a:gd name="adj" fmla="val 480043"/>
            </a:avLst>
          </a:prstGeom>
          <a:solidFill>
            <a:srgbClr val="EAE8F3"/>
          </a:solidFill>
          <a:ln/>
        </p:spPr>
        <p:txBody>
          <a:bodyPr/>
          <a:lstStyle/>
          <a:p>
            <a:endParaRPr lang="en-IN"/>
          </a:p>
        </p:txBody>
      </p:sp>
      <p:pic>
        <p:nvPicPr>
          <p:cNvPr id="17"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753362" y="3531513"/>
            <a:ext cx="219432" cy="219432"/>
          </a:xfrm>
          <a:prstGeom prst="rect">
            <a:avLst/>
          </a:prstGeom>
        </p:spPr>
      </p:pic>
      <p:sp>
        <p:nvSpPr>
          <p:cNvPr id="18" name="Text 12"/>
          <p:cNvSpPr/>
          <p:nvPr/>
        </p:nvSpPr>
        <p:spPr>
          <a:xfrm>
            <a:off x="7508677" y="3955137"/>
            <a:ext cx="1849517" cy="228600"/>
          </a:xfrm>
          <a:prstGeom prst="rect">
            <a:avLst/>
          </a:prstGeom>
          <a:noFill/>
          <a:ln/>
        </p:spPr>
        <p:txBody>
          <a:bodyPr wrap="none" lIns="0" tIns="0" rIns="0" bIns="0" rtlCol="0" anchor="t"/>
          <a:lstStyle/>
          <a:p>
            <a:pPr marL="0" indent="0" algn="l">
              <a:lnSpc>
                <a:spcPts val="1800"/>
              </a:lnSpc>
              <a:buNone/>
            </a:pPr>
            <a:r>
              <a:rPr lang="en-US" sz="1400" dirty="0">
                <a:solidFill>
                  <a:srgbClr val="006699"/>
                </a:solidFill>
                <a:latin typeface="Libre Baskerville" pitchFamily="34" charset="0"/>
                <a:ea typeface="Libre Baskerville" pitchFamily="34" charset="-122"/>
                <a:cs typeface="Libre Baskerville" pitchFamily="34" charset="-120"/>
              </a:rPr>
              <a:t>Backend Processing</a:t>
            </a:r>
            <a:endParaRPr lang="en-US" sz="1400" dirty="0">
              <a:solidFill>
                <a:srgbClr val="006699"/>
              </a:solidFill>
            </a:endParaRPr>
          </a:p>
        </p:txBody>
      </p:sp>
      <p:sp>
        <p:nvSpPr>
          <p:cNvPr id="19" name="Text 13"/>
          <p:cNvSpPr/>
          <p:nvPr/>
        </p:nvSpPr>
        <p:spPr>
          <a:xfrm>
            <a:off x="7508677" y="4240292"/>
            <a:ext cx="4708922" cy="385048"/>
          </a:xfrm>
          <a:prstGeom prst="rect">
            <a:avLst/>
          </a:prstGeom>
          <a:noFill/>
          <a:ln/>
        </p:spPr>
        <p:txBody>
          <a:bodyPr wrap="square" lIns="0" tIns="0" rIns="0" bIns="0" rtlCol="0" anchor="t"/>
          <a:lstStyle/>
          <a:p>
            <a:pPr marL="0" indent="0" algn="l">
              <a:lnSpc>
                <a:spcPts val="1500"/>
              </a:lnSpc>
              <a:buNone/>
            </a:pPr>
            <a:r>
              <a:rPr lang="en-US" sz="1150" dirty="0">
                <a:latin typeface="Open Sans" pitchFamily="34" charset="0"/>
                <a:ea typeface="Open Sans" pitchFamily="34" charset="-122"/>
                <a:cs typeface="Open Sans" pitchFamily="34" charset="-120"/>
              </a:rPr>
              <a:t>The backend updates the specific intake record in the database, reflecting the change in status.</a:t>
            </a:r>
            <a:endParaRPr lang="en-US" sz="1150" dirty="0"/>
          </a:p>
        </p:txBody>
      </p:sp>
      <p:sp>
        <p:nvSpPr>
          <p:cNvPr id="20" name="Text 14"/>
          <p:cNvSpPr/>
          <p:nvPr/>
        </p:nvSpPr>
        <p:spPr>
          <a:xfrm>
            <a:off x="2266474" y="4877872"/>
            <a:ext cx="10097452" cy="192524"/>
          </a:xfrm>
          <a:prstGeom prst="rect">
            <a:avLst/>
          </a:prstGeom>
          <a:noFill/>
          <a:ln/>
        </p:spPr>
        <p:txBody>
          <a:bodyPr wrap="none" lIns="0" tIns="0" rIns="0" bIns="0" rtlCol="0" anchor="t"/>
          <a:lstStyle/>
          <a:p>
            <a:pPr marL="0" indent="0" algn="l">
              <a:lnSpc>
                <a:spcPts val="1500"/>
              </a:lnSpc>
              <a:buNone/>
            </a:pPr>
            <a:r>
              <a:rPr lang="en-US" sz="1400" dirty="0">
                <a:latin typeface="Open Sans" pitchFamily="34" charset="0"/>
                <a:ea typeface="Open Sans" pitchFamily="34" charset="-122"/>
                <a:cs typeface="Open Sans" pitchFamily="34" charset="-120"/>
              </a:rPr>
              <a:t>Adherence is calculated directly from these intake logs, providing a clear picture of patient compliance over time.</a:t>
            </a:r>
            <a:endParaRPr lang="en-US" sz="1400" dirty="0"/>
          </a:p>
        </p:txBody>
      </p:sp>
      <p:sp>
        <p:nvSpPr>
          <p:cNvPr id="21" name="Shape 15"/>
          <p:cNvSpPr/>
          <p:nvPr/>
        </p:nvSpPr>
        <p:spPr>
          <a:xfrm>
            <a:off x="2266474" y="5176599"/>
            <a:ext cx="5001578" cy="962858"/>
          </a:xfrm>
          <a:prstGeom prst="roundRect">
            <a:avLst>
              <a:gd name="adj" fmla="val 2280"/>
            </a:avLst>
          </a:prstGeom>
          <a:solidFill>
            <a:srgbClr val="EAE8F3"/>
          </a:solidFill>
          <a:ln/>
        </p:spPr>
        <p:txBody>
          <a:bodyPr/>
          <a:lstStyle/>
          <a:p>
            <a:endParaRPr lang="en-IN"/>
          </a:p>
        </p:txBody>
      </p:sp>
      <p:sp>
        <p:nvSpPr>
          <p:cNvPr id="22" name="Text 16"/>
          <p:cNvSpPr/>
          <p:nvPr/>
        </p:nvSpPr>
        <p:spPr>
          <a:xfrm>
            <a:off x="2412802" y="5322927"/>
            <a:ext cx="1829157" cy="228600"/>
          </a:xfrm>
          <a:prstGeom prst="rect">
            <a:avLst/>
          </a:prstGeom>
          <a:noFill/>
          <a:ln/>
        </p:spPr>
        <p:txBody>
          <a:bodyPr wrap="none" lIns="0" tIns="0" rIns="0" bIns="0" rtlCol="0" anchor="t"/>
          <a:lstStyle/>
          <a:p>
            <a:pPr marL="0" indent="0" algn="l">
              <a:lnSpc>
                <a:spcPts val="1800"/>
              </a:lnSpc>
              <a:buNone/>
            </a:pPr>
            <a:r>
              <a:rPr lang="en-US" sz="1400" dirty="0">
                <a:solidFill>
                  <a:srgbClr val="006699"/>
                </a:solidFill>
                <a:latin typeface="Libre Baskerville" pitchFamily="34" charset="0"/>
                <a:ea typeface="Libre Baskerville" pitchFamily="34" charset="-122"/>
                <a:cs typeface="Libre Baskerville" pitchFamily="34" charset="-120"/>
              </a:rPr>
              <a:t>Dashboard Insights</a:t>
            </a:r>
            <a:endParaRPr lang="en-US" sz="1400" dirty="0">
              <a:solidFill>
                <a:srgbClr val="006699"/>
              </a:solidFill>
            </a:endParaRPr>
          </a:p>
        </p:txBody>
      </p:sp>
      <p:sp>
        <p:nvSpPr>
          <p:cNvPr id="23" name="Text 17"/>
          <p:cNvSpPr/>
          <p:nvPr/>
        </p:nvSpPr>
        <p:spPr>
          <a:xfrm>
            <a:off x="2412802" y="5608082"/>
            <a:ext cx="4708922" cy="385048"/>
          </a:xfrm>
          <a:prstGeom prst="rect">
            <a:avLst/>
          </a:prstGeom>
          <a:noFill/>
          <a:ln/>
        </p:spPr>
        <p:txBody>
          <a:bodyPr wrap="square" lIns="0" tIns="0" rIns="0" bIns="0" rtlCol="0" anchor="t"/>
          <a:lstStyle/>
          <a:p>
            <a:pPr marL="0" indent="0" algn="l">
              <a:lnSpc>
                <a:spcPts val="1500"/>
              </a:lnSpc>
              <a:buNone/>
            </a:pPr>
            <a:r>
              <a:rPr lang="en-US" sz="1150" dirty="0">
                <a:latin typeface="Open Sans" pitchFamily="34" charset="0"/>
                <a:ea typeface="Open Sans" pitchFamily="34" charset="-122"/>
                <a:cs typeface="Open Sans" pitchFamily="34" charset="-120"/>
              </a:rPr>
              <a:t>The patient dashboard prominently displays key adherence metrics, helping patients stay on track.</a:t>
            </a:r>
            <a:endParaRPr lang="en-US" sz="1150" dirty="0"/>
          </a:p>
        </p:txBody>
      </p:sp>
      <p:sp>
        <p:nvSpPr>
          <p:cNvPr id="24" name="Shape 18"/>
          <p:cNvSpPr/>
          <p:nvPr/>
        </p:nvSpPr>
        <p:spPr>
          <a:xfrm>
            <a:off x="7362349" y="5176599"/>
            <a:ext cx="5001578" cy="962858"/>
          </a:xfrm>
          <a:prstGeom prst="roundRect">
            <a:avLst>
              <a:gd name="adj" fmla="val 2280"/>
            </a:avLst>
          </a:prstGeom>
          <a:solidFill>
            <a:srgbClr val="EAE8F3"/>
          </a:solidFill>
          <a:ln/>
        </p:spPr>
        <p:txBody>
          <a:bodyPr/>
          <a:lstStyle/>
          <a:p>
            <a:endParaRPr lang="en-IN"/>
          </a:p>
        </p:txBody>
      </p:sp>
      <p:sp>
        <p:nvSpPr>
          <p:cNvPr id="25" name="Text 19"/>
          <p:cNvSpPr/>
          <p:nvPr/>
        </p:nvSpPr>
        <p:spPr>
          <a:xfrm>
            <a:off x="7508677" y="5322927"/>
            <a:ext cx="1829157" cy="228600"/>
          </a:xfrm>
          <a:prstGeom prst="rect">
            <a:avLst/>
          </a:prstGeom>
          <a:noFill/>
          <a:ln/>
        </p:spPr>
        <p:txBody>
          <a:bodyPr wrap="none" lIns="0" tIns="0" rIns="0" bIns="0" rtlCol="0" anchor="t"/>
          <a:lstStyle/>
          <a:p>
            <a:pPr marL="0" indent="0" algn="l">
              <a:lnSpc>
                <a:spcPts val="1800"/>
              </a:lnSpc>
              <a:buNone/>
            </a:pPr>
            <a:r>
              <a:rPr lang="en-US" sz="1400" dirty="0">
                <a:solidFill>
                  <a:srgbClr val="006699"/>
                </a:solidFill>
                <a:latin typeface="Libre Baskerville" pitchFamily="34" charset="0"/>
                <a:ea typeface="Libre Baskerville" pitchFamily="34" charset="-122"/>
                <a:cs typeface="Libre Baskerville" pitchFamily="34" charset="-120"/>
              </a:rPr>
              <a:t>Daily Breakdown</a:t>
            </a:r>
            <a:endParaRPr lang="en-US" sz="1400" dirty="0">
              <a:solidFill>
                <a:srgbClr val="006699"/>
              </a:solidFill>
            </a:endParaRPr>
          </a:p>
        </p:txBody>
      </p:sp>
      <p:sp>
        <p:nvSpPr>
          <p:cNvPr id="26" name="Text 20"/>
          <p:cNvSpPr/>
          <p:nvPr/>
        </p:nvSpPr>
        <p:spPr>
          <a:xfrm>
            <a:off x="7508677" y="5608082"/>
            <a:ext cx="4708922" cy="385048"/>
          </a:xfrm>
          <a:prstGeom prst="rect">
            <a:avLst/>
          </a:prstGeom>
          <a:noFill/>
          <a:ln/>
        </p:spPr>
        <p:txBody>
          <a:bodyPr wrap="square" lIns="0" tIns="0" rIns="0" bIns="0" rtlCol="0" anchor="t"/>
          <a:lstStyle/>
          <a:p>
            <a:pPr marL="0" indent="0" algn="l">
              <a:lnSpc>
                <a:spcPts val="1500"/>
              </a:lnSpc>
              <a:buNone/>
            </a:pPr>
            <a:r>
              <a:rPr lang="en-US" sz="1150" dirty="0">
                <a:latin typeface="Open Sans" pitchFamily="34" charset="0"/>
                <a:ea typeface="Open Sans" pitchFamily="34" charset="-122"/>
                <a:cs typeface="Open Sans" pitchFamily="34" charset="-120"/>
              </a:rPr>
              <a:t>Counts for medications </a:t>
            </a:r>
            <a:r>
              <a:rPr lang="en-US" sz="1150" b="1" dirty="0">
                <a:latin typeface="Open Sans" pitchFamily="34" charset="0"/>
                <a:ea typeface="Open Sans" pitchFamily="34" charset="-122"/>
                <a:cs typeface="Open Sans" pitchFamily="34" charset="-120"/>
              </a:rPr>
              <a:t>taken</a:t>
            </a:r>
            <a:r>
              <a:rPr lang="en-US" sz="1150" dirty="0">
                <a:latin typeface="Open Sans" pitchFamily="34" charset="0"/>
                <a:ea typeface="Open Sans" pitchFamily="34" charset="-122"/>
                <a:cs typeface="Open Sans" pitchFamily="34" charset="-120"/>
              </a:rPr>
              <a:t>, </a:t>
            </a:r>
            <a:r>
              <a:rPr lang="en-US" sz="1150" b="1" dirty="0">
                <a:latin typeface="Open Sans" pitchFamily="34" charset="0"/>
                <a:ea typeface="Open Sans" pitchFamily="34" charset="-122"/>
                <a:cs typeface="Open Sans" pitchFamily="34" charset="-120"/>
              </a:rPr>
              <a:t>missed</a:t>
            </a:r>
            <a:r>
              <a:rPr lang="en-US" sz="1150" dirty="0">
                <a:latin typeface="Open Sans" pitchFamily="34" charset="0"/>
                <a:ea typeface="Open Sans" pitchFamily="34" charset="-122"/>
                <a:cs typeface="Open Sans" pitchFamily="34" charset="-120"/>
              </a:rPr>
              <a:t>, and </a:t>
            </a:r>
            <a:r>
              <a:rPr lang="en-US" sz="1150" b="1" dirty="0">
                <a:latin typeface="Open Sans" pitchFamily="34" charset="0"/>
                <a:ea typeface="Open Sans" pitchFamily="34" charset="-122"/>
                <a:cs typeface="Open Sans" pitchFamily="34" charset="-120"/>
              </a:rPr>
              <a:t>pending</a:t>
            </a:r>
            <a:r>
              <a:rPr lang="en-US" sz="1150" dirty="0">
                <a:latin typeface="Open Sans" pitchFamily="34" charset="0"/>
                <a:ea typeface="Open Sans" pitchFamily="34" charset="-122"/>
                <a:cs typeface="Open Sans" pitchFamily="34" charset="-120"/>
              </a:rPr>
              <a:t> for the current day are shown.</a:t>
            </a:r>
            <a:endParaRPr lang="en-US" sz="1150" dirty="0"/>
          </a:p>
        </p:txBody>
      </p:sp>
      <p:sp>
        <p:nvSpPr>
          <p:cNvPr id="27" name="Shape 21"/>
          <p:cNvSpPr/>
          <p:nvPr/>
        </p:nvSpPr>
        <p:spPr>
          <a:xfrm>
            <a:off x="2266474" y="6233755"/>
            <a:ext cx="5001578" cy="962858"/>
          </a:xfrm>
          <a:prstGeom prst="roundRect">
            <a:avLst>
              <a:gd name="adj" fmla="val 2280"/>
            </a:avLst>
          </a:prstGeom>
          <a:solidFill>
            <a:srgbClr val="EAE8F3"/>
          </a:solidFill>
          <a:ln/>
        </p:spPr>
        <p:txBody>
          <a:bodyPr/>
          <a:lstStyle/>
          <a:p>
            <a:endParaRPr lang="en-IN"/>
          </a:p>
        </p:txBody>
      </p:sp>
      <p:sp>
        <p:nvSpPr>
          <p:cNvPr id="28" name="Text 22"/>
          <p:cNvSpPr/>
          <p:nvPr/>
        </p:nvSpPr>
        <p:spPr>
          <a:xfrm>
            <a:off x="2412802" y="6380083"/>
            <a:ext cx="1829157" cy="228600"/>
          </a:xfrm>
          <a:prstGeom prst="rect">
            <a:avLst/>
          </a:prstGeom>
          <a:noFill/>
          <a:ln/>
        </p:spPr>
        <p:txBody>
          <a:bodyPr wrap="none" lIns="0" tIns="0" rIns="0" bIns="0" rtlCol="0" anchor="t"/>
          <a:lstStyle/>
          <a:p>
            <a:pPr marL="0" indent="0" algn="l">
              <a:lnSpc>
                <a:spcPts val="1800"/>
              </a:lnSpc>
              <a:buNone/>
            </a:pPr>
            <a:r>
              <a:rPr lang="en-US" sz="1400" dirty="0">
                <a:solidFill>
                  <a:srgbClr val="006699"/>
                </a:solidFill>
                <a:latin typeface="Libre Baskerville" pitchFamily="34" charset="0"/>
                <a:ea typeface="Libre Baskerville" pitchFamily="34" charset="-122"/>
                <a:cs typeface="Libre Baskerville" pitchFamily="34" charset="-120"/>
              </a:rPr>
              <a:t>Total Medications</a:t>
            </a:r>
            <a:endParaRPr lang="en-US" sz="1400" dirty="0">
              <a:solidFill>
                <a:srgbClr val="006699"/>
              </a:solidFill>
            </a:endParaRPr>
          </a:p>
        </p:txBody>
      </p:sp>
      <p:sp>
        <p:nvSpPr>
          <p:cNvPr id="29" name="Text 23"/>
          <p:cNvSpPr/>
          <p:nvPr/>
        </p:nvSpPr>
        <p:spPr>
          <a:xfrm>
            <a:off x="2412802" y="6665238"/>
            <a:ext cx="4708922" cy="192524"/>
          </a:xfrm>
          <a:prstGeom prst="rect">
            <a:avLst/>
          </a:prstGeom>
          <a:noFill/>
          <a:ln/>
        </p:spPr>
        <p:txBody>
          <a:bodyPr wrap="none" lIns="0" tIns="0" rIns="0" bIns="0" rtlCol="0" anchor="t"/>
          <a:lstStyle/>
          <a:p>
            <a:pPr marL="0" indent="0" algn="l">
              <a:lnSpc>
                <a:spcPts val="1500"/>
              </a:lnSpc>
              <a:buNone/>
            </a:pPr>
            <a:r>
              <a:rPr lang="en-US" sz="1150" dirty="0">
                <a:latin typeface="Open Sans" pitchFamily="34" charset="0"/>
                <a:ea typeface="Open Sans" pitchFamily="34" charset="-122"/>
                <a:cs typeface="Open Sans" pitchFamily="34" charset="-120"/>
              </a:rPr>
              <a:t>Total number of medications scheduled for the day is clearly visible.</a:t>
            </a:r>
            <a:endParaRPr lang="en-US" sz="1150" dirty="0"/>
          </a:p>
        </p:txBody>
      </p:sp>
      <p:sp>
        <p:nvSpPr>
          <p:cNvPr id="30" name="Shape 24"/>
          <p:cNvSpPr/>
          <p:nvPr/>
        </p:nvSpPr>
        <p:spPr>
          <a:xfrm>
            <a:off x="7362349" y="6233755"/>
            <a:ext cx="5001578" cy="962858"/>
          </a:xfrm>
          <a:prstGeom prst="roundRect">
            <a:avLst>
              <a:gd name="adj" fmla="val 2280"/>
            </a:avLst>
          </a:prstGeom>
          <a:solidFill>
            <a:srgbClr val="EAE8F3"/>
          </a:solidFill>
          <a:ln/>
        </p:spPr>
        <p:txBody>
          <a:bodyPr/>
          <a:lstStyle/>
          <a:p>
            <a:endParaRPr lang="en-IN"/>
          </a:p>
        </p:txBody>
      </p:sp>
      <p:sp>
        <p:nvSpPr>
          <p:cNvPr id="31" name="Text 25"/>
          <p:cNvSpPr/>
          <p:nvPr/>
        </p:nvSpPr>
        <p:spPr>
          <a:xfrm>
            <a:off x="7508677" y="6380083"/>
            <a:ext cx="1829157" cy="228600"/>
          </a:xfrm>
          <a:prstGeom prst="rect">
            <a:avLst/>
          </a:prstGeom>
          <a:noFill/>
          <a:ln/>
        </p:spPr>
        <p:txBody>
          <a:bodyPr wrap="none" lIns="0" tIns="0" rIns="0" bIns="0" rtlCol="0" anchor="t"/>
          <a:lstStyle/>
          <a:p>
            <a:pPr marL="0" indent="0" algn="l">
              <a:lnSpc>
                <a:spcPts val="1800"/>
              </a:lnSpc>
              <a:buNone/>
            </a:pPr>
            <a:r>
              <a:rPr lang="en-US" sz="1400" dirty="0">
                <a:solidFill>
                  <a:srgbClr val="006699"/>
                </a:solidFill>
                <a:latin typeface="Libre Baskerville" pitchFamily="34" charset="0"/>
                <a:ea typeface="Libre Baskerville" pitchFamily="34" charset="-122"/>
                <a:cs typeface="Libre Baskerville" pitchFamily="34" charset="-120"/>
              </a:rPr>
              <a:t>Adherence Rate</a:t>
            </a:r>
            <a:endParaRPr lang="en-US" sz="1400" dirty="0">
              <a:solidFill>
                <a:srgbClr val="006699"/>
              </a:solidFill>
            </a:endParaRPr>
          </a:p>
        </p:txBody>
      </p:sp>
      <p:sp>
        <p:nvSpPr>
          <p:cNvPr id="32" name="Text 26"/>
          <p:cNvSpPr/>
          <p:nvPr/>
        </p:nvSpPr>
        <p:spPr>
          <a:xfrm>
            <a:off x="7508677" y="6665238"/>
            <a:ext cx="4708922" cy="385048"/>
          </a:xfrm>
          <a:prstGeom prst="rect">
            <a:avLst/>
          </a:prstGeom>
          <a:noFill/>
          <a:ln/>
        </p:spPr>
        <p:txBody>
          <a:bodyPr wrap="square" lIns="0" tIns="0" rIns="0" bIns="0" rtlCol="0" anchor="t"/>
          <a:lstStyle/>
          <a:p>
            <a:pPr marL="0" indent="0" algn="l">
              <a:lnSpc>
                <a:spcPts val="1500"/>
              </a:lnSpc>
              <a:buNone/>
            </a:pPr>
            <a:r>
              <a:rPr lang="en-US" sz="1150" dirty="0">
                <a:latin typeface="Open Sans" pitchFamily="34" charset="0"/>
                <a:ea typeface="Open Sans" pitchFamily="34" charset="-122"/>
                <a:cs typeface="Open Sans" pitchFamily="34" charset="-120"/>
              </a:rPr>
              <a:t>An overall adherence rate is calculated and displayed, offering a quick performance indicator.</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1976199" y="993338"/>
            <a:ext cx="3868817" cy="483513"/>
          </a:xfrm>
          <a:prstGeom prst="rect">
            <a:avLst/>
          </a:prstGeom>
          <a:noFill/>
          <a:ln/>
        </p:spPr>
        <p:txBody>
          <a:bodyPr wrap="none" lIns="0" tIns="0" rIns="0" bIns="0" rtlCol="0" anchor="t"/>
          <a:lstStyle/>
          <a:p>
            <a:pPr marL="0" indent="0" algn="l">
              <a:lnSpc>
                <a:spcPts val="3800"/>
              </a:lnSpc>
              <a:buNone/>
            </a:pPr>
            <a:r>
              <a:rPr lang="en-US" sz="3000" dirty="0">
                <a:solidFill>
                  <a:srgbClr val="194178"/>
                </a:solidFill>
                <a:latin typeface="Libre Baskerville" pitchFamily="34" charset="0"/>
                <a:ea typeface="Libre Baskerville" pitchFamily="34" charset="-122"/>
                <a:cs typeface="Libre Baskerville" pitchFamily="34" charset="-120"/>
              </a:rPr>
              <a:t>Vitals Module</a:t>
            </a:r>
            <a:endParaRPr lang="en-US" sz="3000" dirty="0">
              <a:solidFill>
                <a:srgbClr val="194178"/>
              </a:solidFill>
            </a:endParaRPr>
          </a:p>
        </p:txBody>
      </p:sp>
      <p:sp>
        <p:nvSpPr>
          <p:cNvPr id="3" name="Text 1"/>
          <p:cNvSpPr/>
          <p:nvPr/>
        </p:nvSpPr>
        <p:spPr>
          <a:xfrm>
            <a:off x="1976199" y="1687949"/>
            <a:ext cx="10677882" cy="416481"/>
          </a:xfrm>
          <a:prstGeom prst="rect">
            <a:avLst/>
          </a:prstGeom>
          <a:noFill/>
          <a:ln/>
        </p:spPr>
        <p:txBody>
          <a:bodyPr wrap="square" lIns="0" tIns="0" rIns="0" bIns="0" rtlCol="0" anchor="t"/>
          <a:lstStyle/>
          <a:p>
            <a:pPr marL="0" indent="0" algn="l">
              <a:lnSpc>
                <a:spcPts val="1600"/>
              </a:lnSpc>
              <a:buNone/>
            </a:pPr>
            <a:r>
              <a:rPr lang="en-US" sz="1600" dirty="0">
                <a:latin typeface="Open Sans" pitchFamily="34" charset="0"/>
                <a:ea typeface="Open Sans" pitchFamily="34" charset="-122"/>
                <a:cs typeface="Open Sans" pitchFamily="34" charset="-120"/>
              </a:rPr>
              <a:t>The Vitals Module transforms MedLink into a comprehensive personal health monitoring application by allowing patients to track key health metrics and receive actionable insights.</a:t>
            </a:r>
            <a:endParaRPr lang="en-US" sz="1600" dirty="0"/>
          </a:p>
        </p:txBody>
      </p:sp>
      <p:sp>
        <p:nvSpPr>
          <p:cNvPr id="4" name="Shape 2"/>
          <p:cNvSpPr/>
          <p:nvPr/>
        </p:nvSpPr>
        <p:spPr>
          <a:xfrm>
            <a:off x="1976199" y="2223135"/>
            <a:ext cx="10677882" cy="1491734"/>
          </a:xfrm>
          <a:prstGeom prst="roundRect">
            <a:avLst>
              <a:gd name="adj" fmla="val 1556"/>
            </a:avLst>
          </a:prstGeom>
          <a:solidFill>
            <a:srgbClr val="FBFAFF"/>
          </a:solidFill>
          <a:ln w="22860">
            <a:solidFill>
              <a:srgbClr val="D0CED9"/>
            </a:solidFill>
            <a:prstDash val="solid"/>
          </a:ln>
        </p:spPr>
        <p:txBody>
          <a:bodyPr/>
          <a:lstStyle/>
          <a:p>
            <a:endParaRPr lang="en-IN"/>
          </a:p>
        </p:txBody>
      </p:sp>
      <p:sp>
        <p:nvSpPr>
          <p:cNvPr id="5" name="Shape 3"/>
          <p:cNvSpPr/>
          <p:nvPr/>
        </p:nvSpPr>
        <p:spPr>
          <a:xfrm>
            <a:off x="1999059" y="2245995"/>
            <a:ext cx="10632162" cy="464225"/>
          </a:xfrm>
          <a:prstGeom prst="rect">
            <a:avLst/>
          </a:prstGeom>
          <a:solidFill>
            <a:srgbClr val="EAE8F3"/>
          </a:solidFill>
          <a:ln/>
        </p:spPr>
        <p:txBody>
          <a:bodyPr/>
          <a:lstStyle/>
          <a:p>
            <a:endParaRPr lang="en-IN"/>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9114" y="2362081"/>
            <a:ext cx="232053" cy="232053"/>
          </a:xfrm>
          <a:prstGeom prst="rect">
            <a:avLst/>
          </a:prstGeom>
        </p:spPr>
      </p:pic>
      <p:sp>
        <p:nvSpPr>
          <p:cNvPr id="7" name="Text 4"/>
          <p:cNvSpPr/>
          <p:nvPr/>
        </p:nvSpPr>
        <p:spPr>
          <a:xfrm>
            <a:off x="2153722" y="2815709"/>
            <a:ext cx="1934408" cy="241816"/>
          </a:xfrm>
          <a:prstGeom prst="rect">
            <a:avLst/>
          </a:prstGeom>
          <a:noFill/>
          <a:ln/>
        </p:spPr>
        <p:txBody>
          <a:bodyPr wrap="none" lIns="0" tIns="0" rIns="0" bIns="0" rtlCol="0" anchor="t"/>
          <a:lstStyle/>
          <a:p>
            <a:pPr marL="0" indent="0" algn="l">
              <a:lnSpc>
                <a:spcPts val="1900"/>
              </a:lnSpc>
              <a:buNone/>
            </a:pPr>
            <a:r>
              <a:rPr lang="en-US" sz="1500" dirty="0">
                <a:solidFill>
                  <a:srgbClr val="006699"/>
                </a:solidFill>
                <a:latin typeface="Libre Baskerville" pitchFamily="34" charset="0"/>
                <a:ea typeface="Libre Baskerville" pitchFamily="34" charset="-122"/>
                <a:cs typeface="Libre Baskerville" pitchFamily="34" charset="-120"/>
              </a:rPr>
              <a:t>Metric Tracking</a:t>
            </a:r>
            <a:endParaRPr lang="en-US" sz="1500" dirty="0">
              <a:solidFill>
                <a:srgbClr val="006699"/>
              </a:solidFill>
            </a:endParaRPr>
          </a:p>
        </p:txBody>
      </p:sp>
      <p:sp>
        <p:nvSpPr>
          <p:cNvPr id="8" name="Text 5"/>
          <p:cNvSpPr/>
          <p:nvPr/>
        </p:nvSpPr>
        <p:spPr>
          <a:xfrm>
            <a:off x="2153722" y="3120866"/>
            <a:ext cx="10322838" cy="416481"/>
          </a:xfrm>
          <a:prstGeom prst="rect">
            <a:avLst/>
          </a:prstGeom>
          <a:noFill/>
          <a:ln/>
        </p:spPr>
        <p:txBody>
          <a:bodyPr wrap="square" lIns="0" tIns="0" rIns="0" bIns="0" rtlCol="0" anchor="t"/>
          <a:lstStyle/>
          <a:p>
            <a:pPr marL="0" indent="0" algn="l">
              <a:lnSpc>
                <a:spcPts val="1600"/>
              </a:lnSpc>
              <a:buNone/>
            </a:pPr>
            <a:r>
              <a:rPr lang="en-US" sz="1200" dirty="0">
                <a:latin typeface="Open Sans" pitchFamily="34" charset="0"/>
                <a:ea typeface="Open Sans" pitchFamily="34" charset="-122"/>
                <a:cs typeface="Open Sans" pitchFamily="34" charset="-120"/>
              </a:rPr>
              <a:t>Patients can diligently record various health metrics including blood pressure, heart rate, glucose levels, stress, body temperature, oxygen saturation, and weight.</a:t>
            </a:r>
            <a:endParaRPr lang="en-US" sz="1200" dirty="0"/>
          </a:p>
        </p:txBody>
      </p:sp>
      <p:sp>
        <p:nvSpPr>
          <p:cNvPr id="9" name="Shape 6"/>
          <p:cNvSpPr/>
          <p:nvPr/>
        </p:nvSpPr>
        <p:spPr>
          <a:xfrm>
            <a:off x="1976199" y="3820358"/>
            <a:ext cx="10677882" cy="1283494"/>
          </a:xfrm>
          <a:prstGeom prst="roundRect">
            <a:avLst>
              <a:gd name="adj" fmla="val 1809"/>
            </a:avLst>
          </a:prstGeom>
          <a:solidFill>
            <a:srgbClr val="FBFAFF"/>
          </a:solidFill>
          <a:ln w="22860">
            <a:solidFill>
              <a:srgbClr val="D0CED9"/>
            </a:solidFill>
            <a:prstDash val="solid"/>
          </a:ln>
        </p:spPr>
        <p:txBody>
          <a:bodyPr/>
          <a:lstStyle/>
          <a:p>
            <a:endParaRPr lang="en-IN"/>
          </a:p>
        </p:txBody>
      </p:sp>
      <p:sp>
        <p:nvSpPr>
          <p:cNvPr id="10" name="Shape 7"/>
          <p:cNvSpPr/>
          <p:nvPr/>
        </p:nvSpPr>
        <p:spPr>
          <a:xfrm>
            <a:off x="1999059" y="3843218"/>
            <a:ext cx="10632162" cy="464225"/>
          </a:xfrm>
          <a:prstGeom prst="rect">
            <a:avLst/>
          </a:prstGeom>
          <a:solidFill>
            <a:srgbClr val="EAE8F3"/>
          </a:solidFill>
          <a:ln/>
        </p:spPr>
        <p:txBody>
          <a:bodyPr/>
          <a:lstStyle/>
          <a:p>
            <a:endParaRPr lang="en-IN"/>
          </a:p>
        </p:txBody>
      </p:sp>
      <p:pic>
        <p:nvPicPr>
          <p:cNvPr id="11"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99114" y="3959304"/>
            <a:ext cx="232053" cy="232053"/>
          </a:xfrm>
          <a:prstGeom prst="rect">
            <a:avLst/>
          </a:prstGeom>
        </p:spPr>
      </p:pic>
      <p:sp>
        <p:nvSpPr>
          <p:cNvPr id="12" name="Text 8"/>
          <p:cNvSpPr/>
          <p:nvPr/>
        </p:nvSpPr>
        <p:spPr>
          <a:xfrm>
            <a:off x="2153722" y="4412933"/>
            <a:ext cx="1934408" cy="241816"/>
          </a:xfrm>
          <a:prstGeom prst="rect">
            <a:avLst/>
          </a:prstGeom>
          <a:noFill/>
          <a:ln/>
        </p:spPr>
        <p:txBody>
          <a:bodyPr wrap="none" lIns="0" tIns="0" rIns="0" bIns="0" rtlCol="0" anchor="t"/>
          <a:lstStyle/>
          <a:p>
            <a:pPr marL="0" indent="0" algn="l">
              <a:lnSpc>
                <a:spcPts val="1900"/>
              </a:lnSpc>
              <a:buNone/>
            </a:pPr>
            <a:r>
              <a:rPr lang="en-US" sz="1500" dirty="0">
                <a:solidFill>
                  <a:srgbClr val="006699"/>
                </a:solidFill>
                <a:latin typeface="Libre Baskerville" pitchFamily="34" charset="0"/>
                <a:ea typeface="Libre Baskerville" pitchFamily="34" charset="-122"/>
                <a:cs typeface="Libre Baskerville" pitchFamily="34" charset="-120"/>
              </a:rPr>
              <a:t>Intelligent Status</a:t>
            </a:r>
            <a:endParaRPr lang="en-US" sz="1500" dirty="0">
              <a:solidFill>
                <a:srgbClr val="006699"/>
              </a:solidFill>
            </a:endParaRPr>
          </a:p>
        </p:txBody>
      </p:sp>
      <p:sp>
        <p:nvSpPr>
          <p:cNvPr id="13" name="Text 9"/>
          <p:cNvSpPr/>
          <p:nvPr/>
        </p:nvSpPr>
        <p:spPr>
          <a:xfrm>
            <a:off x="2153722" y="4718090"/>
            <a:ext cx="10322838" cy="208240"/>
          </a:xfrm>
          <a:prstGeom prst="rect">
            <a:avLst/>
          </a:prstGeom>
          <a:noFill/>
          <a:ln/>
        </p:spPr>
        <p:txBody>
          <a:bodyPr wrap="none" lIns="0" tIns="0" rIns="0" bIns="0" rtlCol="0" anchor="t"/>
          <a:lstStyle/>
          <a:p>
            <a:pPr marL="0" indent="0" algn="l">
              <a:lnSpc>
                <a:spcPts val="1600"/>
              </a:lnSpc>
              <a:buNone/>
            </a:pPr>
            <a:r>
              <a:rPr lang="en-US" sz="1200" dirty="0">
                <a:latin typeface="Open Sans" pitchFamily="34" charset="0"/>
                <a:ea typeface="Open Sans" pitchFamily="34" charset="-122"/>
                <a:cs typeface="Open Sans" pitchFamily="34" charset="-120"/>
              </a:rPr>
              <a:t>The backend automatically processes recorded vitals to calculate and assign an overall status, categorising it as NORMAL, ELEVATED, or HIGH.</a:t>
            </a:r>
            <a:endParaRPr lang="en-US" sz="1200" dirty="0"/>
          </a:p>
        </p:txBody>
      </p:sp>
      <p:sp>
        <p:nvSpPr>
          <p:cNvPr id="14" name="Shape 10"/>
          <p:cNvSpPr/>
          <p:nvPr/>
        </p:nvSpPr>
        <p:spPr>
          <a:xfrm>
            <a:off x="1976199" y="5209342"/>
            <a:ext cx="10677882" cy="1491734"/>
          </a:xfrm>
          <a:prstGeom prst="roundRect">
            <a:avLst>
              <a:gd name="adj" fmla="val 1556"/>
            </a:avLst>
          </a:prstGeom>
          <a:solidFill>
            <a:srgbClr val="FBFAFF"/>
          </a:solidFill>
          <a:ln w="22860">
            <a:solidFill>
              <a:srgbClr val="D0CED9"/>
            </a:solidFill>
            <a:prstDash val="solid"/>
          </a:ln>
        </p:spPr>
        <p:txBody>
          <a:bodyPr/>
          <a:lstStyle/>
          <a:p>
            <a:endParaRPr lang="en-IN"/>
          </a:p>
        </p:txBody>
      </p:sp>
      <p:sp>
        <p:nvSpPr>
          <p:cNvPr id="15" name="Shape 11"/>
          <p:cNvSpPr/>
          <p:nvPr/>
        </p:nvSpPr>
        <p:spPr>
          <a:xfrm>
            <a:off x="1999059" y="5232202"/>
            <a:ext cx="10632162" cy="464225"/>
          </a:xfrm>
          <a:prstGeom prst="rect">
            <a:avLst/>
          </a:prstGeom>
          <a:solidFill>
            <a:srgbClr val="EAE8F3"/>
          </a:solidFill>
          <a:ln/>
        </p:spPr>
        <p:txBody>
          <a:bodyPr/>
          <a:lstStyle/>
          <a:p>
            <a:endParaRPr lang="en-IN"/>
          </a:p>
        </p:txBody>
      </p:sp>
      <p:pic>
        <p:nvPicPr>
          <p:cNvPr id="16"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99114" y="5348287"/>
            <a:ext cx="232053" cy="232053"/>
          </a:xfrm>
          <a:prstGeom prst="rect">
            <a:avLst/>
          </a:prstGeom>
        </p:spPr>
      </p:pic>
      <p:sp>
        <p:nvSpPr>
          <p:cNvPr id="17" name="Text 12"/>
          <p:cNvSpPr/>
          <p:nvPr/>
        </p:nvSpPr>
        <p:spPr>
          <a:xfrm>
            <a:off x="2153722" y="5801916"/>
            <a:ext cx="2388632" cy="241816"/>
          </a:xfrm>
          <a:prstGeom prst="rect">
            <a:avLst/>
          </a:prstGeom>
          <a:noFill/>
          <a:ln/>
        </p:spPr>
        <p:txBody>
          <a:bodyPr wrap="none" lIns="0" tIns="0" rIns="0" bIns="0" rtlCol="0" anchor="t"/>
          <a:lstStyle/>
          <a:p>
            <a:pPr marL="0" indent="0" algn="l">
              <a:lnSpc>
                <a:spcPts val="1900"/>
              </a:lnSpc>
              <a:buNone/>
            </a:pPr>
            <a:r>
              <a:rPr lang="en-US" sz="1500" dirty="0">
                <a:solidFill>
                  <a:srgbClr val="006699"/>
                </a:solidFill>
                <a:latin typeface="Libre Baskerville" pitchFamily="34" charset="0"/>
                <a:ea typeface="Libre Baskerville" pitchFamily="34" charset="-122"/>
                <a:cs typeface="Libre Baskerville" pitchFamily="34" charset="-120"/>
              </a:rPr>
              <a:t>Dashboard Visualisation</a:t>
            </a:r>
            <a:endParaRPr lang="en-US" sz="1500" dirty="0">
              <a:solidFill>
                <a:srgbClr val="006699"/>
              </a:solidFill>
            </a:endParaRPr>
          </a:p>
        </p:txBody>
      </p:sp>
      <p:sp>
        <p:nvSpPr>
          <p:cNvPr id="18" name="Text 13"/>
          <p:cNvSpPr/>
          <p:nvPr/>
        </p:nvSpPr>
        <p:spPr>
          <a:xfrm>
            <a:off x="2153722" y="6107073"/>
            <a:ext cx="10322838" cy="416481"/>
          </a:xfrm>
          <a:prstGeom prst="rect">
            <a:avLst/>
          </a:prstGeom>
          <a:noFill/>
          <a:ln/>
        </p:spPr>
        <p:txBody>
          <a:bodyPr wrap="square" lIns="0" tIns="0" rIns="0" bIns="0" rtlCol="0" anchor="t"/>
          <a:lstStyle/>
          <a:p>
            <a:pPr marL="0" indent="0" algn="l">
              <a:lnSpc>
                <a:spcPts val="1600"/>
              </a:lnSpc>
              <a:buNone/>
            </a:pPr>
            <a:r>
              <a:rPr lang="en-US" sz="1200" dirty="0">
                <a:latin typeface="Open Sans" pitchFamily="34" charset="0"/>
                <a:ea typeface="Open Sans" pitchFamily="34" charset="-122"/>
                <a:cs typeface="Open Sans" pitchFamily="34" charset="-120"/>
              </a:rPr>
              <a:t>Dedicated vitals summary and trend endpoints facilitate a clear dashboard-style viewing experience, empowering patients to monitor their health progression.</a:t>
            </a:r>
            <a:endParaRPr lang="en-US" sz="1200" dirty="0"/>
          </a:p>
        </p:txBody>
      </p:sp>
      <p:sp>
        <p:nvSpPr>
          <p:cNvPr id="19" name="Text 14"/>
          <p:cNvSpPr/>
          <p:nvPr/>
        </p:nvSpPr>
        <p:spPr>
          <a:xfrm>
            <a:off x="1976199" y="6819781"/>
            <a:ext cx="10677882" cy="416481"/>
          </a:xfrm>
          <a:prstGeom prst="rect">
            <a:avLst/>
          </a:prstGeom>
          <a:noFill/>
          <a:ln/>
        </p:spPr>
        <p:txBody>
          <a:bodyPr wrap="square" lIns="0" tIns="0" rIns="0" bIns="0" rtlCol="0" anchor="t"/>
          <a:lstStyle/>
          <a:p>
            <a:pPr marL="0" indent="0" algn="l">
              <a:lnSpc>
                <a:spcPts val="1600"/>
              </a:lnSpc>
              <a:buNone/>
            </a:pPr>
            <a:r>
              <a:rPr lang="en-US" sz="1200" dirty="0">
                <a:latin typeface="Open Sans" pitchFamily="34" charset="0"/>
                <a:ea typeface="Open Sans" pitchFamily="34" charset="-122"/>
                <a:cs typeface="Open Sans" pitchFamily="34" charset="-120"/>
              </a:rPr>
              <a:t>This functionality elevates MedLink beyond a mere medication tracker, establishing it as an essential personal health monitoring companion for proactive health management.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869795" y="522633"/>
            <a:ext cx="6266985" cy="536734"/>
          </a:xfrm>
          <a:prstGeom prst="rect">
            <a:avLst/>
          </a:prstGeom>
          <a:noFill/>
          <a:ln/>
        </p:spPr>
        <p:txBody>
          <a:bodyPr wrap="none" lIns="0" tIns="0" rIns="0" bIns="0" rtlCol="0" anchor="t"/>
          <a:lstStyle/>
          <a:p>
            <a:pPr marL="0" indent="0" algn="l">
              <a:lnSpc>
                <a:spcPts val="2750"/>
              </a:lnSpc>
              <a:buNone/>
            </a:pPr>
            <a:r>
              <a:rPr lang="en-US" sz="2200" dirty="0">
                <a:solidFill>
                  <a:srgbClr val="194178"/>
                </a:solidFill>
                <a:latin typeface="Libre Baskerville" pitchFamily="34" charset="0"/>
                <a:ea typeface="Libre Baskerville" pitchFamily="34" charset="-122"/>
                <a:cs typeface="Libre Baskerville" pitchFamily="34" charset="-120"/>
              </a:rPr>
              <a:t>Key Features &amp; Technical Enhancements</a:t>
            </a:r>
            <a:endParaRPr lang="en-US" sz="2200" dirty="0">
              <a:solidFill>
                <a:srgbClr val="194178"/>
              </a:solidFill>
            </a:endParaRPr>
          </a:p>
        </p:txBody>
      </p:sp>
      <p:sp>
        <p:nvSpPr>
          <p:cNvPr id="3" name="Shape 1"/>
          <p:cNvSpPr/>
          <p:nvPr/>
        </p:nvSpPr>
        <p:spPr>
          <a:xfrm>
            <a:off x="1237786" y="1100921"/>
            <a:ext cx="2570678" cy="1965664"/>
          </a:xfrm>
          <a:prstGeom prst="roundRect">
            <a:avLst>
              <a:gd name="adj" fmla="val 1324"/>
            </a:avLst>
          </a:prstGeom>
          <a:solidFill>
            <a:srgbClr val="FBFAFF"/>
          </a:solidFill>
          <a:ln w="15240">
            <a:solidFill>
              <a:srgbClr val="D0CED9"/>
            </a:solidFill>
            <a:prstDash val="solid"/>
          </a:ln>
        </p:spPr>
        <p:txBody>
          <a:bodyPr/>
          <a:lstStyle/>
          <a:p>
            <a:r>
              <a:rPr lang="en-US" sz="2000" dirty="0">
                <a:solidFill>
                  <a:srgbClr val="006699"/>
                </a:solidFill>
              </a:rPr>
              <a:t>Adherence Monitoring</a:t>
            </a:r>
          </a:p>
          <a:p>
            <a:endParaRPr lang="en-US" sz="1200" dirty="0"/>
          </a:p>
          <a:p>
            <a:r>
              <a:rPr lang="en-US" sz="1350" dirty="0"/>
              <a:t>Implements a robust logic layer that aggregates intake logs. It computes metrics for taken, missed, and pending doses, calculating adherence percentage via a weighted algorithm stored in the user profile state.</a:t>
            </a:r>
            <a:endParaRPr lang="en-IN" sz="1350" dirty="0"/>
          </a:p>
        </p:txBody>
      </p:sp>
      <p:sp>
        <p:nvSpPr>
          <p:cNvPr id="4" name="Text 2"/>
          <p:cNvSpPr/>
          <p:nvPr/>
        </p:nvSpPr>
        <p:spPr>
          <a:xfrm>
            <a:off x="3531037" y="2419231"/>
            <a:ext cx="1657945" cy="177165"/>
          </a:xfrm>
          <a:prstGeom prst="rect">
            <a:avLst/>
          </a:prstGeom>
          <a:noFill/>
          <a:ln/>
        </p:spPr>
        <p:txBody>
          <a:bodyPr wrap="none" lIns="0" tIns="0" rIns="0" bIns="0" rtlCol="0" anchor="t"/>
          <a:lstStyle/>
          <a:p>
            <a:pPr marL="0" indent="0" algn="l">
              <a:lnSpc>
                <a:spcPts val="1350"/>
              </a:lnSpc>
              <a:buNone/>
            </a:pPr>
            <a:endParaRPr lang="en-US" sz="1100" dirty="0"/>
          </a:p>
        </p:txBody>
      </p:sp>
      <p:sp>
        <p:nvSpPr>
          <p:cNvPr id="5" name="Text 3"/>
          <p:cNvSpPr/>
          <p:nvPr/>
        </p:nvSpPr>
        <p:spPr>
          <a:xfrm>
            <a:off x="3531037" y="2630329"/>
            <a:ext cx="2313503" cy="816531"/>
          </a:xfrm>
          <a:prstGeom prst="rect">
            <a:avLst/>
          </a:prstGeom>
          <a:noFill/>
          <a:ln/>
        </p:spPr>
        <p:txBody>
          <a:bodyPr wrap="square" lIns="0" tIns="0" rIns="0" bIns="0" rtlCol="0" anchor="t"/>
          <a:lstStyle/>
          <a:p>
            <a:pPr marL="0" indent="0" algn="l">
              <a:lnSpc>
                <a:spcPts val="1050"/>
              </a:lnSpc>
              <a:buNone/>
            </a:pPr>
            <a:endParaRPr lang="en-US" sz="850" dirty="0"/>
          </a:p>
        </p:txBody>
      </p:sp>
      <p:sp>
        <p:nvSpPr>
          <p:cNvPr id="6" name="Shape 4"/>
          <p:cNvSpPr/>
          <p:nvPr/>
        </p:nvSpPr>
        <p:spPr>
          <a:xfrm>
            <a:off x="3993725" y="1100922"/>
            <a:ext cx="2820222" cy="1965664"/>
          </a:xfrm>
          <a:prstGeom prst="roundRect">
            <a:avLst>
              <a:gd name="adj" fmla="val 1324"/>
            </a:avLst>
          </a:prstGeom>
          <a:solidFill>
            <a:srgbClr val="FBFAFF"/>
          </a:solidFill>
          <a:ln w="15240">
            <a:solidFill>
              <a:srgbClr val="D0CED9"/>
            </a:solidFill>
            <a:prstDash val="solid"/>
          </a:ln>
        </p:spPr>
        <p:txBody>
          <a:bodyPr/>
          <a:lstStyle/>
          <a:p>
            <a:r>
              <a:rPr lang="en-US" sz="2000" dirty="0">
                <a:solidFill>
                  <a:srgbClr val="006699"/>
                </a:solidFill>
              </a:rPr>
              <a:t>Vitals Module</a:t>
            </a:r>
          </a:p>
          <a:p>
            <a:endParaRPr lang="en-US" sz="1200" dirty="0"/>
          </a:p>
          <a:p>
            <a:r>
              <a:rPr lang="en-US" sz="1300" dirty="0"/>
              <a:t>Uses a schema-validated model to ingest health metrics. The backend processes these against clinical thresholds to dynamically assign status classifications (NORMAL, ELEVATED, HIGH) using event-driven status updates.</a:t>
            </a:r>
            <a:endParaRPr lang="en-IN" sz="1300" dirty="0"/>
          </a:p>
        </p:txBody>
      </p:sp>
      <p:sp>
        <p:nvSpPr>
          <p:cNvPr id="7" name="Text 5"/>
          <p:cNvSpPr/>
          <p:nvPr/>
        </p:nvSpPr>
        <p:spPr>
          <a:xfrm>
            <a:off x="6158389" y="2419231"/>
            <a:ext cx="1417558" cy="177165"/>
          </a:xfrm>
          <a:prstGeom prst="rect">
            <a:avLst/>
          </a:prstGeom>
          <a:noFill/>
          <a:ln/>
        </p:spPr>
        <p:txBody>
          <a:bodyPr wrap="none" lIns="0" tIns="0" rIns="0" bIns="0" rtlCol="0" anchor="t"/>
          <a:lstStyle/>
          <a:p>
            <a:pPr marL="0" indent="0" algn="l">
              <a:lnSpc>
                <a:spcPts val="1350"/>
              </a:lnSpc>
              <a:buNone/>
            </a:pPr>
            <a:endParaRPr lang="en-US" sz="1100" dirty="0"/>
          </a:p>
        </p:txBody>
      </p:sp>
      <p:sp>
        <p:nvSpPr>
          <p:cNvPr id="8" name="Text 6"/>
          <p:cNvSpPr/>
          <p:nvPr/>
        </p:nvSpPr>
        <p:spPr>
          <a:xfrm>
            <a:off x="6158389" y="2630329"/>
            <a:ext cx="2313503" cy="816531"/>
          </a:xfrm>
          <a:prstGeom prst="rect">
            <a:avLst/>
          </a:prstGeom>
          <a:noFill/>
          <a:ln/>
        </p:spPr>
        <p:txBody>
          <a:bodyPr wrap="square" lIns="0" tIns="0" rIns="0" bIns="0" rtlCol="0" anchor="t"/>
          <a:lstStyle/>
          <a:p>
            <a:pPr marL="0" indent="0" algn="l">
              <a:lnSpc>
                <a:spcPts val="1050"/>
              </a:lnSpc>
              <a:buNone/>
            </a:pPr>
            <a:endParaRPr lang="en-US" sz="850" dirty="0"/>
          </a:p>
        </p:txBody>
      </p:sp>
      <p:sp>
        <p:nvSpPr>
          <p:cNvPr id="9" name="Shape 7"/>
          <p:cNvSpPr/>
          <p:nvPr/>
        </p:nvSpPr>
        <p:spPr>
          <a:xfrm>
            <a:off x="6999209" y="1123066"/>
            <a:ext cx="2936528" cy="1943520"/>
          </a:xfrm>
          <a:prstGeom prst="roundRect">
            <a:avLst>
              <a:gd name="adj" fmla="val 1324"/>
            </a:avLst>
          </a:prstGeom>
          <a:solidFill>
            <a:srgbClr val="FBFAFF"/>
          </a:solidFill>
          <a:ln w="15240">
            <a:solidFill>
              <a:srgbClr val="D0CED9"/>
            </a:solidFill>
            <a:prstDash val="solid"/>
          </a:ln>
        </p:spPr>
        <p:txBody>
          <a:bodyPr/>
          <a:lstStyle/>
          <a:p>
            <a:r>
              <a:rPr lang="en-US" sz="2000" dirty="0">
                <a:solidFill>
                  <a:srgbClr val="006699"/>
                </a:solidFill>
              </a:rPr>
              <a:t>Theme Persistence</a:t>
            </a:r>
          </a:p>
          <a:p>
            <a:endParaRPr lang="en-US" sz="1400" dirty="0"/>
          </a:p>
          <a:p>
            <a:r>
              <a:rPr lang="en-US" sz="1400" dirty="0"/>
              <a:t>Leverages Async Storage to synchronize user preference state across application sessions, coupled with a CSS-in-JS provider pattern that ensures theme-consistent rendering across web and mobile viewports.</a:t>
            </a:r>
            <a:endParaRPr lang="en-IN" sz="1400" dirty="0"/>
          </a:p>
        </p:txBody>
      </p:sp>
      <p:sp>
        <p:nvSpPr>
          <p:cNvPr id="10" name="Text 8"/>
          <p:cNvSpPr/>
          <p:nvPr/>
        </p:nvSpPr>
        <p:spPr>
          <a:xfrm>
            <a:off x="8785741" y="2419231"/>
            <a:ext cx="1417558" cy="177165"/>
          </a:xfrm>
          <a:prstGeom prst="rect">
            <a:avLst/>
          </a:prstGeom>
          <a:noFill/>
          <a:ln/>
        </p:spPr>
        <p:txBody>
          <a:bodyPr wrap="none" lIns="0" tIns="0" rIns="0" bIns="0" rtlCol="0" anchor="t"/>
          <a:lstStyle/>
          <a:p>
            <a:pPr marL="0" indent="0" algn="l">
              <a:lnSpc>
                <a:spcPts val="1350"/>
              </a:lnSpc>
              <a:buNone/>
            </a:pPr>
            <a:endParaRPr lang="en-US" sz="1100" dirty="0"/>
          </a:p>
        </p:txBody>
      </p:sp>
      <p:sp>
        <p:nvSpPr>
          <p:cNvPr id="11" name="Text 9"/>
          <p:cNvSpPr/>
          <p:nvPr/>
        </p:nvSpPr>
        <p:spPr>
          <a:xfrm>
            <a:off x="8785741" y="2630329"/>
            <a:ext cx="2313623" cy="816531"/>
          </a:xfrm>
          <a:prstGeom prst="rect">
            <a:avLst/>
          </a:prstGeom>
          <a:noFill/>
          <a:ln/>
        </p:spPr>
        <p:txBody>
          <a:bodyPr wrap="square" lIns="0" tIns="0" rIns="0" bIns="0" rtlCol="0" anchor="t"/>
          <a:lstStyle/>
          <a:p>
            <a:pPr marL="0" indent="0" algn="l">
              <a:lnSpc>
                <a:spcPts val="1050"/>
              </a:lnSpc>
              <a:buNone/>
            </a:pPr>
            <a:endParaRPr lang="en-US" sz="850" dirty="0"/>
          </a:p>
        </p:txBody>
      </p:sp>
      <p:sp>
        <p:nvSpPr>
          <p:cNvPr id="12" name="Text 10"/>
          <p:cNvSpPr/>
          <p:nvPr/>
        </p:nvSpPr>
        <p:spPr>
          <a:xfrm>
            <a:off x="975479" y="3273028"/>
            <a:ext cx="2548057" cy="395724"/>
          </a:xfrm>
          <a:prstGeom prst="rect">
            <a:avLst/>
          </a:prstGeom>
          <a:noFill/>
          <a:ln/>
        </p:spPr>
        <p:txBody>
          <a:bodyPr wrap="none" lIns="0" tIns="0" rIns="0" bIns="0" rtlCol="0" anchor="t"/>
          <a:lstStyle/>
          <a:p>
            <a:pPr marL="0" indent="0" algn="l">
              <a:lnSpc>
                <a:spcPts val="2200"/>
              </a:lnSpc>
              <a:buNone/>
            </a:pPr>
            <a:r>
              <a:rPr lang="en-US" sz="1750" dirty="0">
                <a:solidFill>
                  <a:srgbClr val="194178"/>
                </a:solidFill>
                <a:latin typeface="Libre Baskerville" pitchFamily="34" charset="0"/>
                <a:ea typeface="Libre Baskerville" pitchFamily="34" charset="-122"/>
                <a:cs typeface="Libre Baskerville" pitchFamily="34" charset="-120"/>
              </a:rPr>
              <a:t>Core API Architecture</a:t>
            </a:r>
            <a:endParaRPr lang="en-US" sz="1750" dirty="0">
              <a:solidFill>
                <a:srgbClr val="194178"/>
              </a:solidFill>
            </a:endParaRPr>
          </a:p>
        </p:txBody>
      </p:sp>
      <p:sp>
        <p:nvSpPr>
          <p:cNvPr id="13" name="Text 11"/>
          <p:cNvSpPr/>
          <p:nvPr/>
        </p:nvSpPr>
        <p:spPr>
          <a:xfrm>
            <a:off x="1237785" y="3653303"/>
            <a:ext cx="9990165" cy="1397067"/>
          </a:xfrm>
          <a:prstGeom prst="rect">
            <a:avLst/>
          </a:prstGeom>
          <a:noFill/>
          <a:ln/>
        </p:spPr>
        <p:txBody>
          <a:bodyPr wrap="none" lIns="0" tIns="0" rIns="0" bIns="0" rtlCol="0" anchor="t"/>
          <a:lstStyle/>
          <a:p>
            <a:r>
              <a:rPr lang="en-US" sz="1500" dirty="0">
                <a:solidFill>
                  <a:schemeClr val="tx1">
                    <a:lumMod val="95000"/>
                    <a:lumOff val="5000"/>
                  </a:schemeClr>
                </a:solidFill>
              </a:rPr>
              <a:t>• The system follows a </a:t>
            </a:r>
            <a:r>
              <a:rPr lang="en-US" sz="1500" b="1" dirty="0">
                <a:solidFill>
                  <a:schemeClr val="tx1">
                    <a:lumMod val="95000"/>
                    <a:lumOff val="5000"/>
                  </a:schemeClr>
                </a:solidFill>
              </a:rPr>
              <a:t>RESTful API architecture</a:t>
            </a:r>
            <a:r>
              <a:rPr lang="en-US" sz="1500" dirty="0">
                <a:solidFill>
                  <a:schemeClr val="tx1">
                    <a:lumMod val="95000"/>
                    <a:lumOff val="5000"/>
                  </a:schemeClr>
                </a:solidFill>
              </a:rPr>
              <a:t> to enable communication between the frontend and backend components.</a:t>
            </a:r>
          </a:p>
          <a:p>
            <a:r>
              <a:rPr lang="en-US" sz="1500" dirty="0">
                <a:solidFill>
                  <a:schemeClr val="tx1">
                    <a:lumMod val="95000"/>
                    <a:lumOff val="5000"/>
                  </a:schemeClr>
                </a:solidFill>
              </a:rPr>
              <a:t>• The </a:t>
            </a:r>
            <a:r>
              <a:rPr lang="en-US" sz="1500" b="1" dirty="0">
                <a:solidFill>
                  <a:schemeClr val="tx1">
                    <a:lumMod val="95000"/>
                    <a:lumOff val="5000"/>
                  </a:schemeClr>
                </a:solidFill>
              </a:rPr>
              <a:t>Controller layer</a:t>
            </a:r>
            <a:r>
              <a:rPr lang="en-US" sz="1500" dirty="0">
                <a:solidFill>
                  <a:schemeClr val="tx1">
                    <a:lumMod val="95000"/>
                    <a:lumOff val="5000"/>
                  </a:schemeClr>
                </a:solidFill>
              </a:rPr>
              <a:t> receives requests from the client application and forwards them to the appropriate services.</a:t>
            </a:r>
          </a:p>
          <a:p>
            <a:r>
              <a:rPr lang="en-US" sz="1500" dirty="0">
                <a:solidFill>
                  <a:schemeClr val="tx1">
                    <a:lumMod val="95000"/>
                    <a:lumOff val="5000"/>
                  </a:schemeClr>
                </a:solidFill>
              </a:rPr>
              <a:t>• The </a:t>
            </a:r>
            <a:r>
              <a:rPr lang="en-US" sz="1500" b="1" dirty="0">
                <a:solidFill>
                  <a:schemeClr val="tx1">
                    <a:lumMod val="95000"/>
                    <a:lumOff val="5000"/>
                  </a:schemeClr>
                </a:solidFill>
              </a:rPr>
              <a:t>Service layer</a:t>
            </a:r>
            <a:r>
              <a:rPr lang="en-US" sz="1500" dirty="0">
                <a:solidFill>
                  <a:schemeClr val="tx1">
                    <a:lumMod val="95000"/>
                    <a:lumOff val="5000"/>
                  </a:schemeClr>
                </a:solidFill>
              </a:rPr>
              <a:t> processes the business logic such as medication scheduling, prescription storage, and reminder generation.</a:t>
            </a:r>
          </a:p>
          <a:p>
            <a:r>
              <a:rPr lang="en-US" sz="1500" dirty="0">
                <a:solidFill>
                  <a:schemeClr val="tx1">
                    <a:lumMod val="95000"/>
                    <a:lumOff val="5000"/>
                  </a:schemeClr>
                </a:solidFill>
              </a:rPr>
              <a:t>• The </a:t>
            </a:r>
            <a:r>
              <a:rPr lang="en-US" sz="1500" b="1" dirty="0">
                <a:solidFill>
                  <a:schemeClr val="tx1">
                    <a:lumMod val="95000"/>
                    <a:lumOff val="5000"/>
                  </a:schemeClr>
                </a:solidFill>
              </a:rPr>
              <a:t>Repository layer</a:t>
            </a:r>
            <a:r>
              <a:rPr lang="en-US" sz="1500" dirty="0">
                <a:solidFill>
                  <a:schemeClr val="tx1">
                    <a:lumMod val="95000"/>
                    <a:lumOff val="5000"/>
                  </a:schemeClr>
                </a:solidFill>
              </a:rPr>
              <a:t> interacts with the database to store and retrieve patient, medication, and prescription data.</a:t>
            </a:r>
          </a:p>
          <a:p>
            <a:r>
              <a:rPr lang="en-US" sz="1500" dirty="0">
                <a:solidFill>
                  <a:schemeClr val="tx1">
                    <a:lumMod val="95000"/>
                    <a:lumOff val="5000"/>
                  </a:schemeClr>
                </a:solidFill>
              </a:rPr>
              <a:t>• The APIs ensure </a:t>
            </a:r>
            <a:r>
              <a:rPr lang="en-US" sz="1500" b="1" dirty="0">
                <a:solidFill>
                  <a:schemeClr val="tx1">
                    <a:lumMod val="95000"/>
                    <a:lumOff val="5000"/>
                  </a:schemeClr>
                </a:solidFill>
              </a:rPr>
              <a:t>secure and efficient data exchange</a:t>
            </a:r>
            <a:r>
              <a:rPr lang="en-US" sz="1500" dirty="0">
                <a:solidFill>
                  <a:schemeClr val="tx1">
                    <a:lumMod val="95000"/>
                    <a:lumOff val="5000"/>
                  </a:schemeClr>
                </a:solidFill>
              </a:rPr>
              <a:t> between users and the system.</a:t>
            </a:r>
          </a:p>
          <a:p>
            <a:r>
              <a:rPr lang="en-US" sz="1500" dirty="0">
                <a:solidFill>
                  <a:schemeClr val="tx1">
                    <a:lumMod val="95000"/>
                    <a:lumOff val="5000"/>
                  </a:schemeClr>
                </a:solidFill>
              </a:rPr>
              <a:t>• The architecture improves </a:t>
            </a:r>
            <a:r>
              <a:rPr lang="en-US" sz="1500" b="1" dirty="0">
                <a:solidFill>
                  <a:schemeClr val="tx1">
                    <a:lumMod val="95000"/>
                    <a:lumOff val="5000"/>
                  </a:schemeClr>
                </a:solidFill>
              </a:rPr>
              <a:t>scalability, maintainability, and modular development</a:t>
            </a:r>
            <a:r>
              <a:rPr lang="en-US" sz="1500" dirty="0">
                <a:solidFill>
                  <a:schemeClr val="tx1">
                    <a:lumMod val="95000"/>
                    <a:lumOff val="5000"/>
                  </a:schemeClr>
                </a:solidFill>
              </a:rPr>
              <a:t> of the application.</a:t>
            </a:r>
          </a:p>
        </p:txBody>
      </p:sp>
      <p:sp>
        <p:nvSpPr>
          <p:cNvPr id="24" name="Text 22"/>
          <p:cNvSpPr/>
          <p:nvPr/>
        </p:nvSpPr>
        <p:spPr>
          <a:xfrm>
            <a:off x="975480" y="5174165"/>
            <a:ext cx="3261984" cy="462921"/>
          </a:xfrm>
          <a:prstGeom prst="rect">
            <a:avLst/>
          </a:prstGeom>
          <a:noFill/>
          <a:ln/>
        </p:spPr>
        <p:txBody>
          <a:bodyPr wrap="none" lIns="0" tIns="0" rIns="0" bIns="0" rtlCol="0" anchor="t"/>
          <a:lstStyle/>
          <a:p>
            <a:pPr marL="0" indent="0" algn="l">
              <a:lnSpc>
                <a:spcPts val="2200"/>
              </a:lnSpc>
              <a:buNone/>
            </a:pPr>
            <a:r>
              <a:rPr lang="en-US" sz="1750" dirty="0">
                <a:solidFill>
                  <a:srgbClr val="194178"/>
                </a:solidFill>
                <a:latin typeface="Libre Baskerville" pitchFamily="34" charset="0"/>
                <a:ea typeface="Libre Baskerville" pitchFamily="34" charset="-122"/>
                <a:cs typeface="Libre Baskerville" pitchFamily="34" charset="-120"/>
              </a:rPr>
              <a:t>Future Technical Roadmap</a:t>
            </a:r>
            <a:endParaRPr lang="en-US" sz="1750" dirty="0">
              <a:solidFill>
                <a:srgbClr val="194178"/>
              </a:solidFill>
            </a:endParaRPr>
          </a:p>
        </p:txBody>
      </p:sp>
      <p:sp>
        <p:nvSpPr>
          <p:cNvPr id="25" name="Text 23"/>
          <p:cNvSpPr/>
          <p:nvPr/>
        </p:nvSpPr>
        <p:spPr>
          <a:xfrm>
            <a:off x="1237786" y="5660521"/>
            <a:ext cx="6735336" cy="1862254"/>
          </a:xfrm>
          <a:prstGeom prst="rect">
            <a:avLst/>
          </a:prstGeom>
          <a:noFill/>
          <a:ln/>
        </p:spPr>
        <p:txBody>
          <a:bodyPr wrap="square" lIns="0" tIns="0" rIns="0" bIns="0" rtlCol="0" anchor="t"/>
          <a:lstStyle/>
          <a:p>
            <a:r>
              <a:rPr lang="en-US" sz="1500" b="1" dirty="0">
                <a:solidFill>
                  <a:srgbClr val="006699"/>
                </a:solidFill>
              </a:rPr>
              <a:t>Push Notifications</a:t>
            </a:r>
            <a:br>
              <a:rPr lang="en-US" sz="1500" dirty="0"/>
            </a:br>
            <a:r>
              <a:rPr lang="en-US" sz="1500" dirty="0"/>
              <a:t>Integration with Firebase Cloud Messaging (FCM) to send medication reminders and alerts.</a:t>
            </a:r>
          </a:p>
          <a:p>
            <a:r>
              <a:rPr lang="en-US" sz="1500" b="1" dirty="0">
                <a:solidFill>
                  <a:srgbClr val="006699"/>
                </a:solidFill>
              </a:rPr>
              <a:t>Live Updates</a:t>
            </a:r>
            <a:br>
              <a:rPr lang="en-US" sz="1500" dirty="0"/>
            </a:br>
            <a:r>
              <a:rPr lang="en-US" sz="1500" dirty="0"/>
              <a:t>Web Sockets enable real-time communication for instant dashboard updates.</a:t>
            </a:r>
          </a:p>
          <a:p>
            <a:r>
              <a:rPr lang="en-US" sz="1500" b="1" dirty="0">
                <a:solidFill>
                  <a:srgbClr val="006699"/>
                </a:solidFill>
              </a:rPr>
              <a:t>Cloud Storage</a:t>
            </a:r>
            <a:br>
              <a:rPr lang="en-US" sz="1500" dirty="0"/>
            </a:br>
            <a:r>
              <a:rPr lang="en-US" sz="1500" dirty="0"/>
              <a:t>Secure storage of prescriptions and reports using S3-compatible cloud services.</a:t>
            </a:r>
          </a:p>
          <a:p>
            <a:r>
              <a:rPr lang="en-US" sz="1500" b="1" dirty="0">
                <a:solidFill>
                  <a:srgbClr val="006699"/>
                </a:solidFill>
              </a:rPr>
              <a:t>Calendar Integration</a:t>
            </a:r>
            <a:br>
              <a:rPr lang="en-US" sz="1500" dirty="0"/>
            </a:br>
            <a:r>
              <a:rPr lang="en-US" sz="1500" dirty="0"/>
              <a:t>Appointment scheduling synchronized with external calendars using iCal standards.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779383" y="634603"/>
            <a:ext cx="13071634" cy="1391841"/>
          </a:xfrm>
          <a:prstGeom prst="rect">
            <a:avLst/>
          </a:prstGeom>
          <a:noFill/>
          <a:ln/>
        </p:spPr>
        <p:txBody>
          <a:bodyPr wrap="square" lIns="0" tIns="0" rIns="0" bIns="0" rtlCol="0" anchor="t"/>
          <a:lstStyle/>
          <a:p>
            <a:pPr marL="0" indent="0" algn="l">
              <a:lnSpc>
                <a:spcPts val="5450"/>
              </a:lnSpc>
              <a:buNone/>
            </a:pPr>
            <a:r>
              <a:rPr lang="en-US" sz="4350" dirty="0">
                <a:solidFill>
                  <a:srgbClr val="194178"/>
                </a:solidFill>
                <a:latin typeface="Libre Baskerville" pitchFamily="34" charset="0"/>
                <a:ea typeface="Libre Baskerville" pitchFamily="34" charset="-122"/>
                <a:cs typeface="Libre Baskerville" pitchFamily="34" charset="-120"/>
              </a:rPr>
              <a:t>Conclusion: Empowering Healthcare with MedLink</a:t>
            </a:r>
            <a:endParaRPr lang="en-US" sz="4350" dirty="0">
              <a:solidFill>
                <a:srgbClr val="194178"/>
              </a:solidFill>
            </a:endParaRPr>
          </a:p>
        </p:txBody>
      </p:sp>
      <p:sp>
        <p:nvSpPr>
          <p:cNvPr id="3" name="Text 1"/>
          <p:cNvSpPr/>
          <p:nvPr/>
        </p:nvSpPr>
        <p:spPr>
          <a:xfrm>
            <a:off x="779383" y="2245043"/>
            <a:ext cx="13071634" cy="924402"/>
          </a:xfrm>
          <a:prstGeom prst="rect">
            <a:avLst/>
          </a:prstGeom>
          <a:noFill/>
          <a:ln/>
        </p:spPr>
        <p:txBody>
          <a:bodyPr wrap="square" lIns="0" tIns="0" rIns="0" bIns="0" rtlCol="0" anchor="t"/>
          <a:lstStyle/>
          <a:p>
            <a:pPr marL="0" indent="0" algn="l">
              <a:lnSpc>
                <a:spcPts val="2750"/>
              </a:lnSpc>
              <a:buNone/>
            </a:pPr>
            <a:r>
              <a:rPr lang="en-US" sz="1750" dirty="0">
                <a:latin typeface="Open Sans" pitchFamily="34" charset="0"/>
                <a:ea typeface="Open Sans" pitchFamily="34" charset="-122"/>
                <a:cs typeface="Open Sans" pitchFamily="34" charset="-120"/>
              </a:rPr>
              <a:t>MedLink represents a significant step forward in digital healthcare, delivering a comprehensive platform designed to improve patient outcomes and streamline medical practice.</a:t>
            </a:r>
            <a:endParaRPr lang="en-US" sz="1750" dirty="0"/>
          </a:p>
        </p:txBody>
      </p:sp>
      <p:sp>
        <p:nvSpPr>
          <p:cNvPr id="4" name="Shape 2"/>
          <p:cNvSpPr/>
          <p:nvPr/>
        </p:nvSpPr>
        <p:spPr>
          <a:xfrm>
            <a:off x="779383" y="3415427"/>
            <a:ext cx="4211479" cy="2683788"/>
          </a:xfrm>
          <a:prstGeom prst="roundRect">
            <a:avLst>
              <a:gd name="adj" fmla="val 1245"/>
            </a:avLst>
          </a:prstGeom>
          <a:solidFill>
            <a:srgbClr val="EAE8F3"/>
          </a:solidFill>
          <a:ln/>
        </p:spPr>
        <p:txBody>
          <a:bodyPr/>
          <a:lstStyle/>
          <a:p>
            <a:endParaRPr lang="en-IN"/>
          </a:p>
        </p:txBody>
      </p:sp>
      <p:sp>
        <p:nvSpPr>
          <p:cNvPr id="5" name="Text 3"/>
          <p:cNvSpPr/>
          <p:nvPr/>
        </p:nvSpPr>
        <p:spPr>
          <a:xfrm>
            <a:off x="1002030" y="3638074"/>
            <a:ext cx="3766185" cy="695801"/>
          </a:xfrm>
          <a:prstGeom prst="rect">
            <a:avLst/>
          </a:prstGeom>
          <a:noFill/>
          <a:ln/>
        </p:spPr>
        <p:txBody>
          <a:bodyPr wrap="square" lIns="0" tIns="0" rIns="0" bIns="0" rtlCol="0" anchor="t"/>
          <a:lstStyle/>
          <a:p>
            <a:pPr marL="0" indent="0" algn="l">
              <a:lnSpc>
                <a:spcPts val="2700"/>
              </a:lnSpc>
              <a:buNone/>
            </a:pPr>
            <a:r>
              <a:rPr lang="en-US" sz="2150" dirty="0">
                <a:solidFill>
                  <a:srgbClr val="006699"/>
                </a:solidFill>
                <a:latin typeface="Libre Baskerville" pitchFamily="34" charset="0"/>
                <a:ea typeface="Libre Baskerville" pitchFamily="34" charset="-122"/>
                <a:cs typeface="Libre Baskerville" pitchFamily="34" charset="-120"/>
              </a:rPr>
              <a:t>Enhanced Patient Adherence</a:t>
            </a:r>
            <a:endParaRPr lang="en-US" sz="2150" dirty="0">
              <a:solidFill>
                <a:srgbClr val="006699"/>
              </a:solidFill>
            </a:endParaRPr>
          </a:p>
        </p:txBody>
      </p:sp>
      <p:sp>
        <p:nvSpPr>
          <p:cNvPr id="6" name="Text 4"/>
          <p:cNvSpPr/>
          <p:nvPr/>
        </p:nvSpPr>
        <p:spPr>
          <a:xfrm>
            <a:off x="1002030" y="4464963"/>
            <a:ext cx="3766185" cy="1411605"/>
          </a:xfrm>
          <a:prstGeom prst="rect">
            <a:avLst/>
          </a:prstGeom>
          <a:noFill/>
          <a:ln/>
        </p:spPr>
        <p:txBody>
          <a:bodyPr wrap="square" lIns="0" tIns="0" rIns="0" bIns="0" rtlCol="0" anchor="t"/>
          <a:lstStyle/>
          <a:p>
            <a:pPr marL="0" indent="0" algn="l">
              <a:lnSpc>
                <a:spcPts val="2750"/>
              </a:lnSpc>
              <a:buNone/>
            </a:pPr>
            <a:r>
              <a:rPr lang="en-US" sz="1750" dirty="0">
                <a:latin typeface="Open Sans" pitchFamily="34" charset="0"/>
                <a:ea typeface="Open Sans" pitchFamily="34" charset="-122"/>
                <a:cs typeface="Open Sans" pitchFamily="34" charset="-120"/>
              </a:rPr>
              <a:t>Intuitive medication scheduling and timely reminders drive consistent intake, directly impacting patient health.</a:t>
            </a:r>
            <a:endParaRPr lang="en-US" sz="1750" dirty="0"/>
          </a:p>
        </p:txBody>
      </p:sp>
      <p:sp>
        <p:nvSpPr>
          <p:cNvPr id="7" name="Shape 5"/>
          <p:cNvSpPr/>
          <p:nvPr/>
        </p:nvSpPr>
        <p:spPr>
          <a:xfrm>
            <a:off x="5209461" y="3415427"/>
            <a:ext cx="4211479" cy="2683788"/>
          </a:xfrm>
          <a:prstGeom prst="roundRect">
            <a:avLst>
              <a:gd name="adj" fmla="val 1245"/>
            </a:avLst>
          </a:prstGeom>
          <a:solidFill>
            <a:srgbClr val="EAE8F3"/>
          </a:solidFill>
          <a:ln/>
        </p:spPr>
        <p:txBody>
          <a:bodyPr/>
          <a:lstStyle/>
          <a:p>
            <a:endParaRPr lang="en-IN"/>
          </a:p>
        </p:txBody>
      </p:sp>
      <p:sp>
        <p:nvSpPr>
          <p:cNvPr id="8" name="Text 6"/>
          <p:cNvSpPr/>
          <p:nvPr/>
        </p:nvSpPr>
        <p:spPr>
          <a:xfrm>
            <a:off x="5432108" y="3638074"/>
            <a:ext cx="3766185" cy="695801"/>
          </a:xfrm>
          <a:prstGeom prst="rect">
            <a:avLst/>
          </a:prstGeom>
          <a:noFill/>
          <a:ln/>
        </p:spPr>
        <p:txBody>
          <a:bodyPr wrap="square" lIns="0" tIns="0" rIns="0" bIns="0" rtlCol="0" anchor="t"/>
          <a:lstStyle/>
          <a:p>
            <a:pPr marL="0" indent="0" algn="l">
              <a:lnSpc>
                <a:spcPts val="2700"/>
              </a:lnSpc>
              <a:buNone/>
            </a:pPr>
            <a:r>
              <a:rPr lang="en-US" sz="2150" dirty="0">
                <a:solidFill>
                  <a:srgbClr val="006699"/>
                </a:solidFill>
                <a:latin typeface="Libre Baskerville" pitchFamily="34" charset="0"/>
                <a:ea typeface="Libre Baskerville" pitchFamily="34" charset="-122"/>
                <a:cs typeface="Libre Baskerville" pitchFamily="34" charset="-120"/>
              </a:rPr>
              <a:t>Efficient Doctor Workflow</a:t>
            </a:r>
            <a:endParaRPr lang="en-US" sz="2150" dirty="0">
              <a:solidFill>
                <a:srgbClr val="006699"/>
              </a:solidFill>
            </a:endParaRPr>
          </a:p>
        </p:txBody>
      </p:sp>
      <p:sp>
        <p:nvSpPr>
          <p:cNvPr id="9" name="Text 7"/>
          <p:cNvSpPr/>
          <p:nvPr/>
        </p:nvSpPr>
        <p:spPr>
          <a:xfrm>
            <a:off x="5432108" y="4464963"/>
            <a:ext cx="3766185" cy="1411605"/>
          </a:xfrm>
          <a:prstGeom prst="rect">
            <a:avLst/>
          </a:prstGeom>
          <a:noFill/>
          <a:ln/>
        </p:spPr>
        <p:txBody>
          <a:bodyPr wrap="square" lIns="0" tIns="0" rIns="0" bIns="0" rtlCol="0" anchor="t"/>
          <a:lstStyle/>
          <a:p>
            <a:pPr marL="0" indent="0" algn="l">
              <a:lnSpc>
                <a:spcPts val="2750"/>
              </a:lnSpc>
              <a:buNone/>
            </a:pPr>
            <a:r>
              <a:rPr lang="en-US" sz="1750" dirty="0">
                <a:latin typeface="Open Sans" pitchFamily="34" charset="0"/>
                <a:ea typeface="Open Sans" pitchFamily="34" charset="-122"/>
                <a:cs typeface="Open Sans" pitchFamily="34" charset="-120"/>
              </a:rPr>
              <a:t>From patient management to prescription generation, doctors benefit from a centralised, easy-to-use system.</a:t>
            </a:r>
            <a:endParaRPr lang="en-US" sz="1750" dirty="0"/>
          </a:p>
        </p:txBody>
      </p:sp>
      <p:sp>
        <p:nvSpPr>
          <p:cNvPr id="10" name="Shape 8"/>
          <p:cNvSpPr/>
          <p:nvPr/>
        </p:nvSpPr>
        <p:spPr>
          <a:xfrm>
            <a:off x="9639538" y="3415427"/>
            <a:ext cx="4211479" cy="2683788"/>
          </a:xfrm>
          <a:prstGeom prst="roundRect">
            <a:avLst>
              <a:gd name="adj" fmla="val 1245"/>
            </a:avLst>
          </a:prstGeom>
          <a:solidFill>
            <a:srgbClr val="EAE8F3"/>
          </a:solidFill>
          <a:ln/>
        </p:spPr>
        <p:txBody>
          <a:bodyPr/>
          <a:lstStyle/>
          <a:p>
            <a:endParaRPr lang="en-IN"/>
          </a:p>
        </p:txBody>
      </p:sp>
      <p:sp>
        <p:nvSpPr>
          <p:cNvPr id="11" name="Text 9"/>
          <p:cNvSpPr/>
          <p:nvPr/>
        </p:nvSpPr>
        <p:spPr>
          <a:xfrm>
            <a:off x="9862185" y="3638074"/>
            <a:ext cx="3766185" cy="695801"/>
          </a:xfrm>
          <a:prstGeom prst="rect">
            <a:avLst/>
          </a:prstGeom>
          <a:noFill/>
          <a:ln/>
        </p:spPr>
        <p:txBody>
          <a:bodyPr wrap="square" lIns="0" tIns="0" rIns="0" bIns="0" rtlCol="0" anchor="t"/>
          <a:lstStyle/>
          <a:p>
            <a:pPr marL="0" indent="0" algn="l">
              <a:lnSpc>
                <a:spcPts val="2700"/>
              </a:lnSpc>
              <a:buNone/>
            </a:pPr>
            <a:r>
              <a:rPr lang="en-US" sz="2150" dirty="0">
                <a:solidFill>
                  <a:srgbClr val="006699"/>
                </a:solidFill>
                <a:latin typeface="Libre Baskerville" pitchFamily="34" charset="0"/>
                <a:ea typeface="Libre Baskerville" pitchFamily="34" charset="-122"/>
                <a:cs typeface="Libre Baskerville" pitchFamily="34" charset="-120"/>
              </a:rPr>
              <a:t>Robust Security &amp; Data Privacy</a:t>
            </a:r>
            <a:endParaRPr lang="en-US" sz="2150" dirty="0">
              <a:solidFill>
                <a:srgbClr val="006699"/>
              </a:solidFill>
            </a:endParaRPr>
          </a:p>
        </p:txBody>
      </p:sp>
      <p:sp>
        <p:nvSpPr>
          <p:cNvPr id="12" name="Text 10"/>
          <p:cNvSpPr/>
          <p:nvPr/>
        </p:nvSpPr>
        <p:spPr>
          <a:xfrm>
            <a:off x="9862185" y="4464963"/>
            <a:ext cx="3766185" cy="1058704"/>
          </a:xfrm>
          <a:prstGeom prst="rect">
            <a:avLst/>
          </a:prstGeom>
          <a:noFill/>
          <a:ln/>
        </p:spPr>
        <p:txBody>
          <a:bodyPr wrap="square" lIns="0" tIns="0" rIns="0" bIns="0" rtlCol="0" anchor="t"/>
          <a:lstStyle/>
          <a:p>
            <a:pPr marL="0" indent="0" algn="l">
              <a:lnSpc>
                <a:spcPts val="2750"/>
              </a:lnSpc>
              <a:buNone/>
            </a:pPr>
            <a:r>
              <a:rPr lang="en-US" sz="1750" dirty="0">
                <a:latin typeface="Open Sans" pitchFamily="34" charset="0"/>
                <a:ea typeface="Open Sans" pitchFamily="34" charset="-122"/>
                <a:cs typeface="Open Sans" pitchFamily="34" charset="-120"/>
              </a:rPr>
              <a:t>JWT authentication and role-based access ensure sensitive patient data remains secure and protected.</a:t>
            </a:r>
            <a:endParaRPr lang="en-US" sz="1750" dirty="0"/>
          </a:p>
        </p:txBody>
      </p:sp>
      <p:sp>
        <p:nvSpPr>
          <p:cNvPr id="13" name="Shape 11"/>
          <p:cNvSpPr/>
          <p:nvPr/>
        </p:nvSpPr>
        <p:spPr>
          <a:xfrm>
            <a:off x="779383" y="6317813"/>
            <a:ext cx="13071634" cy="1277183"/>
          </a:xfrm>
          <a:prstGeom prst="roundRect">
            <a:avLst>
              <a:gd name="adj" fmla="val 2616"/>
            </a:avLst>
          </a:prstGeom>
          <a:solidFill>
            <a:srgbClr val="EAE8F3"/>
          </a:solidFill>
          <a:ln/>
        </p:spPr>
        <p:txBody>
          <a:bodyPr/>
          <a:lstStyle/>
          <a:p>
            <a:endParaRPr lang="en-IN"/>
          </a:p>
        </p:txBody>
      </p:sp>
      <p:sp>
        <p:nvSpPr>
          <p:cNvPr id="14" name="Text 12"/>
          <p:cNvSpPr/>
          <p:nvPr/>
        </p:nvSpPr>
        <p:spPr>
          <a:xfrm>
            <a:off x="1002030" y="6540460"/>
            <a:ext cx="4555808" cy="347901"/>
          </a:xfrm>
          <a:prstGeom prst="rect">
            <a:avLst/>
          </a:prstGeom>
          <a:noFill/>
          <a:ln/>
        </p:spPr>
        <p:txBody>
          <a:bodyPr wrap="none" lIns="0" tIns="0" rIns="0" bIns="0" rtlCol="0" anchor="t"/>
          <a:lstStyle/>
          <a:p>
            <a:pPr marL="0" indent="0" algn="l">
              <a:lnSpc>
                <a:spcPts val="2700"/>
              </a:lnSpc>
              <a:buNone/>
            </a:pPr>
            <a:r>
              <a:rPr lang="en-US" sz="2150" dirty="0">
                <a:solidFill>
                  <a:srgbClr val="006699"/>
                </a:solidFill>
                <a:latin typeface="Libre Baskerville" pitchFamily="34" charset="0"/>
                <a:ea typeface="Libre Baskerville" pitchFamily="34" charset="-122"/>
                <a:cs typeface="Libre Baskerville" pitchFamily="34" charset="-120"/>
              </a:rPr>
              <a:t>Scalable &amp; Modern Architecture</a:t>
            </a:r>
            <a:endParaRPr lang="en-US" sz="2150" dirty="0">
              <a:solidFill>
                <a:srgbClr val="006699"/>
              </a:solidFill>
            </a:endParaRPr>
          </a:p>
        </p:txBody>
      </p:sp>
      <p:sp>
        <p:nvSpPr>
          <p:cNvPr id="15" name="Text 13"/>
          <p:cNvSpPr/>
          <p:nvPr/>
        </p:nvSpPr>
        <p:spPr>
          <a:xfrm>
            <a:off x="1002030" y="7019449"/>
            <a:ext cx="12626340" cy="352901"/>
          </a:xfrm>
          <a:prstGeom prst="rect">
            <a:avLst/>
          </a:prstGeom>
          <a:noFill/>
          <a:ln/>
        </p:spPr>
        <p:txBody>
          <a:bodyPr wrap="none" lIns="0" tIns="0" rIns="0" bIns="0" rtlCol="0" anchor="t"/>
          <a:lstStyle/>
          <a:p>
            <a:pPr marL="0" indent="0" algn="l">
              <a:lnSpc>
                <a:spcPts val="2750"/>
              </a:lnSpc>
              <a:buNone/>
            </a:pPr>
            <a:r>
              <a:rPr lang="en-US" sz="1750" dirty="0">
                <a:latin typeface="Open Sans" pitchFamily="34" charset="0"/>
                <a:ea typeface="Open Sans" pitchFamily="34" charset="-122"/>
                <a:cs typeface="Open Sans" pitchFamily="34" charset="-120"/>
              </a:rPr>
              <a:t>Built with Spring Boot, MongoDB, and React Native, MedLink is future-proof and ready for continuous enhancement.</a:t>
            </a:r>
            <a:endParaRPr lang="en-US" sz="1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793790" y="802005"/>
            <a:ext cx="7371874" cy="708779"/>
          </a:xfrm>
          <a:prstGeom prst="rect">
            <a:avLst/>
          </a:prstGeom>
          <a:noFill/>
          <a:ln/>
        </p:spPr>
        <p:txBody>
          <a:bodyPr wrap="none" lIns="0" tIns="0" rIns="0" bIns="0" rtlCol="0" anchor="t"/>
          <a:lstStyle/>
          <a:p>
            <a:pPr marL="0" indent="0" algn="l">
              <a:lnSpc>
                <a:spcPts val="5550"/>
              </a:lnSpc>
              <a:buNone/>
            </a:pPr>
            <a:r>
              <a:rPr lang="en-US" sz="4450" dirty="0">
                <a:solidFill>
                  <a:srgbClr val="194178"/>
                </a:solidFill>
                <a:latin typeface="Libre Baskerville" pitchFamily="34" charset="0"/>
                <a:ea typeface="Libre Baskerville" pitchFamily="34" charset="-122"/>
                <a:cs typeface="Libre Baskerville" pitchFamily="34" charset="-120"/>
              </a:rPr>
              <a:t>Thank You for Your Time</a:t>
            </a:r>
            <a:endParaRPr lang="en-US" sz="4450" dirty="0">
              <a:solidFill>
                <a:srgbClr val="194178"/>
              </a:solidFill>
            </a:endParaRPr>
          </a:p>
        </p:txBody>
      </p:sp>
      <p:sp>
        <p:nvSpPr>
          <p:cNvPr id="3" name="Text 1"/>
          <p:cNvSpPr/>
          <p:nvPr/>
        </p:nvSpPr>
        <p:spPr>
          <a:xfrm>
            <a:off x="793790" y="1765935"/>
            <a:ext cx="13042821" cy="462081"/>
          </a:xfrm>
          <a:prstGeom prst="rect">
            <a:avLst/>
          </a:prstGeom>
          <a:noFill/>
          <a:ln/>
        </p:spPr>
        <p:txBody>
          <a:bodyPr wrap="none" lIns="0" tIns="0" rIns="0" bIns="0" rtlCol="0" anchor="t"/>
          <a:lstStyle/>
          <a:p>
            <a:pPr marL="0" indent="0" algn="l">
              <a:lnSpc>
                <a:spcPts val="2850"/>
              </a:lnSpc>
              <a:buNone/>
            </a:pPr>
            <a:r>
              <a:rPr lang="en-US" sz="1750" dirty="0">
                <a:latin typeface="Open Sans" pitchFamily="34" charset="0"/>
                <a:ea typeface="Open Sans" pitchFamily="34" charset="-122"/>
                <a:cs typeface="Open Sans" pitchFamily="34" charset="-120"/>
              </a:rPr>
              <a:t>We appreciate your attention and engagement during this presentation of MedLink.</a:t>
            </a:r>
            <a:endParaRPr lang="en-US" sz="1750" dirty="0"/>
          </a:p>
        </p:txBody>
      </p:sp>
      <p:sp>
        <p:nvSpPr>
          <p:cNvPr id="4" name="Text 2"/>
          <p:cNvSpPr/>
          <p:nvPr/>
        </p:nvSpPr>
        <p:spPr>
          <a:xfrm>
            <a:off x="793790" y="2454830"/>
            <a:ext cx="13042821" cy="725805"/>
          </a:xfrm>
          <a:prstGeom prst="rect">
            <a:avLst/>
          </a:prstGeom>
          <a:noFill/>
          <a:ln/>
        </p:spPr>
        <p:txBody>
          <a:bodyPr wrap="square" lIns="0" tIns="0" rIns="0" bIns="0" rtlCol="0" anchor="t"/>
          <a:lstStyle/>
          <a:p>
            <a:pPr marL="0" indent="0" algn="l">
              <a:lnSpc>
                <a:spcPts val="2850"/>
              </a:lnSpc>
              <a:buNone/>
            </a:pPr>
            <a:r>
              <a:rPr lang="en-US" sz="1750" dirty="0">
                <a:latin typeface="Open Sans" pitchFamily="34" charset="0"/>
                <a:ea typeface="Open Sans" pitchFamily="34" charset="-122"/>
                <a:cs typeface="Open Sans" pitchFamily="34" charset="-120"/>
              </a:rPr>
              <a:t>We believe MedLink is poised to make a significant impact on patient care and healthcare efficiency, empowering both patients and medical professionals.</a:t>
            </a:r>
            <a:endParaRPr lang="en-US" sz="1750" dirty="0"/>
          </a:p>
        </p:txBody>
      </p:sp>
      <p:sp>
        <p:nvSpPr>
          <p:cNvPr id="5" name="Text 3"/>
          <p:cNvSpPr/>
          <p:nvPr/>
        </p:nvSpPr>
        <p:spPr>
          <a:xfrm>
            <a:off x="793790" y="3461266"/>
            <a:ext cx="4112657" cy="612457"/>
          </a:xfrm>
          <a:prstGeom prst="rect">
            <a:avLst/>
          </a:prstGeom>
          <a:noFill/>
          <a:ln/>
        </p:spPr>
        <p:txBody>
          <a:bodyPr wrap="none" lIns="0" tIns="0" rIns="0" bIns="0" rtlCol="0" anchor="t"/>
          <a:lstStyle/>
          <a:p>
            <a:pPr marL="0" indent="0" algn="l">
              <a:lnSpc>
                <a:spcPts val="3300"/>
              </a:lnSpc>
              <a:buNone/>
            </a:pPr>
            <a:r>
              <a:rPr lang="en-US" sz="2650" dirty="0">
                <a:solidFill>
                  <a:srgbClr val="194178"/>
                </a:solidFill>
                <a:latin typeface="Libre Baskerville" pitchFamily="34" charset="0"/>
                <a:ea typeface="Libre Baskerville" pitchFamily="34" charset="-122"/>
                <a:cs typeface="Libre Baskerville" pitchFamily="34" charset="-120"/>
              </a:rPr>
              <a:t>Questions &amp; Discussion</a:t>
            </a:r>
            <a:endParaRPr lang="en-US" sz="2650" dirty="0">
              <a:solidFill>
                <a:srgbClr val="194178"/>
              </a:solidFill>
            </a:endParaRPr>
          </a:p>
        </p:txBody>
      </p:sp>
      <p:sp>
        <p:nvSpPr>
          <p:cNvPr id="6" name="Text 4"/>
          <p:cNvSpPr/>
          <p:nvPr/>
        </p:nvSpPr>
        <p:spPr>
          <a:xfrm>
            <a:off x="793790" y="4207813"/>
            <a:ext cx="13042821" cy="725805"/>
          </a:xfrm>
          <a:prstGeom prst="rect">
            <a:avLst/>
          </a:prstGeom>
          <a:noFill/>
          <a:ln/>
        </p:spPr>
        <p:txBody>
          <a:bodyPr wrap="square" lIns="0" tIns="0" rIns="0" bIns="0" rtlCol="0" anchor="t"/>
          <a:lstStyle/>
          <a:p>
            <a:pPr marL="0" indent="0" algn="l">
              <a:lnSpc>
                <a:spcPts val="2850"/>
              </a:lnSpc>
              <a:buNone/>
            </a:pPr>
            <a:r>
              <a:rPr lang="en-US" sz="1750" dirty="0">
                <a:latin typeface="Open Sans" pitchFamily="34" charset="0"/>
                <a:ea typeface="Open Sans" pitchFamily="34" charset="-122"/>
                <a:cs typeface="Open Sans" pitchFamily="34" charset="-120"/>
              </a:rPr>
              <a:t>We are now open for any questions you may have, and eager to discuss how MedLink can best serve your specific needs and integrate into existing workflows.</a:t>
            </a:r>
            <a:endParaRPr lang="en-US" sz="1750" dirty="0"/>
          </a:p>
        </p:txBody>
      </p:sp>
      <p:sp>
        <p:nvSpPr>
          <p:cNvPr id="7" name="Shape 5"/>
          <p:cNvSpPr/>
          <p:nvPr/>
        </p:nvSpPr>
        <p:spPr>
          <a:xfrm>
            <a:off x="793790" y="5394841"/>
            <a:ext cx="6407944" cy="2032754"/>
          </a:xfrm>
          <a:prstGeom prst="roundRect">
            <a:avLst>
              <a:gd name="adj" fmla="val 1674"/>
            </a:avLst>
          </a:prstGeom>
          <a:solidFill>
            <a:srgbClr val="EAE8F3"/>
          </a:solidFill>
          <a:ln/>
        </p:spPr>
        <p:txBody>
          <a:bodyPr/>
          <a:lstStyle/>
          <a:p>
            <a:endParaRPr lang="en-IN"/>
          </a:p>
        </p:txBody>
      </p:sp>
      <p:sp>
        <p:nvSpPr>
          <p:cNvPr id="8" name="Text 6"/>
          <p:cNvSpPr/>
          <p:nvPr/>
        </p:nvSpPr>
        <p:spPr>
          <a:xfrm>
            <a:off x="1020604" y="5621655"/>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Get in Touch</a:t>
            </a:r>
            <a:endParaRPr lang="en-US" sz="2200" dirty="0">
              <a:solidFill>
                <a:srgbClr val="006699"/>
              </a:solidFill>
            </a:endParaRPr>
          </a:p>
        </p:txBody>
      </p:sp>
      <p:sp>
        <p:nvSpPr>
          <p:cNvPr id="9" name="Text 7"/>
          <p:cNvSpPr/>
          <p:nvPr/>
        </p:nvSpPr>
        <p:spPr>
          <a:xfrm>
            <a:off x="1020604" y="6112073"/>
            <a:ext cx="5954316" cy="1088708"/>
          </a:xfrm>
          <a:prstGeom prst="rect">
            <a:avLst/>
          </a:prstGeom>
          <a:noFill/>
          <a:ln/>
        </p:spPr>
        <p:txBody>
          <a:bodyPr wrap="square" lIns="0" tIns="0" rIns="0" bIns="0" rtlCol="0" anchor="t"/>
          <a:lstStyle/>
          <a:p>
            <a:pPr marL="0" indent="0" algn="l">
              <a:lnSpc>
                <a:spcPts val="2850"/>
              </a:lnSpc>
              <a:buNone/>
            </a:pPr>
            <a:r>
              <a:rPr lang="en-US" sz="1750" dirty="0">
                <a:latin typeface="Open Sans" pitchFamily="34" charset="0"/>
                <a:ea typeface="Open Sans" pitchFamily="34" charset="-122"/>
                <a:cs typeface="Open Sans" pitchFamily="34" charset="-120"/>
              </a:rPr>
              <a:t>For further inquiries or a detailed demonstration tailored to your organisation, please contact our team to schedule a follow-up.</a:t>
            </a:r>
            <a:endParaRPr lang="en-US" sz="1750" dirty="0"/>
          </a:p>
        </p:txBody>
      </p:sp>
      <p:sp>
        <p:nvSpPr>
          <p:cNvPr id="10" name="Shape 8"/>
          <p:cNvSpPr/>
          <p:nvPr/>
        </p:nvSpPr>
        <p:spPr>
          <a:xfrm>
            <a:off x="7428548" y="5394841"/>
            <a:ext cx="6408063" cy="2032754"/>
          </a:xfrm>
          <a:prstGeom prst="roundRect">
            <a:avLst>
              <a:gd name="adj" fmla="val 1674"/>
            </a:avLst>
          </a:prstGeom>
          <a:solidFill>
            <a:srgbClr val="EAE8F3"/>
          </a:solidFill>
          <a:ln/>
        </p:spPr>
        <p:txBody>
          <a:bodyPr/>
          <a:lstStyle/>
          <a:p>
            <a:endParaRPr lang="en-IN"/>
          </a:p>
        </p:txBody>
      </p:sp>
      <p:sp>
        <p:nvSpPr>
          <p:cNvPr id="11" name="Text 9"/>
          <p:cNvSpPr/>
          <p:nvPr/>
        </p:nvSpPr>
        <p:spPr>
          <a:xfrm>
            <a:off x="7655362" y="5621655"/>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006699"/>
                </a:solidFill>
                <a:latin typeface="Libre Baskerville" pitchFamily="34" charset="0"/>
                <a:ea typeface="Libre Baskerville" pitchFamily="34" charset="-122"/>
                <a:cs typeface="Libre Baskerville" pitchFamily="34" charset="-120"/>
              </a:rPr>
              <a:t>Feedback Welcome</a:t>
            </a:r>
            <a:endParaRPr lang="en-US" sz="2200" dirty="0">
              <a:solidFill>
                <a:srgbClr val="006699"/>
              </a:solidFill>
            </a:endParaRPr>
          </a:p>
        </p:txBody>
      </p:sp>
      <p:sp>
        <p:nvSpPr>
          <p:cNvPr id="12" name="Text 10"/>
          <p:cNvSpPr/>
          <p:nvPr/>
        </p:nvSpPr>
        <p:spPr>
          <a:xfrm>
            <a:off x="7655362" y="6112073"/>
            <a:ext cx="5954435" cy="1088708"/>
          </a:xfrm>
          <a:prstGeom prst="rect">
            <a:avLst/>
          </a:prstGeom>
          <a:noFill/>
          <a:ln/>
        </p:spPr>
        <p:txBody>
          <a:bodyPr wrap="square" lIns="0" tIns="0" rIns="0" bIns="0" rtlCol="0" anchor="t"/>
          <a:lstStyle/>
          <a:p>
            <a:pPr marL="0" indent="0" algn="l">
              <a:lnSpc>
                <a:spcPts val="2850"/>
              </a:lnSpc>
              <a:buNone/>
            </a:pPr>
            <a:r>
              <a:rPr lang="en-US" sz="1750" dirty="0">
                <a:latin typeface="Open Sans" pitchFamily="34" charset="0"/>
                <a:ea typeface="Open Sans" pitchFamily="34" charset="-122"/>
                <a:cs typeface="Open Sans" pitchFamily="34" charset="-120"/>
              </a:rPr>
              <a:t>Your valuable insights are crucial as we continue to refine and enhance MedLink to meet the evolving demands of modern healthcare.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274</TotalTime>
  <Words>1642</Words>
  <Application>Microsoft Office PowerPoint</Application>
  <PresentationFormat>Custom</PresentationFormat>
  <Paragraphs>209</Paragraphs>
  <Slides>21</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Libre Baskerville Light</vt:lpstr>
      <vt:lpstr>Calibri</vt:lpstr>
      <vt:lpstr>Arial</vt:lpstr>
      <vt:lpstr>Libre Baskerville</vt:lpstr>
      <vt:lpstr>Consolas</vt:lpstr>
      <vt:lpstr>Calibri Light</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HP</dc:creator>
  <cp:lastModifiedBy>Shaikunrani Shaik</cp:lastModifiedBy>
  <cp:revision>5</cp:revision>
  <dcterms:created xsi:type="dcterms:W3CDTF">2026-03-14T14:01:33Z</dcterms:created>
  <dcterms:modified xsi:type="dcterms:W3CDTF">2026-03-26T08:57:14Z</dcterms:modified>
</cp:coreProperties>
</file>